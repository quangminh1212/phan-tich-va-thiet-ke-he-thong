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Masters/slideMaster1.xml" ContentType="application/vnd.openxmlformats-officedocument.presentationml.slideMaster+xml"/>
  <Override PartName="/ppt/notesSlides/notesSlide43.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4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42.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9"/>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97" r:id="rId15"/>
    <p:sldId id="298" r:id="rId16"/>
    <p:sldId id="299" r:id="rId17"/>
    <p:sldId id="300" r:id="rId18"/>
    <p:sldId id="270" r:id="rId19"/>
    <p:sldId id="271" r:id="rId20"/>
    <p:sldId id="302" r:id="rId21"/>
    <p:sldId id="301" r:id="rId22"/>
    <p:sldId id="303" r:id="rId23"/>
    <p:sldId id="304" r:id="rId24"/>
    <p:sldId id="276" r:id="rId25"/>
    <p:sldId id="277" r:id="rId26"/>
    <p:sldId id="278" r:id="rId27"/>
    <p:sldId id="279" r:id="rId28"/>
    <p:sldId id="280" r:id="rId29"/>
    <p:sldId id="281" r:id="rId30"/>
    <p:sldId id="282" r:id="rId31"/>
    <p:sldId id="283" r:id="rId32"/>
    <p:sldId id="284" r:id="rId33"/>
    <p:sldId id="306" r:id="rId34"/>
    <p:sldId id="307" r:id="rId35"/>
    <p:sldId id="308" r:id="rId36"/>
    <p:sldId id="309" r:id="rId37"/>
    <p:sldId id="310" r:id="rId38"/>
    <p:sldId id="285" r:id="rId39"/>
    <p:sldId id="311" r:id="rId40"/>
    <p:sldId id="312" r:id="rId41"/>
    <p:sldId id="313" r:id="rId42"/>
    <p:sldId id="286" r:id="rId43"/>
    <p:sldId id="287" r:id="rId44"/>
    <p:sldId id="288" r:id="rId45"/>
    <p:sldId id="289" r:id="rId46"/>
    <p:sldId id="315" r:id="rId47"/>
    <p:sldId id="316" r:id="rId48"/>
    <p:sldId id="317" r:id="rId49"/>
    <p:sldId id="318" r:id="rId50"/>
    <p:sldId id="319" r:id="rId51"/>
    <p:sldId id="290" r:id="rId52"/>
    <p:sldId id="291" r:id="rId53"/>
    <p:sldId id="292" r:id="rId54"/>
    <p:sldId id="293" r:id="rId55"/>
    <p:sldId id="294" r:id="rId56"/>
    <p:sldId id="295" r:id="rId57"/>
    <p:sldId id="320" r:id="rId5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10"/>
  </p:normalViewPr>
  <p:slideViewPr>
    <p:cSldViewPr snapToGrid="0" snapToObjects="1">
      <p:cViewPr varScale="1">
        <p:scale>
          <a:sx n="94" d="100"/>
          <a:sy n="94" d="100"/>
        </p:scale>
        <p:origin x="75" y="7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ustomXml" Target="../customXml/item3.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customXml" Target="../customXml/item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65"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2952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bài thuyết trình: giới thiệu đề tài, nhóm thực hiện, bối cảnh Smartbox tại khu đô thị đông dân và mục tiêu áp dụng kiến thức phân tích thiết kế hệ thống vào một bài toán thực tế.</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nhóm và thông tin báo cáo môn học. Có thể phân công mỗi thành viên trình bày một phần: hiện trạng, phân tích, thiết kế, kết luận.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đây là bài toán thực tế ở khâu giao hàng cuối cùng: con người, không gian sảnh, thời gian và trách nhiệm đối soát đều bị quá tải.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mục tiêu thiết kế: làm rõ các thành phần chính của hệ thống gồm ứng dụng, server, cơ sở dữ liệu, tủ vật lý và kênh thông báo.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bày ba tác nhân: bưu tá, cư dân, admin. Đây là nền tảng cho sơ đồ use case và thiết kế phân quyền sau này.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tổng hợp năm nghiệp vụ trong Chương I. Có thể nói đây là bản đồ nghiệp vụ trước khi chuyển sang mô hình UML.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sơ đồ hoạt động đăng nhập: kiểm tra thông tin, nếu sai quay lại form, nếu đúng thì phân quyền và điều hướng đến giao diện tương ứng.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bày chi tiết luồng bưu tá: chọn trạm, chọn cỡ, nhập thông tin, tủ mở, đặt hàng, cửa đóng, hệ thống sinh mã nhận hàng.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đây là luồng phức tạp vì kết hợp xác thực OTP, tính phí, thanh toán và điều khiển tủ vật lý.</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bày Home-to-Box: cư dân tự trả phí để thuê ô tủ, gửi đồ cho chính mình hoặc người khác, hệ thống sinh mã nhận đồ.</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rõ luồng quản trị biểu phí: truy vấn, nhập giá, kiểm tra ràng buộc, cập nhật LoaiNganTu và đồng bộ xuống các trạm.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nghiệp vụ chuyển sang phân tích chức năng bằng use case. Nhấn mạnh sơ đồ thể hiện ranh giới hệ thống và các chức năng chính.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không đọc toàn bộ bảng, chỉ chỉ ra logic đặc tả: có ai thực hiện, trước đó cần gì, luồng chính làm gì, và ngoại lệ cần xử lý ra sao.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C9BD9-1951-58DA-58C6-D57C43A58A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6DB0AD-62C1-0C1D-BC86-5545352A0A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9E62D9-B9DE-2CC6-5A54-8ED47A7E0B7C}"/>
              </a:ext>
            </a:extLst>
          </p:cNvPr>
          <p:cNvSpPr>
            <a:spLocks noGrp="1"/>
          </p:cNvSpPr>
          <p:nvPr>
            <p:ph type="body" idx="1"/>
          </p:nvPr>
        </p:nvSpPr>
        <p:spPr/>
        <p:txBody>
          <a:bodyPr/>
          <a:lstStyle/>
          <a:p>
            <a:r>
              <a:rPr lang="en-US" dirty="0"/>
              <a:t>Slide này không đọc toàn bộ bảng, chỉ chỉ ra logic đặc tả: có ai thực hiện, trước đó cần gì, luồng chính làm gì, và ngoại lệ cần xử lý ra sao.</a:t>
            </a:r>
          </a:p>
        </p:txBody>
      </p:sp>
      <p:sp>
        <p:nvSpPr>
          <p:cNvPr id="4" name="Slide Number Placeholder 3">
            <a:extLst>
              <a:ext uri="{FF2B5EF4-FFF2-40B4-BE49-F238E27FC236}">
                <a16:creationId xmlns:a16="http://schemas.microsoft.com/office/drawing/2014/main" id="{B57F078D-A8BD-F271-4CA7-78371662534B}"/>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2060191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1BBC6-C138-05EC-4388-F6E9D5CF65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AEA60B-7AD1-A31E-E2E1-45E20C5F11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E44921-BED5-1AA9-8161-7C8D1C86B9E8}"/>
              </a:ext>
            </a:extLst>
          </p:cNvPr>
          <p:cNvSpPr>
            <a:spLocks noGrp="1"/>
          </p:cNvSpPr>
          <p:nvPr>
            <p:ph type="body" idx="1"/>
          </p:nvPr>
        </p:nvSpPr>
        <p:spPr/>
        <p:txBody>
          <a:bodyPr/>
          <a:lstStyle/>
          <a:p>
            <a:r>
              <a:rPr lang="en-US" dirty="0"/>
              <a:t>Slide này không đọc toàn bộ bảng, chỉ chỉ ra logic đặc tả: có ai thực hiện, trước đó cần gì, luồng chính làm gì, và ngoại lệ cần xử lý ra sao.</a:t>
            </a:r>
          </a:p>
        </p:txBody>
      </p:sp>
      <p:sp>
        <p:nvSpPr>
          <p:cNvPr id="4" name="Slide Number Placeholder 3">
            <a:extLst>
              <a:ext uri="{FF2B5EF4-FFF2-40B4-BE49-F238E27FC236}">
                <a16:creationId xmlns:a16="http://schemas.microsoft.com/office/drawing/2014/main" id="{861C9C05-912E-D0A3-3EFA-4E388A7EFB4B}"/>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6726951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93F98-8C04-6E32-76B8-31F0301F87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49FD28-9507-2FC6-7BB0-60071C6FB3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417F19-4BFA-4F57-9B57-001B270AEC2D}"/>
              </a:ext>
            </a:extLst>
          </p:cNvPr>
          <p:cNvSpPr>
            <a:spLocks noGrp="1"/>
          </p:cNvSpPr>
          <p:nvPr>
            <p:ph type="body" idx="1"/>
          </p:nvPr>
        </p:nvSpPr>
        <p:spPr/>
        <p:txBody>
          <a:bodyPr/>
          <a:lstStyle/>
          <a:p>
            <a:r>
              <a:rPr lang="en-US" dirty="0"/>
              <a:t>Slide này không đọc toàn bộ bảng, chỉ chỉ ra logic đặc tả: có ai thực hiện, trước đó cần gì, luồng chính làm gì, và ngoại lệ cần xử lý ra sao.</a:t>
            </a:r>
          </a:p>
        </p:txBody>
      </p:sp>
      <p:sp>
        <p:nvSpPr>
          <p:cNvPr id="4" name="Slide Number Placeholder 3">
            <a:extLst>
              <a:ext uri="{FF2B5EF4-FFF2-40B4-BE49-F238E27FC236}">
                <a16:creationId xmlns:a16="http://schemas.microsoft.com/office/drawing/2014/main" id="{08F3D575-9FA9-C5D1-A844-839D1D04FB66}"/>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6003235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D6583-AD7C-0442-5F7F-A6B9AF2A1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E01ECF-C290-455E-587C-B7E44F82E9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31F1ED-D1BC-0C58-CCAA-DFFD4469789F}"/>
              </a:ext>
            </a:extLst>
          </p:cNvPr>
          <p:cNvSpPr>
            <a:spLocks noGrp="1"/>
          </p:cNvSpPr>
          <p:nvPr>
            <p:ph type="body" idx="1"/>
          </p:nvPr>
        </p:nvSpPr>
        <p:spPr/>
        <p:txBody>
          <a:bodyPr/>
          <a:lstStyle/>
          <a:p>
            <a:r>
              <a:rPr lang="en-US" dirty="0"/>
              <a:t>Slide này không đọc toàn bộ bảng, chỉ chỉ ra logic đặc tả: có ai thực hiện, trước đó cần gì, luồng chính làm gì, và ngoại lệ cần xử lý ra sao.</a:t>
            </a:r>
          </a:p>
        </p:txBody>
      </p:sp>
      <p:sp>
        <p:nvSpPr>
          <p:cNvPr id="4" name="Slide Number Placeholder 3">
            <a:extLst>
              <a:ext uri="{FF2B5EF4-FFF2-40B4-BE49-F238E27FC236}">
                <a16:creationId xmlns:a16="http://schemas.microsoft.com/office/drawing/2014/main" id="{4C104C6E-DB28-883C-F9A8-FF06DEEBFC24}"/>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2147683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pattern phân tích lớp mà nhóm dùng: boundary chịu trách nhiệm tương tác, control xử lý nghiệp vụ, entity lưu trữ dữ liệu lâu dài.</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ba lớp chính trong đăng nhập: form nhận thông tin, control xác thực/phân quyền, entity KhachHang lưu tài khoản và vai trò.</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E484C-C853-5881-9A9B-DA19F45E9A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B6A7BA-06FF-DCAA-E3A0-F3CF6A5A5B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150F9E-79AB-9D49-811C-C3A30EE7A044}"/>
              </a:ext>
            </a:extLst>
          </p:cNvPr>
          <p:cNvSpPr>
            <a:spLocks noGrp="1"/>
          </p:cNvSpPr>
          <p:nvPr>
            <p:ph type="body" idx="1"/>
          </p:nvPr>
        </p:nvSpPr>
        <p:spPr/>
        <p:txBody>
          <a:bodyPr/>
          <a:lstStyle/>
          <a:p>
            <a:r>
              <a:rPr lang="en-US" dirty="0"/>
              <a:t>Giải thích ba lớp chính trong đăng nhập: form nhận thông tin, control xác thực/phân quyền, entity KhachHang lưu tài khoản và vai trò.</a:t>
            </a:r>
          </a:p>
        </p:txBody>
      </p:sp>
      <p:sp>
        <p:nvSpPr>
          <p:cNvPr id="4" name="Slide Number Placeholder 3">
            <a:extLst>
              <a:ext uri="{FF2B5EF4-FFF2-40B4-BE49-F238E27FC236}">
                <a16:creationId xmlns:a16="http://schemas.microsoft.com/office/drawing/2014/main" id="{448A58DA-DE14-66EB-1DF9-EB15821D7D55}"/>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4171722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ABA05-B92B-1AA8-D605-5A2A461066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BF223B-E25F-C96C-A9AA-5C08337776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361FE3-76DD-544D-7063-B8686F0DFDBA}"/>
              </a:ext>
            </a:extLst>
          </p:cNvPr>
          <p:cNvSpPr>
            <a:spLocks noGrp="1"/>
          </p:cNvSpPr>
          <p:nvPr>
            <p:ph type="body" idx="1"/>
          </p:nvPr>
        </p:nvSpPr>
        <p:spPr/>
        <p:txBody>
          <a:bodyPr/>
          <a:lstStyle/>
          <a:p>
            <a:r>
              <a:rPr lang="en-US" dirty="0"/>
              <a:t>Giải thích ba lớp chính trong đăng nhập: form nhận thông tin, control xác thực/phân quyền, entity KhachHang lưu tài khoản và vai trò.</a:t>
            </a:r>
          </a:p>
        </p:txBody>
      </p:sp>
      <p:sp>
        <p:nvSpPr>
          <p:cNvPr id="4" name="Slide Number Placeholder 3">
            <a:extLst>
              <a:ext uri="{FF2B5EF4-FFF2-40B4-BE49-F238E27FC236}">
                <a16:creationId xmlns:a16="http://schemas.microsoft.com/office/drawing/2014/main" id="{AE36E860-D3B2-0284-5D6B-C056406FA6E3}"/>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135269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0A2AA-B511-232F-15DE-BB587864F8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5FA12F-7611-8F8D-895C-7C09B777C7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0D89E1-0EDA-FA52-716B-AEA9C6F42A39}"/>
              </a:ext>
            </a:extLst>
          </p:cNvPr>
          <p:cNvSpPr>
            <a:spLocks noGrp="1"/>
          </p:cNvSpPr>
          <p:nvPr>
            <p:ph type="body" idx="1"/>
          </p:nvPr>
        </p:nvSpPr>
        <p:spPr/>
        <p:txBody>
          <a:bodyPr/>
          <a:lstStyle/>
          <a:p>
            <a:r>
              <a:rPr lang="en-US" dirty="0"/>
              <a:t>Giải thích ba lớp chính trong đăng nhập: form nhận thông tin, control xác thực/phân quyền, entity KhachHang lưu tài khoản và vai trò.</a:t>
            </a:r>
          </a:p>
        </p:txBody>
      </p:sp>
      <p:sp>
        <p:nvSpPr>
          <p:cNvPr id="4" name="Slide Number Placeholder 3">
            <a:extLst>
              <a:ext uri="{FF2B5EF4-FFF2-40B4-BE49-F238E27FC236}">
                <a16:creationId xmlns:a16="http://schemas.microsoft.com/office/drawing/2014/main" id="{0DFFDF5C-F469-93BE-A420-772655D19BC6}"/>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0633046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F8469-D706-3E0B-60A2-46C2B73734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C6A69C-28ED-4B12-7A11-DCA735CC68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11D895-9532-61FA-77DE-3BB0CBDEC686}"/>
              </a:ext>
            </a:extLst>
          </p:cNvPr>
          <p:cNvSpPr>
            <a:spLocks noGrp="1"/>
          </p:cNvSpPr>
          <p:nvPr>
            <p:ph type="body" idx="1"/>
          </p:nvPr>
        </p:nvSpPr>
        <p:spPr/>
        <p:txBody>
          <a:bodyPr/>
          <a:lstStyle/>
          <a:p>
            <a:r>
              <a:rPr lang="en-US" dirty="0"/>
              <a:t>Giải thích ba lớp chính trong đăng nhập: form nhận thông tin, control xác thực/phân quyền, entity KhachHang lưu tài khoản và vai trò.</a:t>
            </a:r>
          </a:p>
        </p:txBody>
      </p:sp>
      <p:sp>
        <p:nvSpPr>
          <p:cNvPr id="4" name="Slide Number Placeholder 3">
            <a:extLst>
              <a:ext uri="{FF2B5EF4-FFF2-40B4-BE49-F238E27FC236}">
                <a16:creationId xmlns:a16="http://schemas.microsoft.com/office/drawing/2014/main" id="{C4D2CBBC-88B7-4CA1-1505-409042BBA3C2}"/>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6366053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từ cấu trúc sang hành vi: sequence diagram kiểm chứng luồng tương tác theo thời gian.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Sequence đăng nhập có nhánh alt cho hai tình huống: tài khoản hợp lệ và tài khoản không hợp lệ.</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sequence giao hàng: đây là luồng cất hàng và phát sinh giao dịch ban đầu.</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rõ nhánh thanh toán: tổng tiền bằng 0 thì bỏ qua thanh toán, tổng tiền &gt; 0 thì phải có xác nhận thành công mới mở tủ.</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Sequence thuê tủ cá nhân tương tự giao hàng nhưng có bước thanh toán trước khi mở tủ.</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sequence phục vụ quản trị và thiết lập vận hành hệ thống.</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mục tiêu thiết kế lớp chi tiết: chuẩn bị cho cài đặt và ánh xạ cơ sở dữ liệu.</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qua từng entity và nói trách nhiệm chính. Nhấn mạnh không lặp vai trò bằng kế thừa mà dùng thuộc tính LoaiTaiKhoan trong KhachHang.</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này là bản cô đọng đặc tả thuộc tính entity, giúp người nghe không bị ngợp bởi bảng dài trong báo cáo.</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3C17E-A808-B4DD-46E2-249CD71727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E6AA86-2093-7D30-38D7-EDB8F1640B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BF36D9-D294-B205-CCD7-A90C915ABBFB}"/>
              </a:ext>
            </a:extLst>
          </p:cNvPr>
          <p:cNvSpPr>
            <a:spLocks noGrp="1"/>
          </p:cNvSpPr>
          <p:nvPr>
            <p:ph type="body" idx="1"/>
          </p:nvPr>
        </p:nvSpPr>
        <p:spPr/>
        <p:txBody>
          <a:bodyPr/>
          <a:lstStyle/>
          <a:p>
            <a:r>
              <a:rPr lang="en-US" dirty="0"/>
              <a:t>Bảng này là bản cô đọng đặc tả thuộc tính entity, giúp người nghe không bị ngợp bởi bảng dài trong báo cáo.</a:t>
            </a:r>
          </a:p>
        </p:txBody>
      </p:sp>
      <p:sp>
        <p:nvSpPr>
          <p:cNvPr id="4" name="Slide Number Placeholder 3">
            <a:extLst>
              <a:ext uri="{FF2B5EF4-FFF2-40B4-BE49-F238E27FC236}">
                <a16:creationId xmlns:a16="http://schemas.microsoft.com/office/drawing/2014/main" id="{84F66693-896B-53A0-03AC-545EB2D63B06}"/>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5729520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FB6D9-5C17-5652-8EC9-4A7BA90AE9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DACBD9-B749-5C33-D6FF-386266636B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61CB9D-7BA0-0A89-00CF-08F5E288E6BA}"/>
              </a:ext>
            </a:extLst>
          </p:cNvPr>
          <p:cNvSpPr>
            <a:spLocks noGrp="1"/>
          </p:cNvSpPr>
          <p:nvPr>
            <p:ph type="body" idx="1"/>
          </p:nvPr>
        </p:nvSpPr>
        <p:spPr/>
        <p:txBody>
          <a:bodyPr/>
          <a:lstStyle/>
          <a:p>
            <a:r>
              <a:rPr lang="en-US" dirty="0"/>
              <a:t>Bảng này là bản cô đọng đặc tả thuộc tính entity, giúp người nghe không bị ngợp bởi bảng dài trong báo cáo.</a:t>
            </a:r>
          </a:p>
        </p:txBody>
      </p:sp>
      <p:sp>
        <p:nvSpPr>
          <p:cNvPr id="4" name="Slide Number Placeholder 3">
            <a:extLst>
              <a:ext uri="{FF2B5EF4-FFF2-40B4-BE49-F238E27FC236}">
                <a16:creationId xmlns:a16="http://schemas.microsoft.com/office/drawing/2014/main" id="{30064631-F738-02E0-4006-DE0DFC10C637}"/>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23096821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8E65A-06FD-0E70-2948-CC31C0C9C7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E70668-1261-7D58-9231-BDFE35E010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D15201-D37F-037C-13DA-ECE4F21AEF9B}"/>
              </a:ext>
            </a:extLst>
          </p:cNvPr>
          <p:cNvSpPr>
            <a:spLocks noGrp="1"/>
          </p:cNvSpPr>
          <p:nvPr>
            <p:ph type="body" idx="1"/>
          </p:nvPr>
        </p:nvSpPr>
        <p:spPr/>
        <p:txBody>
          <a:bodyPr/>
          <a:lstStyle/>
          <a:p>
            <a:r>
              <a:rPr lang="en-US" dirty="0"/>
              <a:t>Bảng này là bản cô đọng đặc tả thuộc tính entity, giúp người nghe không bị ngợp bởi bảng dài trong báo cáo.</a:t>
            </a:r>
          </a:p>
        </p:txBody>
      </p:sp>
      <p:sp>
        <p:nvSpPr>
          <p:cNvPr id="4" name="Slide Number Placeholder 3">
            <a:extLst>
              <a:ext uri="{FF2B5EF4-FFF2-40B4-BE49-F238E27FC236}">
                <a16:creationId xmlns:a16="http://schemas.microsoft.com/office/drawing/2014/main" id="{81FC98FD-0DAA-CA2D-6968-9B145B191484}"/>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56428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81387-0C6C-656A-E417-6B1B3DF71A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E6C1B7-CF05-53D8-5D0A-05E1530268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D825FA-D8B5-670F-032A-985242EE806F}"/>
              </a:ext>
            </a:extLst>
          </p:cNvPr>
          <p:cNvSpPr>
            <a:spLocks noGrp="1"/>
          </p:cNvSpPr>
          <p:nvPr>
            <p:ph type="body" idx="1"/>
          </p:nvPr>
        </p:nvSpPr>
        <p:spPr/>
        <p:txBody>
          <a:bodyPr/>
          <a:lstStyle/>
          <a:p>
            <a:r>
              <a:rPr lang="en-US" dirty="0"/>
              <a:t>Bảng này là bản cô đọng đặc tả thuộc tính entity, giúp người nghe không bị ngợp bởi bảng dài trong báo cáo.</a:t>
            </a:r>
          </a:p>
        </p:txBody>
      </p:sp>
      <p:sp>
        <p:nvSpPr>
          <p:cNvPr id="4" name="Slide Number Placeholder 3">
            <a:extLst>
              <a:ext uri="{FF2B5EF4-FFF2-40B4-BE49-F238E27FC236}">
                <a16:creationId xmlns:a16="http://schemas.microsoft.com/office/drawing/2014/main" id="{512E826C-E53B-04D0-AFF7-8D83E88C9EFB}"/>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413654302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684BD-0D85-8A3D-B7B3-4DA9D8B650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26EF28-619D-E608-CFD5-383D0875DA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FD9A0B-C610-8328-6142-28AB925F3E0D}"/>
              </a:ext>
            </a:extLst>
          </p:cNvPr>
          <p:cNvSpPr>
            <a:spLocks noGrp="1"/>
          </p:cNvSpPr>
          <p:nvPr>
            <p:ph type="body" idx="1"/>
          </p:nvPr>
        </p:nvSpPr>
        <p:spPr/>
        <p:txBody>
          <a:bodyPr/>
          <a:lstStyle/>
          <a:p>
            <a:r>
              <a:rPr lang="en-US" dirty="0"/>
              <a:t>Bảng này là bản cô đọng đặc tả thuộc tính entity, giúp người nghe không bị ngợp bởi bảng dài trong báo cáo.</a:t>
            </a:r>
          </a:p>
        </p:txBody>
      </p:sp>
      <p:sp>
        <p:nvSpPr>
          <p:cNvPr id="4" name="Slide Number Placeholder 3">
            <a:extLst>
              <a:ext uri="{FF2B5EF4-FFF2-40B4-BE49-F238E27FC236}">
                <a16:creationId xmlns:a16="http://schemas.microsoft.com/office/drawing/2014/main" id="{EBF0FDFB-CA98-DEA2-4BA7-0946820C952B}"/>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6835935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biệt control và boundary: boundary chỉ giao tiếp với người dùng, control xử lý nghiệp vụ.</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6B7BB-56CC-7D5F-984F-7E80EF6282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612710-B199-DF65-9D43-1FB445E650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8A8674-B97A-2A85-4A59-E9D65A5E11F2}"/>
              </a:ext>
            </a:extLst>
          </p:cNvPr>
          <p:cNvSpPr>
            <a:spLocks noGrp="1"/>
          </p:cNvSpPr>
          <p:nvPr>
            <p:ph type="body" idx="1"/>
          </p:nvPr>
        </p:nvSpPr>
        <p:spPr/>
        <p:txBody>
          <a:bodyPr/>
          <a:lstStyle/>
          <a:p>
            <a:r>
              <a:rPr lang="en-US" dirty="0"/>
              <a:t>Phân biệt control và boundary: boundary chỉ giao tiếp với người dùng, control xử lý nghiệp vụ.</a:t>
            </a:r>
          </a:p>
        </p:txBody>
      </p:sp>
      <p:sp>
        <p:nvSpPr>
          <p:cNvPr id="4" name="Slide Number Placeholder 3">
            <a:extLst>
              <a:ext uri="{FF2B5EF4-FFF2-40B4-BE49-F238E27FC236}">
                <a16:creationId xmlns:a16="http://schemas.microsoft.com/office/drawing/2014/main" id="{0AAC3E33-1490-1C7F-46BD-10A2832705FC}"/>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3850613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59B93-C680-2686-6F50-5E7ADA29DD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E86A88-4976-B9B7-822D-1615E36222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C1FE85-C33F-7C9B-B364-BABF52475BE3}"/>
              </a:ext>
            </a:extLst>
          </p:cNvPr>
          <p:cNvSpPr>
            <a:spLocks noGrp="1"/>
          </p:cNvSpPr>
          <p:nvPr>
            <p:ph type="body" idx="1"/>
          </p:nvPr>
        </p:nvSpPr>
        <p:spPr/>
        <p:txBody>
          <a:bodyPr/>
          <a:lstStyle/>
          <a:p>
            <a:r>
              <a:rPr lang="en-US" dirty="0"/>
              <a:t>Phân biệt control và boundary: boundary chỉ giao tiếp với người dùng, control xử lý nghiệp vụ.</a:t>
            </a:r>
          </a:p>
        </p:txBody>
      </p:sp>
      <p:sp>
        <p:nvSpPr>
          <p:cNvPr id="4" name="Slide Number Placeholder 3">
            <a:extLst>
              <a:ext uri="{FF2B5EF4-FFF2-40B4-BE49-F238E27FC236}">
                <a16:creationId xmlns:a16="http://schemas.microsoft.com/office/drawing/2014/main" id="{C04D3A63-043B-0770-76EC-654165BBEB67}"/>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329980424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45970-74F2-6A5F-BBEF-DEFDA39C6D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97CAE8-E954-CD06-64FB-DDB3EFC8EF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41F52C-E4A7-8A42-FCFB-457D952671A4}"/>
              </a:ext>
            </a:extLst>
          </p:cNvPr>
          <p:cNvSpPr>
            <a:spLocks noGrp="1"/>
          </p:cNvSpPr>
          <p:nvPr>
            <p:ph type="body" idx="1"/>
          </p:nvPr>
        </p:nvSpPr>
        <p:spPr/>
        <p:txBody>
          <a:bodyPr/>
          <a:lstStyle/>
          <a:p>
            <a:r>
              <a:rPr lang="en-US" dirty="0"/>
              <a:t>Phân biệt control và boundary: boundary chỉ giao tiếp với người dùng, control xử lý nghiệp vụ.</a:t>
            </a:r>
          </a:p>
        </p:txBody>
      </p:sp>
      <p:sp>
        <p:nvSpPr>
          <p:cNvPr id="4" name="Slide Number Placeholder 3">
            <a:extLst>
              <a:ext uri="{FF2B5EF4-FFF2-40B4-BE49-F238E27FC236}">
                <a16:creationId xmlns:a16="http://schemas.microsoft.com/office/drawing/2014/main" id="{2F4079B0-782B-5058-9926-B992A7F48771}"/>
              </a:ext>
            </a:extLst>
          </p:cNvPr>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265168811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Biểu đồ lớp tổng hợp cho thấy mối liên kết giữa 6 entity và là cầu nối sang thiết kế cơ sở dữ liệu.</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nguyên tắc ánh xạ từ thiết kế lớp sang cơ sở dữ liệu quan hệ.</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bày ERD vật lý. Nói rõ bảng GiaoDich_Nhom5 là trung tâm lưu vòng đời đơn hàng.</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tắt các bảng chính để người nghe nắm thiết kế mà không cần đọc từng bảng chi tiết trong báo cáo.</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00B6F-57A9-41E1-7032-14D265AB37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FEC25E-5289-C9E7-1376-F60535E59F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776D4A-0C69-29D9-EFCC-9C05B9C6689A}"/>
              </a:ext>
            </a:extLst>
          </p:cNvPr>
          <p:cNvSpPr>
            <a:spLocks noGrp="1"/>
          </p:cNvSpPr>
          <p:nvPr>
            <p:ph type="body" idx="1"/>
          </p:nvPr>
        </p:nvSpPr>
        <p:spPr/>
        <p:txBody>
          <a:bodyPr/>
          <a:lstStyle/>
          <a:p>
            <a:r>
              <a:rPr lang="en-US" dirty="0"/>
              <a:t>Tóm tắt các bảng chính để người nghe nắm thiết kế mà không cần đọc từng bảng chi tiết trong báo cáo.</a:t>
            </a:r>
          </a:p>
        </p:txBody>
      </p:sp>
      <p:sp>
        <p:nvSpPr>
          <p:cNvPr id="4" name="Slide Number Placeholder 3">
            <a:extLst>
              <a:ext uri="{FF2B5EF4-FFF2-40B4-BE49-F238E27FC236}">
                <a16:creationId xmlns:a16="http://schemas.microsoft.com/office/drawing/2014/main" id="{89F5C4A8-413B-4A8B-1540-E1B7F8225457}"/>
              </a:ext>
            </a:extLst>
          </p:cNvPr>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410347048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BF0F9-AAB9-0C97-1B3B-1B3BAF6B4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CA846E-01D4-7D4F-DB27-92AF9283BA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41BD00-23A1-6483-824B-D07F8873D153}"/>
              </a:ext>
            </a:extLst>
          </p:cNvPr>
          <p:cNvSpPr>
            <a:spLocks noGrp="1"/>
          </p:cNvSpPr>
          <p:nvPr>
            <p:ph type="body" idx="1"/>
          </p:nvPr>
        </p:nvSpPr>
        <p:spPr/>
        <p:txBody>
          <a:bodyPr/>
          <a:lstStyle/>
          <a:p>
            <a:r>
              <a:rPr lang="en-US" dirty="0"/>
              <a:t>Tóm tắt các bảng chính để người nghe nắm thiết kế mà không cần đọc từng bảng chi tiết trong báo cáo.</a:t>
            </a:r>
          </a:p>
        </p:txBody>
      </p:sp>
      <p:sp>
        <p:nvSpPr>
          <p:cNvPr id="4" name="Slide Number Placeholder 3">
            <a:extLst>
              <a:ext uri="{FF2B5EF4-FFF2-40B4-BE49-F238E27FC236}">
                <a16:creationId xmlns:a16="http://schemas.microsoft.com/office/drawing/2014/main" id="{9C0F8340-E8F2-4ADA-A4AB-B62A2DF74727}"/>
              </a:ext>
            </a:extLst>
          </p:cNvPr>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9658424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0E53C-25BD-B6B5-2ADC-BAB211BE6E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0BD1A-68A5-2B3D-C39E-1142E49358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2B4ABF-2652-8D9C-C7AB-6377F250C42E}"/>
              </a:ext>
            </a:extLst>
          </p:cNvPr>
          <p:cNvSpPr>
            <a:spLocks noGrp="1"/>
          </p:cNvSpPr>
          <p:nvPr>
            <p:ph type="body" idx="1"/>
          </p:nvPr>
        </p:nvSpPr>
        <p:spPr/>
        <p:txBody>
          <a:bodyPr/>
          <a:lstStyle/>
          <a:p>
            <a:r>
              <a:rPr lang="en-US" dirty="0"/>
              <a:t>Tóm tắt các bảng chính để người nghe nắm thiết kế mà không cần đọc từng bảng chi tiết trong báo cáo.</a:t>
            </a:r>
          </a:p>
        </p:txBody>
      </p:sp>
      <p:sp>
        <p:nvSpPr>
          <p:cNvPr id="4" name="Slide Number Placeholder 3">
            <a:extLst>
              <a:ext uri="{FF2B5EF4-FFF2-40B4-BE49-F238E27FC236}">
                <a16:creationId xmlns:a16="http://schemas.microsoft.com/office/drawing/2014/main" id="{EF5E1FBC-0C1F-1CBD-E3EC-B0E5E51546A3}"/>
              </a:ext>
            </a:extLst>
          </p:cNvPr>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7514958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7750B-CD87-73F4-8DDB-CB499B2C50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1B126C-8C32-66F0-E0BD-722B530ADB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92967B-608B-8F5D-4E82-0F1E5B83E2B4}"/>
              </a:ext>
            </a:extLst>
          </p:cNvPr>
          <p:cNvSpPr>
            <a:spLocks noGrp="1"/>
          </p:cNvSpPr>
          <p:nvPr>
            <p:ph type="body" idx="1"/>
          </p:nvPr>
        </p:nvSpPr>
        <p:spPr/>
        <p:txBody>
          <a:bodyPr/>
          <a:lstStyle/>
          <a:p>
            <a:r>
              <a:rPr lang="en-US" dirty="0"/>
              <a:t>Tóm tắt các bảng chính để người nghe nắm thiết kế mà không cần đọc từng bảng chi tiết trong báo cáo.</a:t>
            </a:r>
          </a:p>
        </p:txBody>
      </p:sp>
      <p:sp>
        <p:nvSpPr>
          <p:cNvPr id="4" name="Slide Number Placeholder 3">
            <a:extLst>
              <a:ext uri="{FF2B5EF4-FFF2-40B4-BE49-F238E27FC236}">
                <a16:creationId xmlns:a16="http://schemas.microsoft.com/office/drawing/2014/main" id="{241123B9-7A64-F3B4-8974-68B95D8C73A0}"/>
              </a:ext>
            </a:extLst>
          </p:cNvPr>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225594778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4D094-CA71-1AD4-7204-277D4C5309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1C12DC-3590-3E5D-F58C-CD23856D7C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E96159-953C-24C8-25AF-11D0B0FE2AD2}"/>
              </a:ext>
            </a:extLst>
          </p:cNvPr>
          <p:cNvSpPr>
            <a:spLocks noGrp="1"/>
          </p:cNvSpPr>
          <p:nvPr>
            <p:ph type="body" idx="1"/>
          </p:nvPr>
        </p:nvSpPr>
        <p:spPr/>
        <p:txBody>
          <a:bodyPr/>
          <a:lstStyle/>
          <a:p>
            <a:r>
              <a:rPr lang="en-US" dirty="0"/>
              <a:t>Tóm tắt các bảng chính để người nghe nắm thiết kế mà không cần đọc từng bảng chi tiết trong báo cáo.</a:t>
            </a:r>
          </a:p>
        </p:txBody>
      </p:sp>
      <p:sp>
        <p:nvSpPr>
          <p:cNvPr id="4" name="Slide Number Placeholder 3">
            <a:extLst>
              <a:ext uri="{FF2B5EF4-FFF2-40B4-BE49-F238E27FC236}">
                <a16:creationId xmlns:a16="http://schemas.microsoft.com/office/drawing/2014/main" id="{CBAA42C4-46C1-8824-03A1-94AE932D2723}"/>
              </a:ext>
            </a:extLst>
          </p:cNvPr>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371306927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rõ chất lượng thiết kế cơ sở dữ liệu: chuẩn hóa, ràng buộc khóa chính/khóa ngoại/miền giá trị và lý do hạ chuẩn có kiểm soát.</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 những gì đề tài đã hoàn thành theo trình tự của môn học Phân tích và Thiết kế Hệ thống.</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bày lợi ích theo từng đối tượng: cư dân, bưu tá, ban quản lý và hệ thống vận hành dữ liệu.</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hạn chế một cách chủ động, không coi đây là lỗi nghiêm trọng mà là phạm vi cần phát triển thêm nếu triển khai sản phẩm thật.</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Đưa ra roadmap phát triển tương lai theo ba lớp: kỹ thuật cốt lõi, tích hợp hệ sinh thái, nâng cao dịch vụ và bảo mật.</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thúc bài thuyết trình. Nhấn mạnh tính hệ thống, tính nhất quán và tính khả thi của đề tài.</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F17D1-94C1-6A08-E2D5-260EC329BD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9DB310-494D-579A-54DC-4183454008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FE3026-1228-FF84-7992-9DAAB8087725}"/>
              </a:ext>
            </a:extLst>
          </p:cNvPr>
          <p:cNvSpPr>
            <a:spLocks noGrp="1"/>
          </p:cNvSpPr>
          <p:nvPr>
            <p:ph type="body" idx="1"/>
          </p:nvPr>
        </p:nvSpPr>
        <p:spPr/>
        <p:txBody>
          <a:bodyPr/>
          <a:lstStyle/>
          <a:p>
            <a:r>
              <a:rPr lang="en-US" dirty="0"/>
              <a:t>Kết thúc bài thuyết trình. Nhấn mạnh tính hệ thống, tính nhất quán và tính khả thi của đề tài.</a:t>
            </a:r>
          </a:p>
        </p:txBody>
      </p:sp>
      <p:sp>
        <p:nvSpPr>
          <p:cNvPr id="4" name="Slide Number Placeholder 3">
            <a:extLst>
              <a:ext uri="{FF2B5EF4-FFF2-40B4-BE49-F238E27FC236}">
                <a16:creationId xmlns:a16="http://schemas.microsoft.com/office/drawing/2014/main" id="{633D1472-069C-ADB9-C673-03CD710880F0}"/>
              </a:ext>
            </a:extLst>
          </p:cNvPr>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9570684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7F7"/>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lank">
    <p:bg>
      <p:bgPr>
        <a:solidFill>
          <a:srgbClr val="F7F7F7"/>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webp"/><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16.emf"/><Relationship Id="rId5" Type="http://schemas.openxmlformats.org/officeDocument/2006/relationships/image" Target="../media/image15.emf"/><Relationship Id="rId4" Type="http://schemas.openxmlformats.org/officeDocument/2006/relationships/image" Target="../media/image14.emf"/></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3.webp"/><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vi-VN"/>
          </a:p>
        </p:txBody>
      </p:sp>
      <p:sp>
        <p:nvSpPr>
          <p:cNvPr id="3" name="Shape 1"/>
          <p:cNvSpPr/>
          <p:nvPr/>
        </p:nvSpPr>
        <p:spPr>
          <a:xfrm>
            <a:off x="-2" y="0"/>
            <a:ext cx="4899441"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4899439" y="0"/>
            <a:ext cx="50885" cy="6858000"/>
          </a:xfrm>
          <a:prstGeom prst="rect">
            <a:avLst/>
          </a:prstGeom>
          <a:solidFill>
            <a:srgbClr val="F2C94C"/>
          </a:solidFill>
          <a:ln w="12700">
            <a:solidFill>
              <a:srgbClr val="F2C94C">
                <a:alpha val="0"/>
              </a:srgbClr>
            </a:solidFill>
            <a:prstDash val="solid"/>
          </a:ln>
        </p:spPr>
        <p:txBody>
          <a:bodyPr/>
          <a:lstStyle/>
          <a:p>
            <a:endParaRPr lang="vi-VN"/>
          </a:p>
        </p:txBody>
      </p:sp>
      <p:pic>
        <p:nvPicPr>
          <p:cNvPr id="6" name="Image 1" descr="/mnt/data/smartbox_images/image1.png"/>
          <p:cNvPicPr>
            <a:picLocks noChangeAspect="1"/>
          </p:cNvPicPr>
          <p:nvPr/>
        </p:nvPicPr>
        <p:blipFill>
          <a:blip r:embed="rId3"/>
          <a:stretch>
            <a:fillRect/>
          </a:stretch>
        </p:blipFill>
        <p:spPr>
          <a:xfrm>
            <a:off x="266590" y="493776"/>
            <a:ext cx="883704" cy="1325880"/>
          </a:xfrm>
          <a:prstGeom prst="rect">
            <a:avLst/>
          </a:prstGeom>
        </p:spPr>
      </p:pic>
      <p:sp>
        <p:nvSpPr>
          <p:cNvPr id="7" name="Text 3"/>
          <p:cNvSpPr/>
          <p:nvPr/>
        </p:nvSpPr>
        <p:spPr>
          <a:xfrm>
            <a:off x="1229865" y="621792"/>
            <a:ext cx="3189732" cy="685800"/>
          </a:xfrm>
          <a:prstGeom prst="rect">
            <a:avLst/>
          </a:prstGeom>
          <a:noFill/>
          <a:ln/>
        </p:spPr>
        <p:txBody>
          <a:bodyPr wrap="square" lIns="0" tIns="0" rIns="0" bIns="0" rtlCol="0" anchor="ctr">
            <a:normAutofit/>
          </a:bodyPr>
          <a:lstStyle/>
          <a:p>
            <a:pPr marL="0" indent="0" algn="ctr">
              <a:buNone/>
            </a:pPr>
            <a:r>
              <a:rPr lang="en-US" sz="920" b="1" dirty="0">
                <a:solidFill>
                  <a:srgbClr val="FFFFFF"/>
                </a:solidFill>
                <a:latin typeface="Arial" pitchFamily="34" charset="0"/>
                <a:ea typeface="Arial" pitchFamily="34" charset="-122"/>
                <a:cs typeface="Arial" pitchFamily="34" charset="-120"/>
              </a:rPr>
              <a:t>ĐẠI HỌC BÁCH KHOA HÀ NỘI</a:t>
            </a:r>
            <a:endParaRPr lang="en-US" sz="920" dirty="0"/>
          </a:p>
          <a:p>
            <a:pPr marL="0" indent="0" algn="ctr">
              <a:buNone/>
            </a:pPr>
            <a:r>
              <a:rPr lang="en-US" sz="920" b="1" dirty="0">
                <a:solidFill>
                  <a:srgbClr val="FFFFFF"/>
                </a:solidFill>
                <a:latin typeface="Arial" pitchFamily="34" charset="0"/>
                <a:ea typeface="Arial" pitchFamily="34" charset="-122"/>
                <a:cs typeface="Arial" pitchFamily="34" charset="-120"/>
              </a:rPr>
              <a:t>TRƯỜNG CÔNG NGHỆ THÔNG TIN VÀ TRUYỀN THÔNG</a:t>
            </a:r>
            <a:endParaRPr lang="en-US" sz="920" dirty="0"/>
          </a:p>
        </p:txBody>
      </p:sp>
      <p:sp>
        <p:nvSpPr>
          <p:cNvPr id="8" name="Text 4"/>
          <p:cNvSpPr/>
          <p:nvPr/>
        </p:nvSpPr>
        <p:spPr>
          <a:xfrm>
            <a:off x="566927" y="1901952"/>
            <a:ext cx="4135702" cy="1005840"/>
          </a:xfrm>
          <a:prstGeom prst="rect">
            <a:avLst/>
          </a:prstGeom>
          <a:noFill/>
          <a:ln/>
        </p:spPr>
        <p:txBody>
          <a:bodyPr wrap="square" lIns="0" tIns="0" rIns="0" bIns="0" rtlCol="0" anchor="ctr">
            <a:normAutofit/>
          </a:bodyPr>
          <a:lstStyle/>
          <a:p>
            <a:pPr marL="0" indent="0" algn="ctr">
              <a:buNone/>
            </a:pPr>
            <a:r>
              <a:rPr lang="en-US" sz="2800" b="1" dirty="0">
                <a:solidFill>
                  <a:srgbClr val="FFFFFF"/>
                </a:solidFill>
                <a:latin typeface="Arial" pitchFamily="34" charset="0"/>
                <a:ea typeface="Arial" pitchFamily="34" charset="-122"/>
                <a:cs typeface="Arial" pitchFamily="34" charset="-120"/>
              </a:rPr>
              <a:t>PHÂN TÍCH VÀ</a:t>
            </a:r>
            <a:endParaRPr lang="en-US" sz="2800" dirty="0"/>
          </a:p>
          <a:p>
            <a:pPr marL="0" indent="0" algn="ctr">
              <a:buNone/>
            </a:pPr>
            <a:r>
              <a:rPr lang="en-US" sz="2800" b="1" dirty="0">
                <a:solidFill>
                  <a:srgbClr val="FFFFFF"/>
                </a:solidFill>
                <a:latin typeface="Arial" pitchFamily="34" charset="0"/>
                <a:ea typeface="Arial" pitchFamily="34" charset="-122"/>
                <a:cs typeface="Arial" pitchFamily="34" charset="-120"/>
              </a:rPr>
              <a:t>THIẾT KẾ HỆ THỐNG</a:t>
            </a:r>
            <a:endParaRPr lang="en-US" sz="2800" dirty="0"/>
          </a:p>
        </p:txBody>
      </p:sp>
      <p:sp>
        <p:nvSpPr>
          <p:cNvPr id="9" name="Shape 5"/>
          <p:cNvSpPr/>
          <p:nvPr/>
        </p:nvSpPr>
        <p:spPr>
          <a:xfrm>
            <a:off x="1715378" y="2931304"/>
            <a:ext cx="1828800" cy="0"/>
          </a:xfrm>
          <a:prstGeom prst="line">
            <a:avLst/>
          </a:prstGeom>
          <a:noFill/>
          <a:ln w="30480">
            <a:solidFill>
              <a:srgbClr val="F2C94C"/>
            </a:solidFill>
            <a:prstDash val="solid"/>
          </a:ln>
        </p:spPr>
        <p:txBody>
          <a:bodyPr/>
          <a:lstStyle/>
          <a:p>
            <a:endParaRPr lang="vi-VN"/>
          </a:p>
        </p:txBody>
      </p:sp>
      <p:sp>
        <p:nvSpPr>
          <p:cNvPr id="10" name="Text 6"/>
          <p:cNvSpPr/>
          <p:nvPr/>
        </p:nvSpPr>
        <p:spPr>
          <a:xfrm>
            <a:off x="381869" y="3364992"/>
            <a:ext cx="4135702" cy="1051560"/>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rial" pitchFamily="34" charset="0"/>
                <a:ea typeface="Arial" pitchFamily="34" charset="-122"/>
                <a:cs typeface="Arial" pitchFamily="34" charset="-120"/>
              </a:rPr>
              <a:t>Hệ thống </a:t>
            </a:r>
            <a:r>
              <a:rPr lang="en-US" sz="2000" b="1">
                <a:solidFill>
                  <a:srgbClr val="FFFFFF"/>
                </a:solidFill>
                <a:latin typeface="Arial" pitchFamily="34" charset="0"/>
                <a:ea typeface="Arial" pitchFamily="34" charset="-122"/>
                <a:cs typeface="Arial" pitchFamily="34" charset="-120"/>
              </a:rPr>
              <a:t>quản lý</a:t>
            </a:r>
          </a:p>
          <a:p>
            <a:pPr marL="0" indent="0" algn="ctr">
              <a:buNone/>
            </a:pPr>
            <a:r>
              <a:rPr lang="en-US" sz="2000" b="1">
                <a:solidFill>
                  <a:srgbClr val="FFFFFF"/>
                </a:solidFill>
                <a:latin typeface="Arial" pitchFamily="34" charset="0"/>
                <a:ea typeface="Arial" pitchFamily="34" charset="-122"/>
                <a:cs typeface="Arial" pitchFamily="34" charset="-120"/>
              </a:rPr>
              <a:t>tủ </a:t>
            </a:r>
            <a:r>
              <a:rPr lang="en-US" sz="2000" b="1" dirty="0">
                <a:solidFill>
                  <a:srgbClr val="FFFFFF"/>
                </a:solidFill>
                <a:latin typeface="Arial" pitchFamily="34" charset="0"/>
                <a:ea typeface="Arial" pitchFamily="34" charset="-122"/>
                <a:cs typeface="Arial" pitchFamily="34" charset="-120"/>
              </a:rPr>
              <a:t>đồ thông minh </a:t>
            </a:r>
            <a:r>
              <a:rPr lang="en-US" sz="2000" b="1">
                <a:solidFill>
                  <a:srgbClr val="FFFFFF"/>
                </a:solidFill>
                <a:latin typeface="Arial" pitchFamily="34" charset="0"/>
                <a:ea typeface="Arial" pitchFamily="34" charset="-122"/>
                <a:cs typeface="Arial" pitchFamily="34" charset="-120"/>
              </a:rPr>
              <a:t>Smartbox </a:t>
            </a:r>
          </a:p>
          <a:p>
            <a:pPr marL="0" indent="0" algn="ctr">
              <a:buNone/>
            </a:pPr>
            <a:r>
              <a:rPr lang="en-US" sz="2000" b="1">
                <a:solidFill>
                  <a:srgbClr val="FFFFFF"/>
                </a:solidFill>
                <a:latin typeface="Arial" pitchFamily="34" charset="0"/>
                <a:ea typeface="Arial" pitchFamily="34" charset="-122"/>
                <a:cs typeface="Arial" pitchFamily="34" charset="-120"/>
              </a:rPr>
              <a:t>tại </a:t>
            </a:r>
            <a:r>
              <a:rPr lang="en-US" sz="2000" b="1" dirty="0">
                <a:solidFill>
                  <a:srgbClr val="FFFFFF"/>
                </a:solidFill>
                <a:latin typeface="Arial" pitchFamily="34" charset="0"/>
                <a:ea typeface="Arial" pitchFamily="34" charset="-122"/>
                <a:cs typeface="Arial" pitchFamily="34" charset="-120"/>
              </a:rPr>
              <a:t>KĐT Vinhomes Ocean Park</a:t>
            </a:r>
            <a:endParaRPr lang="en-US" sz="2000" dirty="0"/>
          </a:p>
        </p:txBody>
      </p:sp>
      <p:sp>
        <p:nvSpPr>
          <p:cNvPr id="11" name="Text 7"/>
          <p:cNvSpPr/>
          <p:nvPr/>
        </p:nvSpPr>
        <p:spPr>
          <a:xfrm>
            <a:off x="566927" y="5321808"/>
            <a:ext cx="3820015" cy="914400"/>
          </a:xfrm>
          <a:prstGeom prst="rect">
            <a:avLst/>
          </a:prstGeom>
          <a:noFill/>
          <a:ln/>
        </p:spPr>
        <p:txBody>
          <a:bodyPr wrap="square" lIns="0" tIns="0" rIns="0" bIns="0" rtlCol="0" anchor="ctr">
            <a:normAutofit/>
          </a:bodyPr>
          <a:lstStyle/>
          <a:p>
            <a:pPr marL="0" indent="0" algn="ctr">
              <a:spcBef>
                <a:spcPts val="300"/>
              </a:spcBef>
              <a:spcAft>
                <a:spcPts val="300"/>
              </a:spcAft>
              <a:buNone/>
            </a:pPr>
            <a:r>
              <a:rPr lang="en-US" sz="1400" b="1" dirty="0">
                <a:solidFill>
                  <a:srgbClr val="FFFFFF"/>
                </a:solidFill>
                <a:latin typeface="Arial" pitchFamily="34" charset="0"/>
                <a:ea typeface="Arial" pitchFamily="34" charset="-122"/>
                <a:cs typeface="Arial" pitchFamily="34" charset="-120"/>
              </a:rPr>
              <a:t>Nhóm 05 • B2CQ - CNTT - K69(01)</a:t>
            </a:r>
            <a:endParaRPr lang="en-US" sz="1400" b="1" dirty="0"/>
          </a:p>
          <a:p>
            <a:pPr marL="0" indent="0" algn="ctr">
              <a:spcBef>
                <a:spcPts val="300"/>
              </a:spcBef>
              <a:spcAft>
                <a:spcPts val="300"/>
              </a:spcAft>
              <a:buNone/>
            </a:pPr>
            <a:r>
              <a:rPr lang="en-US" sz="1400" b="1" dirty="0">
                <a:solidFill>
                  <a:srgbClr val="FFFFFF"/>
                </a:solidFill>
                <a:latin typeface="Arial" pitchFamily="34" charset="0"/>
                <a:ea typeface="Arial" pitchFamily="34" charset="-122"/>
                <a:cs typeface="Arial" pitchFamily="34" charset="-120"/>
              </a:rPr>
              <a:t>GVHD: Th.S Phạm Thị Phương Giang</a:t>
            </a:r>
            <a:endParaRPr lang="en-US" sz="1400" b="1" dirty="0"/>
          </a:p>
          <a:p>
            <a:pPr marL="0" indent="0" algn="ctr">
              <a:spcBef>
                <a:spcPts val="300"/>
              </a:spcBef>
              <a:spcAft>
                <a:spcPts val="300"/>
              </a:spcAft>
              <a:buNone/>
            </a:pPr>
            <a:r>
              <a:rPr lang="en-US" sz="1400" b="1">
                <a:solidFill>
                  <a:srgbClr val="FFFFFF"/>
                </a:solidFill>
                <a:latin typeface="Arial" pitchFamily="34" charset="0"/>
                <a:ea typeface="Arial" pitchFamily="34" charset="-122"/>
                <a:cs typeface="Arial" pitchFamily="34" charset="-120"/>
              </a:rPr>
              <a:t>Hà Nội - </a:t>
            </a:r>
            <a:r>
              <a:rPr lang="en-US" sz="1400" b="1" dirty="0">
                <a:solidFill>
                  <a:srgbClr val="FFFFFF"/>
                </a:solidFill>
                <a:latin typeface="Arial" pitchFamily="34" charset="0"/>
                <a:ea typeface="Arial" pitchFamily="34" charset="-122"/>
                <a:cs typeface="Arial" pitchFamily="34" charset="-120"/>
              </a:rPr>
              <a:t>06/2026</a:t>
            </a:r>
            <a:endParaRPr lang="en-US" sz="1400" b="1" dirty="0"/>
          </a:p>
        </p:txBody>
      </p:sp>
      <p:sp>
        <p:nvSpPr>
          <p:cNvPr id="12" name="Text 8"/>
          <p:cNvSpPr/>
          <p:nvPr/>
        </p:nvSpPr>
        <p:spPr>
          <a:xfrm>
            <a:off x="6736484" y="4797890"/>
            <a:ext cx="3649545" cy="708660"/>
          </a:xfrm>
          <a:prstGeom prst="rect">
            <a:avLst/>
          </a:prstGeom>
          <a:noFill/>
          <a:ln/>
        </p:spPr>
        <p:txBody>
          <a:bodyPr wrap="square" lIns="0" tIns="0" rIns="0" bIns="0" rtlCol="0" anchor="ctr"/>
          <a:lstStyle/>
          <a:p>
            <a:pPr marL="0" indent="0" algn="r">
              <a:buNone/>
            </a:pPr>
            <a:r>
              <a:rPr lang="en-US" sz="4000" b="1" dirty="0">
                <a:solidFill>
                  <a:srgbClr val="B50915"/>
                </a:solidFill>
                <a:latin typeface="Arial" pitchFamily="34" charset="0"/>
                <a:ea typeface="Arial" pitchFamily="34" charset="-122"/>
                <a:cs typeface="Arial" pitchFamily="34" charset="-120"/>
              </a:rPr>
              <a:t>SMARTBOX</a:t>
            </a:r>
            <a:endParaRPr lang="en-US" sz="4000" dirty="0"/>
          </a:p>
        </p:txBody>
      </p:sp>
      <p:sp>
        <p:nvSpPr>
          <p:cNvPr id="13" name="Text 9"/>
          <p:cNvSpPr/>
          <p:nvPr/>
        </p:nvSpPr>
        <p:spPr>
          <a:xfrm>
            <a:off x="6387802" y="5537319"/>
            <a:ext cx="5120640" cy="411480"/>
          </a:xfrm>
          <a:prstGeom prst="rect">
            <a:avLst/>
          </a:prstGeom>
          <a:noFill/>
          <a:ln/>
        </p:spPr>
        <p:txBody>
          <a:bodyPr wrap="square" lIns="0" tIns="0" rIns="0" bIns="0" rtlCol="0" anchor="ctr"/>
          <a:lstStyle/>
          <a:p>
            <a:pPr marL="0" indent="0" algn="r">
              <a:buNone/>
            </a:pPr>
            <a:r>
              <a:rPr lang="en-US" b="1" dirty="0">
                <a:solidFill>
                  <a:srgbClr val="1F2328"/>
                </a:solidFill>
                <a:latin typeface="Arial" pitchFamily="34" charset="0"/>
                <a:ea typeface="Arial" pitchFamily="34" charset="-122"/>
                <a:cs typeface="Arial" pitchFamily="34" charset="-120"/>
              </a:rPr>
              <a:t>Giao nhận tự động 24/7 cho chung cư hiện đại</a:t>
            </a:r>
            <a:endParaRPr lang="en-US" dirty="0"/>
          </a:p>
        </p:txBody>
      </p:sp>
      <p:pic>
        <p:nvPicPr>
          <p:cNvPr id="15" name="Hình ảnh 14">
            <a:extLst>
              <a:ext uri="{FF2B5EF4-FFF2-40B4-BE49-F238E27FC236}">
                <a16:creationId xmlns:a16="http://schemas.microsoft.com/office/drawing/2014/main" id="{7E4459A3-FCBB-DE8F-0BCD-4F3328E6D080}"/>
              </a:ext>
            </a:extLst>
          </p:cNvPr>
          <p:cNvPicPr>
            <a:picLocks noChangeAspect="1"/>
          </p:cNvPicPr>
          <p:nvPr/>
        </p:nvPicPr>
        <p:blipFill>
          <a:blip r:embed="rId4"/>
          <a:stretch>
            <a:fillRect/>
          </a:stretch>
        </p:blipFill>
        <p:spPr>
          <a:xfrm>
            <a:off x="4950327" y="0"/>
            <a:ext cx="7241368" cy="407125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7F7F7"/>
        </a:solidFill>
        <a:effectLst/>
      </p:bgPr>
    </p:bg>
    <p:spTree>
      <p:nvGrpSpPr>
        <p:cNvPr id="1" name=""/>
        <p:cNvGrpSpPr/>
        <p:nvPr/>
      </p:nvGrpSpPr>
      <p:grpSpPr>
        <a:xfrm>
          <a:off x="0" y="0"/>
          <a:ext cx="0" cy="0"/>
          <a:chOff x="0" y="0"/>
          <a:chExt cx="0" cy="0"/>
        </a:xfrm>
      </p:grpSpPr>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Tổng quan</a:t>
            </a:r>
            <a:endParaRPr lang="en-US" sz="750" dirty="0"/>
          </a:p>
        </p:txBody>
      </p:sp>
      <p:sp>
        <p:nvSpPr>
          <p:cNvPr id="7" name="Text 5"/>
          <p:cNvSpPr/>
          <p:nvPr/>
        </p:nvSpPr>
        <p:spPr>
          <a:xfrm>
            <a:off x="502920" y="256032"/>
            <a:ext cx="4297680" cy="228600"/>
          </a:xfrm>
          <a:prstGeom prst="rect">
            <a:avLst/>
          </a:prstGeom>
          <a:noFill/>
          <a:ln/>
        </p:spPr>
        <p:txBody>
          <a:bodyPr wrap="square" lIns="0" tIns="0" rIns="0" bIns="0" rtlCol="0" anchor="ctr"/>
          <a:lstStyle/>
          <a:p>
            <a:pPr marL="0" indent="0">
              <a:buNone/>
            </a:pPr>
            <a:r>
              <a:rPr lang="en-US" sz="2000" b="1" dirty="0">
                <a:solidFill>
                  <a:srgbClr val="B50915"/>
                </a:solidFill>
                <a:latin typeface="Arial" pitchFamily="34" charset="0"/>
                <a:ea typeface="Arial" pitchFamily="34" charset="-122"/>
                <a:cs typeface="Arial" pitchFamily="34" charset="-120"/>
              </a:rPr>
              <a:t>TỔNG QUAN</a:t>
            </a:r>
            <a:endParaRPr lang="en-US" sz="2000" dirty="0"/>
          </a:p>
        </p:txBody>
      </p:sp>
      <p:sp>
        <p:nvSpPr>
          <p:cNvPr id="8" name="Text 6"/>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a:solidFill>
                  <a:srgbClr val="1F2328"/>
                </a:solidFill>
                <a:latin typeface="Arial" pitchFamily="34" charset="0"/>
                <a:ea typeface="Arial" pitchFamily="34" charset="-122"/>
                <a:cs typeface="Arial" pitchFamily="34" charset="-120"/>
              </a:rPr>
              <a:t>Các thành viên trong nhóm &amp; phân công vai trò</a:t>
            </a:r>
            <a:endParaRPr lang="en-US" sz="2400" dirty="0"/>
          </a:p>
        </p:txBody>
      </p:sp>
      <p:sp>
        <p:nvSpPr>
          <p:cNvPr id="9" name="Shape 7"/>
          <p:cNvSpPr/>
          <p:nvPr/>
        </p:nvSpPr>
        <p:spPr>
          <a:xfrm>
            <a:off x="502920" y="1133856"/>
            <a:ext cx="1188720" cy="0"/>
          </a:xfrm>
          <a:prstGeom prst="line">
            <a:avLst/>
          </a:prstGeom>
          <a:noFill/>
          <a:ln w="27940">
            <a:solidFill>
              <a:srgbClr val="B50915"/>
            </a:solidFill>
            <a:prstDash val="solid"/>
          </a:ln>
        </p:spPr>
        <p:txBody>
          <a:bodyPr/>
          <a:lstStyle/>
          <a:p>
            <a:endParaRPr lang="vi-VN"/>
          </a:p>
        </p:txBody>
      </p:sp>
      <p:sp>
        <p:nvSpPr>
          <p:cNvPr id="10" name="Text 8"/>
          <p:cNvSpPr/>
          <p:nvPr/>
        </p:nvSpPr>
        <p:spPr>
          <a:xfrm>
            <a:off x="1691646" y="1581561"/>
            <a:ext cx="502920" cy="502920"/>
          </a:xfrm>
          <a:prstGeom prst="rect">
            <a:avLst/>
          </a:prstGeom>
          <a:solidFill>
            <a:srgbClr val="B50915"/>
          </a:solidFill>
          <a:ln>
            <a:solidFill>
              <a:srgbClr val="B50915"/>
            </a:solid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01</a:t>
            </a:r>
            <a:endParaRPr lang="en-US" sz="1400" dirty="0"/>
          </a:p>
        </p:txBody>
      </p:sp>
      <p:sp>
        <p:nvSpPr>
          <p:cNvPr id="11" name="Text 9"/>
          <p:cNvSpPr/>
          <p:nvPr/>
        </p:nvSpPr>
        <p:spPr>
          <a:xfrm>
            <a:off x="2377446" y="1563273"/>
            <a:ext cx="3154680" cy="301752"/>
          </a:xfrm>
          <a:prstGeom prst="rect">
            <a:avLst/>
          </a:prstGeom>
          <a:noFill/>
          <a:ln/>
        </p:spPr>
        <p:txBody>
          <a:bodyPr wrap="square" lIns="0" tIns="0" rIns="0" bIns="0" rtlCol="0" anchor="ctr"/>
          <a:lstStyle/>
          <a:p>
            <a:pPr marL="0" indent="0">
              <a:buNone/>
            </a:pPr>
            <a:r>
              <a:rPr lang="en-US" sz="1500" b="1" dirty="0">
                <a:solidFill>
                  <a:srgbClr val="1F2328"/>
                </a:solidFill>
                <a:latin typeface="Arial" pitchFamily="34" charset="0"/>
                <a:ea typeface="Arial" pitchFamily="34" charset="-122"/>
                <a:cs typeface="Arial" pitchFamily="34" charset="-120"/>
              </a:rPr>
              <a:t>Hoàng Đàm Khánh</a:t>
            </a:r>
            <a:endParaRPr lang="en-US" sz="1500" dirty="0"/>
          </a:p>
        </p:txBody>
      </p:sp>
      <p:sp>
        <p:nvSpPr>
          <p:cNvPr id="12" name="Text 10"/>
          <p:cNvSpPr/>
          <p:nvPr/>
        </p:nvSpPr>
        <p:spPr>
          <a:xfrm>
            <a:off x="2377446" y="1901601"/>
            <a:ext cx="2194560" cy="228600"/>
          </a:xfrm>
          <a:prstGeom prst="rect">
            <a:avLst/>
          </a:prstGeom>
          <a:noFill/>
          <a:ln/>
        </p:spPr>
        <p:txBody>
          <a:bodyPr wrap="square" lIns="0" tIns="0" rIns="0" bIns="0" rtlCol="0" anchor="ctr"/>
          <a:lstStyle/>
          <a:p>
            <a:pPr marL="0" indent="0">
              <a:buNone/>
            </a:pPr>
            <a:r>
              <a:rPr lang="en-US" sz="1050" dirty="0">
                <a:solidFill>
                  <a:srgbClr val="5B616E"/>
                </a:solidFill>
                <a:latin typeface="Arial" pitchFamily="34" charset="0"/>
                <a:ea typeface="Arial" pitchFamily="34" charset="-122"/>
                <a:cs typeface="Arial" pitchFamily="34" charset="-120"/>
              </a:rPr>
              <a:t>202490062</a:t>
            </a:r>
            <a:endParaRPr lang="en-US" sz="1050" dirty="0"/>
          </a:p>
        </p:txBody>
      </p:sp>
      <p:sp>
        <p:nvSpPr>
          <p:cNvPr id="13" name="Text 11"/>
          <p:cNvSpPr/>
          <p:nvPr/>
        </p:nvSpPr>
        <p:spPr>
          <a:xfrm>
            <a:off x="1691640" y="2748978"/>
            <a:ext cx="502920" cy="502920"/>
          </a:xfrm>
          <a:prstGeom prst="rect">
            <a:avLst/>
          </a:prstGeom>
          <a:solidFill>
            <a:srgbClr val="B50915"/>
          </a:solidFill>
          <a:ln>
            <a:solidFill>
              <a:srgbClr val="B50915"/>
            </a:solid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02</a:t>
            </a:r>
            <a:endParaRPr lang="en-US" sz="1400" dirty="0"/>
          </a:p>
        </p:txBody>
      </p:sp>
      <p:sp>
        <p:nvSpPr>
          <p:cNvPr id="14" name="Text 12"/>
          <p:cNvSpPr/>
          <p:nvPr/>
        </p:nvSpPr>
        <p:spPr>
          <a:xfrm>
            <a:off x="2377440" y="2730690"/>
            <a:ext cx="3154680" cy="301752"/>
          </a:xfrm>
          <a:prstGeom prst="rect">
            <a:avLst/>
          </a:prstGeom>
          <a:noFill/>
          <a:ln/>
        </p:spPr>
        <p:txBody>
          <a:bodyPr wrap="square" lIns="0" tIns="0" rIns="0" bIns="0" rtlCol="0" anchor="ctr"/>
          <a:lstStyle/>
          <a:p>
            <a:pPr marL="0" indent="0">
              <a:buNone/>
            </a:pPr>
            <a:r>
              <a:rPr lang="en-US" sz="1500" b="1" dirty="0">
                <a:solidFill>
                  <a:srgbClr val="1F2328"/>
                </a:solidFill>
                <a:latin typeface="Arial" pitchFamily="34" charset="0"/>
                <a:ea typeface="Arial" pitchFamily="34" charset="-122"/>
                <a:cs typeface="Arial" pitchFamily="34" charset="-120"/>
              </a:rPr>
              <a:t>Nguyễn Trọng Hiếu</a:t>
            </a:r>
            <a:endParaRPr lang="en-US" sz="1500" dirty="0"/>
          </a:p>
        </p:txBody>
      </p:sp>
      <p:sp>
        <p:nvSpPr>
          <p:cNvPr id="15" name="Text 13"/>
          <p:cNvSpPr/>
          <p:nvPr/>
        </p:nvSpPr>
        <p:spPr>
          <a:xfrm>
            <a:off x="2377440" y="3069018"/>
            <a:ext cx="2194560" cy="228600"/>
          </a:xfrm>
          <a:prstGeom prst="rect">
            <a:avLst/>
          </a:prstGeom>
          <a:noFill/>
          <a:ln/>
        </p:spPr>
        <p:txBody>
          <a:bodyPr wrap="square" lIns="0" tIns="0" rIns="0" bIns="0" rtlCol="0" anchor="ctr"/>
          <a:lstStyle/>
          <a:p>
            <a:pPr marL="0" indent="0">
              <a:buNone/>
            </a:pPr>
            <a:r>
              <a:rPr lang="en-US" sz="1050" dirty="0">
                <a:solidFill>
                  <a:srgbClr val="5B616E"/>
                </a:solidFill>
                <a:latin typeface="Arial" pitchFamily="34" charset="0"/>
                <a:ea typeface="Arial" pitchFamily="34" charset="-122"/>
                <a:cs typeface="Arial" pitchFamily="34" charset="-120"/>
              </a:rPr>
              <a:t>202490054</a:t>
            </a:r>
            <a:endParaRPr lang="en-US" sz="1050" dirty="0"/>
          </a:p>
        </p:txBody>
      </p:sp>
      <p:sp>
        <p:nvSpPr>
          <p:cNvPr id="16" name="Text 14"/>
          <p:cNvSpPr/>
          <p:nvPr/>
        </p:nvSpPr>
        <p:spPr>
          <a:xfrm>
            <a:off x="1691646" y="4067196"/>
            <a:ext cx="502920" cy="502920"/>
          </a:xfrm>
          <a:prstGeom prst="rect">
            <a:avLst/>
          </a:prstGeom>
          <a:solidFill>
            <a:srgbClr val="B50915"/>
          </a:solidFill>
          <a:ln>
            <a:solidFill>
              <a:srgbClr val="B50915"/>
            </a:solid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03</a:t>
            </a:r>
            <a:endParaRPr lang="en-US" sz="1400" dirty="0"/>
          </a:p>
        </p:txBody>
      </p:sp>
      <p:sp>
        <p:nvSpPr>
          <p:cNvPr id="17" name="Text 15"/>
          <p:cNvSpPr/>
          <p:nvPr/>
        </p:nvSpPr>
        <p:spPr>
          <a:xfrm>
            <a:off x="2377446" y="4048908"/>
            <a:ext cx="3154680" cy="301752"/>
          </a:xfrm>
          <a:prstGeom prst="rect">
            <a:avLst/>
          </a:prstGeom>
          <a:noFill/>
          <a:ln/>
        </p:spPr>
        <p:txBody>
          <a:bodyPr wrap="square" lIns="0" tIns="0" rIns="0" bIns="0" rtlCol="0" anchor="ctr"/>
          <a:lstStyle/>
          <a:p>
            <a:pPr marL="0" indent="0">
              <a:buNone/>
            </a:pPr>
            <a:r>
              <a:rPr lang="en-US" sz="1500" b="1" dirty="0">
                <a:solidFill>
                  <a:srgbClr val="1F2328"/>
                </a:solidFill>
                <a:latin typeface="Arial" pitchFamily="34" charset="0"/>
                <a:ea typeface="Arial" pitchFamily="34" charset="-122"/>
                <a:cs typeface="Arial" pitchFamily="34" charset="-120"/>
              </a:rPr>
              <a:t>Nguyễn Hồng Dương</a:t>
            </a:r>
            <a:endParaRPr lang="en-US" sz="1500" dirty="0"/>
          </a:p>
        </p:txBody>
      </p:sp>
      <p:sp>
        <p:nvSpPr>
          <p:cNvPr id="18" name="Text 16"/>
          <p:cNvSpPr/>
          <p:nvPr/>
        </p:nvSpPr>
        <p:spPr>
          <a:xfrm>
            <a:off x="2377446" y="4387236"/>
            <a:ext cx="2194560" cy="228600"/>
          </a:xfrm>
          <a:prstGeom prst="rect">
            <a:avLst/>
          </a:prstGeom>
          <a:noFill/>
          <a:ln/>
        </p:spPr>
        <p:txBody>
          <a:bodyPr wrap="square" lIns="0" tIns="0" rIns="0" bIns="0" rtlCol="0" anchor="ctr"/>
          <a:lstStyle/>
          <a:p>
            <a:pPr marL="0" indent="0">
              <a:buNone/>
            </a:pPr>
            <a:r>
              <a:rPr lang="en-US" sz="1050" dirty="0">
                <a:solidFill>
                  <a:srgbClr val="5B616E"/>
                </a:solidFill>
                <a:latin typeface="Arial" pitchFamily="34" charset="0"/>
                <a:ea typeface="Arial" pitchFamily="34" charset="-122"/>
                <a:cs typeface="Arial" pitchFamily="34" charset="-120"/>
              </a:rPr>
              <a:t>202490040</a:t>
            </a:r>
            <a:endParaRPr lang="en-US" sz="1050" dirty="0"/>
          </a:p>
        </p:txBody>
      </p:sp>
      <p:sp>
        <p:nvSpPr>
          <p:cNvPr id="19" name="Text 17"/>
          <p:cNvSpPr/>
          <p:nvPr/>
        </p:nvSpPr>
        <p:spPr>
          <a:xfrm>
            <a:off x="1691646" y="5365757"/>
            <a:ext cx="502920" cy="502920"/>
          </a:xfrm>
          <a:prstGeom prst="rect">
            <a:avLst/>
          </a:prstGeom>
          <a:solidFill>
            <a:srgbClr val="B50915"/>
          </a:solidFill>
          <a:ln>
            <a:solidFill>
              <a:srgbClr val="B50915"/>
            </a:solid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04</a:t>
            </a:r>
            <a:endParaRPr lang="en-US" sz="1400" dirty="0"/>
          </a:p>
        </p:txBody>
      </p:sp>
      <p:sp>
        <p:nvSpPr>
          <p:cNvPr id="20" name="Text 18"/>
          <p:cNvSpPr/>
          <p:nvPr/>
        </p:nvSpPr>
        <p:spPr>
          <a:xfrm>
            <a:off x="2377446" y="5347469"/>
            <a:ext cx="3154680" cy="301752"/>
          </a:xfrm>
          <a:prstGeom prst="rect">
            <a:avLst/>
          </a:prstGeom>
          <a:noFill/>
          <a:ln/>
        </p:spPr>
        <p:txBody>
          <a:bodyPr wrap="square" lIns="0" tIns="0" rIns="0" bIns="0" rtlCol="0" anchor="ctr"/>
          <a:lstStyle/>
          <a:p>
            <a:pPr marL="0" indent="0">
              <a:buNone/>
            </a:pPr>
            <a:r>
              <a:rPr lang="en-US" sz="1500" b="1" dirty="0">
                <a:solidFill>
                  <a:srgbClr val="1F2328"/>
                </a:solidFill>
                <a:latin typeface="Arial" pitchFamily="34" charset="0"/>
                <a:ea typeface="Arial" pitchFamily="34" charset="-122"/>
                <a:cs typeface="Arial" pitchFamily="34" charset="-120"/>
              </a:rPr>
              <a:t>Phạm Đức Anh</a:t>
            </a:r>
            <a:endParaRPr lang="en-US" sz="1500" dirty="0"/>
          </a:p>
        </p:txBody>
      </p:sp>
      <p:sp>
        <p:nvSpPr>
          <p:cNvPr id="21" name="Text 19"/>
          <p:cNvSpPr/>
          <p:nvPr/>
        </p:nvSpPr>
        <p:spPr>
          <a:xfrm>
            <a:off x="2377446" y="5685797"/>
            <a:ext cx="2194560" cy="228600"/>
          </a:xfrm>
          <a:prstGeom prst="rect">
            <a:avLst/>
          </a:prstGeom>
          <a:noFill/>
          <a:ln/>
        </p:spPr>
        <p:txBody>
          <a:bodyPr wrap="square" lIns="0" tIns="0" rIns="0" bIns="0" rtlCol="0" anchor="ctr"/>
          <a:lstStyle/>
          <a:p>
            <a:pPr marL="0" indent="0">
              <a:buNone/>
            </a:pPr>
            <a:r>
              <a:rPr lang="en-US" sz="1050" dirty="0">
                <a:solidFill>
                  <a:srgbClr val="5B616E"/>
                </a:solidFill>
                <a:latin typeface="Arial" pitchFamily="34" charset="0"/>
                <a:ea typeface="Arial" pitchFamily="34" charset="-122"/>
                <a:cs typeface="Arial" pitchFamily="34" charset="-120"/>
              </a:rPr>
              <a:t>202490030</a:t>
            </a:r>
            <a:endParaRPr lang="en-US" sz="1050" dirty="0"/>
          </a:p>
        </p:txBody>
      </p:sp>
      <p:sp>
        <p:nvSpPr>
          <p:cNvPr id="31" name="Shape 29"/>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32" name="Text 30"/>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33" name="Text 31"/>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03</a:t>
            </a:r>
            <a:endParaRPr lang="en-US" sz="1000" dirty="0"/>
          </a:p>
        </p:txBody>
      </p:sp>
      <p:sp>
        <p:nvSpPr>
          <p:cNvPr id="35" name="Text 22">
            <a:extLst>
              <a:ext uri="{FF2B5EF4-FFF2-40B4-BE49-F238E27FC236}">
                <a16:creationId xmlns:a16="http://schemas.microsoft.com/office/drawing/2014/main" id="{65E2857E-F6D8-AE7E-D7D2-EA1E7F331EE3}"/>
              </a:ext>
            </a:extLst>
          </p:cNvPr>
          <p:cNvSpPr/>
          <p:nvPr/>
        </p:nvSpPr>
        <p:spPr>
          <a:xfrm>
            <a:off x="5383294" y="1051559"/>
            <a:ext cx="6348458" cy="354330"/>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en-US" sz="2000" b="1">
                <a:solidFill>
                  <a:srgbClr val="FFFFFF"/>
                </a:solidFill>
                <a:latin typeface="Arial" pitchFamily="34" charset="0"/>
                <a:ea typeface="Arial" pitchFamily="34" charset="-122"/>
                <a:cs typeface="Arial" pitchFamily="34" charset="-120"/>
              </a:rPr>
              <a:t>Nội dung phụ trách</a:t>
            </a:r>
            <a:endParaRPr lang="en-US" sz="2000" dirty="0"/>
          </a:p>
        </p:txBody>
      </p:sp>
      <p:sp>
        <p:nvSpPr>
          <p:cNvPr id="39" name="Text 24">
            <a:extLst>
              <a:ext uri="{FF2B5EF4-FFF2-40B4-BE49-F238E27FC236}">
                <a16:creationId xmlns:a16="http://schemas.microsoft.com/office/drawing/2014/main" id="{1DC0B26F-7BE5-D3D5-65F0-B60BD8F0F1B9}"/>
              </a:ext>
            </a:extLst>
          </p:cNvPr>
          <p:cNvSpPr/>
          <p:nvPr/>
        </p:nvSpPr>
        <p:spPr>
          <a:xfrm>
            <a:off x="5378852" y="1609147"/>
            <a:ext cx="6348458" cy="459148"/>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1400" b="1">
                <a:solidFill>
                  <a:srgbClr val="1F2328"/>
                </a:solidFill>
                <a:latin typeface="Arial" pitchFamily="34" charset="0"/>
                <a:cs typeface="Arial" pitchFamily="34" charset="-120"/>
              </a:rPr>
              <a:t>1.1 Khảo sát hiện trạng</a:t>
            </a:r>
          </a:p>
          <a:p>
            <a:pPr marL="0" indent="0" algn="l">
              <a:buNone/>
            </a:pPr>
            <a:r>
              <a:rPr lang="en-US" sz="1400" b="1">
                <a:solidFill>
                  <a:srgbClr val="1F2328"/>
                </a:solidFill>
                <a:latin typeface="Arial" pitchFamily="34" charset="0"/>
                <a:cs typeface="Arial" pitchFamily="34" charset="-120"/>
              </a:rPr>
              <a:t>1.2 Mô tả nghiệp vụ</a:t>
            </a:r>
            <a:endParaRPr lang="en-US" sz="1400" b="1" dirty="0"/>
          </a:p>
        </p:txBody>
      </p:sp>
      <p:sp>
        <p:nvSpPr>
          <p:cNvPr id="42" name="Text 24">
            <a:extLst>
              <a:ext uri="{FF2B5EF4-FFF2-40B4-BE49-F238E27FC236}">
                <a16:creationId xmlns:a16="http://schemas.microsoft.com/office/drawing/2014/main" id="{9DB83BF3-62D4-A2F6-939F-B9EEE3682DA1}"/>
              </a:ext>
            </a:extLst>
          </p:cNvPr>
          <p:cNvSpPr/>
          <p:nvPr/>
        </p:nvSpPr>
        <p:spPr>
          <a:xfrm>
            <a:off x="5378852" y="2776854"/>
            <a:ext cx="6311467" cy="459148"/>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1400" b="1">
                <a:solidFill>
                  <a:srgbClr val="1F2328"/>
                </a:solidFill>
                <a:latin typeface="Arial" pitchFamily="34" charset="0"/>
                <a:cs typeface="Arial" pitchFamily="34" charset="-120"/>
              </a:rPr>
              <a:t>2.1 Phân tích chức năng</a:t>
            </a:r>
          </a:p>
          <a:p>
            <a:pPr marL="0" indent="0" algn="l">
              <a:buNone/>
            </a:pPr>
            <a:r>
              <a:rPr lang="en-US" sz="1400" b="1">
                <a:solidFill>
                  <a:srgbClr val="1F2328"/>
                </a:solidFill>
                <a:latin typeface="Arial" pitchFamily="34" charset="0"/>
                <a:cs typeface="Arial" pitchFamily="34" charset="-120"/>
              </a:rPr>
              <a:t>2.2 Phân tích cấu trúc</a:t>
            </a:r>
            <a:endParaRPr lang="en-US" sz="1400" b="1" dirty="0"/>
          </a:p>
        </p:txBody>
      </p:sp>
      <p:sp>
        <p:nvSpPr>
          <p:cNvPr id="43" name="Text 24">
            <a:extLst>
              <a:ext uri="{FF2B5EF4-FFF2-40B4-BE49-F238E27FC236}">
                <a16:creationId xmlns:a16="http://schemas.microsoft.com/office/drawing/2014/main" id="{5B1485FE-7A41-5CF5-61F5-6CE50CF77B26}"/>
              </a:ext>
            </a:extLst>
          </p:cNvPr>
          <p:cNvSpPr/>
          <p:nvPr/>
        </p:nvSpPr>
        <p:spPr>
          <a:xfrm>
            <a:off x="5386252" y="4088294"/>
            <a:ext cx="6345500" cy="459148"/>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1400" b="1">
                <a:solidFill>
                  <a:srgbClr val="1F2328"/>
                </a:solidFill>
                <a:latin typeface="Arial" pitchFamily="34" charset="0"/>
                <a:cs typeface="Arial" pitchFamily="34" charset="-120"/>
              </a:rPr>
              <a:t>2.3 Phân tích hành vi</a:t>
            </a:r>
          </a:p>
          <a:p>
            <a:pPr marL="0" indent="0" algn="l">
              <a:buNone/>
            </a:pPr>
            <a:r>
              <a:rPr lang="en-US" sz="1400" b="1">
                <a:solidFill>
                  <a:srgbClr val="1F2328"/>
                </a:solidFill>
                <a:latin typeface="Arial" pitchFamily="34" charset="0"/>
                <a:cs typeface="Arial" pitchFamily="34" charset="-120"/>
              </a:rPr>
              <a:t>3.1 Thiết kế lớp chi tiết</a:t>
            </a:r>
            <a:endParaRPr lang="en-US" sz="1400" b="1" dirty="0"/>
          </a:p>
        </p:txBody>
      </p:sp>
      <p:sp>
        <p:nvSpPr>
          <p:cNvPr id="44" name="Text 24">
            <a:extLst>
              <a:ext uri="{FF2B5EF4-FFF2-40B4-BE49-F238E27FC236}">
                <a16:creationId xmlns:a16="http://schemas.microsoft.com/office/drawing/2014/main" id="{B23956D1-0E63-A7E8-D006-0F5FD10FC2DE}"/>
              </a:ext>
            </a:extLst>
          </p:cNvPr>
          <p:cNvSpPr/>
          <p:nvPr/>
        </p:nvSpPr>
        <p:spPr>
          <a:xfrm>
            <a:off x="5383294" y="5385815"/>
            <a:ext cx="6352900" cy="459148"/>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1400" b="1">
                <a:solidFill>
                  <a:srgbClr val="1F2328"/>
                </a:solidFill>
                <a:latin typeface="Arial" pitchFamily="34" charset="0"/>
                <a:cs typeface="Arial" pitchFamily="34" charset="-120"/>
              </a:rPr>
              <a:t>3.2 Thiết kế cơ sở dữ liệu</a:t>
            </a:r>
          </a:p>
          <a:p>
            <a:pPr marL="0" indent="0" algn="l">
              <a:buNone/>
            </a:pPr>
            <a:r>
              <a:rPr lang="en-US" sz="1400" b="1">
                <a:solidFill>
                  <a:srgbClr val="1F2328"/>
                </a:solidFill>
                <a:latin typeface="Arial" pitchFamily="34" charset="0"/>
                <a:cs typeface="Arial" pitchFamily="34" charset="-120"/>
              </a:rPr>
              <a:t>Demo ứng dụng Smartbox</a:t>
            </a:r>
            <a:endParaRPr lang="en-US" sz="14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F0000">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a:t>
            </a:r>
            <a:endParaRPr lang="en-US" sz="750" dirty="0"/>
          </a:p>
        </p:txBody>
      </p:sp>
      <p:sp>
        <p:nvSpPr>
          <p:cNvPr id="7" name="Text 5"/>
          <p:cNvSpPr/>
          <p:nvPr/>
        </p:nvSpPr>
        <p:spPr>
          <a:xfrm>
            <a:off x="502920" y="256031"/>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 KHẢO SÁT HIỆN TRẠNG VÀ MÔ TẢ NGHIỆP VỤ</a:t>
            </a:r>
          </a:p>
          <a:p>
            <a:pPr marL="0" indent="0">
              <a:buNone/>
            </a:pPr>
            <a:r>
              <a:rPr lang="en-US" sz="1200" b="1">
                <a:solidFill>
                  <a:srgbClr val="B50915"/>
                </a:solidFill>
                <a:latin typeface="Arial" pitchFamily="34" charset="0"/>
                <a:cs typeface="Arial" pitchFamily="34" charset="-120"/>
              </a:rPr>
              <a:t>1.1 Khảo sát hiện trạng</a:t>
            </a:r>
            <a:endParaRPr lang="en-US" sz="1200" dirty="0"/>
          </a:p>
        </p:txBody>
      </p:sp>
      <p:sp>
        <p:nvSpPr>
          <p:cNvPr id="8" name="Text 6"/>
          <p:cNvSpPr/>
          <p:nvPr/>
        </p:nvSpPr>
        <p:spPr>
          <a:xfrm>
            <a:off x="502920" y="755705"/>
            <a:ext cx="8961120" cy="512064"/>
          </a:xfrm>
          <a:prstGeom prst="rect">
            <a:avLst/>
          </a:prstGeom>
          <a:noFill/>
          <a:ln/>
        </p:spPr>
        <p:txBody>
          <a:bodyPr wrap="square" lIns="0" tIns="0" rIns="0" bIns="0" rtlCol="0" anchor="ctr">
            <a:normAutofit/>
          </a:bodyPr>
          <a:lstStyle/>
          <a:p>
            <a:pPr marL="0" indent="0">
              <a:buNone/>
            </a:pPr>
            <a:r>
              <a:rPr lang="en-US" sz="2400" b="1">
                <a:solidFill>
                  <a:srgbClr val="1F2328"/>
                </a:solidFill>
                <a:latin typeface="Arial" pitchFamily="34" charset="0"/>
                <a:ea typeface="Arial" pitchFamily="34" charset="-122"/>
                <a:cs typeface="Arial" pitchFamily="34" charset="-120"/>
              </a:rPr>
              <a:t>Khảo sát hiện trạng tại Khu đô thị Vinhome Ocean Park</a:t>
            </a:r>
            <a:endParaRPr lang="en-US" sz="2400" dirty="0"/>
          </a:p>
        </p:txBody>
      </p:sp>
      <p:sp>
        <p:nvSpPr>
          <p:cNvPr id="9" name="Shape 7"/>
          <p:cNvSpPr/>
          <p:nvPr/>
        </p:nvSpPr>
        <p:spPr>
          <a:xfrm>
            <a:off x="502920" y="1233531"/>
            <a:ext cx="1188720" cy="0"/>
          </a:xfrm>
          <a:prstGeom prst="line">
            <a:avLst/>
          </a:prstGeom>
          <a:noFill/>
          <a:ln w="27940">
            <a:solidFill>
              <a:srgbClr val="B50915"/>
            </a:solidFill>
            <a:prstDash val="solid"/>
          </a:ln>
        </p:spPr>
        <p:txBody>
          <a:bodyPr/>
          <a:lstStyle/>
          <a:p>
            <a:endParaRPr lang="vi-VN"/>
          </a:p>
        </p:txBody>
      </p:sp>
      <p:sp>
        <p:nvSpPr>
          <p:cNvPr id="11" name="Shape 8"/>
          <p:cNvSpPr/>
          <p:nvPr/>
        </p:nvSpPr>
        <p:spPr>
          <a:xfrm>
            <a:off x="502920" y="5212080"/>
            <a:ext cx="5314366" cy="320040"/>
          </a:xfrm>
          <a:prstGeom prst="rect">
            <a:avLst/>
          </a:prstGeom>
          <a:solidFill>
            <a:srgbClr val="1F2328">
              <a:alpha val="85000"/>
            </a:srgbClr>
          </a:solidFill>
          <a:ln w="12700">
            <a:solidFill>
              <a:srgbClr val="1F2328">
                <a:alpha val="0"/>
              </a:srgbClr>
            </a:solidFill>
            <a:prstDash val="solid"/>
          </a:ln>
        </p:spPr>
        <p:txBody>
          <a:bodyPr/>
          <a:lstStyle/>
          <a:p>
            <a:endParaRPr lang="vi-VN"/>
          </a:p>
        </p:txBody>
      </p:sp>
      <p:sp>
        <p:nvSpPr>
          <p:cNvPr id="12" name="Text 9"/>
          <p:cNvSpPr/>
          <p:nvPr/>
        </p:nvSpPr>
        <p:spPr>
          <a:xfrm>
            <a:off x="868680" y="5285232"/>
            <a:ext cx="4663440" cy="146304"/>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Smartbox/Viettel Post tại sảnh chung cư</a:t>
            </a:r>
            <a:endParaRPr lang="en-US" sz="1400" dirty="0"/>
          </a:p>
        </p:txBody>
      </p:sp>
      <p:sp>
        <p:nvSpPr>
          <p:cNvPr id="13" name="Text 10"/>
          <p:cNvSpPr/>
          <p:nvPr/>
        </p:nvSpPr>
        <p:spPr>
          <a:xfrm>
            <a:off x="6172200" y="1417320"/>
            <a:ext cx="5166360" cy="2331720"/>
          </a:xfrm>
          <a:prstGeom prst="rect">
            <a:avLst/>
          </a:prstGeom>
          <a:noFill/>
          <a:ln/>
        </p:spPr>
        <p:txBody>
          <a:bodyPr wrap="square" lIns="635" tIns="635" rIns="635" bIns="635" rtlCol="0" anchor="t">
            <a:normAutofit lnSpcReduction="10000"/>
          </a:bodyPr>
          <a:lstStyle/>
          <a:p>
            <a:r>
              <a:rPr lang="en-US" sz="1500" dirty="0">
                <a:solidFill>
                  <a:srgbClr val="1F2328"/>
                </a:solidFill>
                <a:latin typeface="Arial" pitchFamily="34" charset="0"/>
                <a:ea typeface="Arial" pitchFamily="34" charset="-122"/>
                <a:cs typeface="Arial" pitchFamily="34" charset="-120"/>
              </a:rPr>
              <a:t>Vinhomes Ocean Park có mật độ cư dân lớn, nhiều cư dân vắng nhà giờ hành chính.
</a:t>
            </a:r>
            <a:endParaRPr lang="en-US" sz="1500" dirty="0"/>
          </a:p>
          <a:p>
            <a:r>
              <a:rPr lang="en-US" sz="1500" dirty="0">
                <a:solidFill>
                  <a:srgbClr val="1F2328"/>
                </a:solidFill>
                <a:latin typeface="Arial" pitchFamily="34" charset="0"/>
                <a:ea typeface="Arial" pitchFamily="34" charset="-122"/>
                <a:cs typeface="Arial" pitchFamily="34" charset="-120"/>
              </a:rPr>
              <a:t>Bưu tá khó hẹn lịch, thời gian chờ cao, tăng nguy cơ giao hàng thất bại.
</a:t>
            </a:r>
            <a:endParaRPr lang="en-US" sz="1500" dirty="0"/>
          </a:p>
          <a:p>
            <a:r>
              <a:rPr lang="en-US" sz="1500" dirty="0">
                <a:solidFill>
                  <a:srgbClr val="1F2328"/>
                </a:solidFill>
                <a:latin typeface="Arial" pitchFamily="34" charset="0"/>
                <a:ea typeface="Arial" pitchFamily="34" charset="-122"/>
                <a:cs typeface="Arial" pitchFamily="34" charset="-120"/>
              </a:rPr>
              <a:t>Gửi tạm tại lễ tân gây quá tải sảnh, khó đối soát, dễ nhầm lẫn/thất lạc.
</a:t>
            </a:r>
            <a:endParaRPr lang="en-US" sz="1500" dirty="0"/>
          </a:p>
          <a:p>
            <a:r>
              <a:rPr lang="en-US" sz="1500" dirty="0">
                <a:solidFill>
                  <a:srgbClr val="1F2328"/>
                </a:solidFill>
                <a:latin typeface="Arial" pitchFamily="34" charset="0"/>
                <a:ea typeface="Arial" pitchFamily="34" charset="-122"/>
                <a:cs typeface="Arial" pitchFamily="34" charset="-120"/>
              </a:rPr>
              <a:t>Cần một giải pháp tự động hóa quy trình giao nhận 24/7 tại tòa nhà.</a:t>
            </a:r>
            <a:endParaRPr lang="en-US" sz="1500" dirty="0"/>
          </a:p>
        </p:txBody>
      </p:sp>
      <p:sp>
        <p:nvSpPr>
          <p:cNvPr id="14" name="Text 11"/>
          <p:cNvSpPr/>
          <p:nvPr/>
        </p:nvSpPr>
        <p:spPr>
          <a:xfrm>
            <a:off x="6172200" y="4160520"/>
            <a:ext cx="927202"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Khách vắng nhà</a:t>
            </a:r>
            <a:endParaRPr lang="en-US" sz="1050" dirty="0"/>
          </a:p>
        </p:txBody>
      </p:sp>
      <p:sp>
        <p:nvSpPr>
          <p:cNvPr id="15" name="Shape 12"/>
          <p:cNvSpPr/>
          <p:nvPr/>
        </p:nvSpPr>
        <p:spPr>
          <a:xfrm>
            <a:off x="7117690" y="4443984"/>
            <a:ext cx="73152" cy="0"/>
          </a:xfrm>
          <a:prstGeom prst="line">
            <a:avLst/>
          </a:prstGeom>
          <a:noFill/>
          <a:ln w="17780">
            <a:solidFill>
              <a:srgbClr val="B50915"/>
            </a:solidFill>
            <a:prstDash val="solid"/>
            <a:headEnd type="none"/>
            <a:tailEnd type="triangle"/>
          </a:ln>
        </p:spPr>
        <p:txBody>
          <a:bodyPr/>
          <a:lstStyle/>
          <a:p>
            <a:endParaRPr lang="vi-VN"/>
          </a:p>
        </p:txBody>
      </p:sp>
      <p:sp>
        <p:nvSpPr>
          <p:cNvPr id="16" name="Text 13"/>
          <p:cNvSpPr/>
          <p:nvPr/>
        </p:nvSpPr>
        <p:spPr>
          <a:xfrm>
            <a:off x="7209130" y="4160520"/>
            <a:ext cx="927202"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Shipper chờ</a:t>
            </a:r>
            <a:endParaRPr lang="en-US" sz="1050" dirty="0"/>
          </a:p>
        </p:txBody>
      </p:sp>
      <p:sp>
        <p:nvSpPr>
          <p:cNvPr id="17" name="Shape 14"/>
          <p:cNvSpPr/>
          <p:nvPr/>
        </p:nvSpPr>
        <p:spPr>
          <a:xfrm>
            <a:off x="8154619" y="4443984"/>
            <a:ext cx="73152" cy="0"/>
          </a:xfrm>
          <a:prstGeom prst="line">
            <a:avLst/>
          </a:prstGeom>
          <a:noFill/>
          <a:ln w="17780">
            <a:solidFill>
              <a:srgbClr val="B50915"/>
            </a:solidFill>
            <a:prstDash val="solid"/>
            <a:headEnd type="none"/>
            <a:tailEnd type="triangle"/>
          </a:ln>
        </p:spPr>
        <p:txBody>
          <a:bodyPr/>
          <a:lstStyle/>
          <a:p>
            <a:endParaRPr lang="vi-VN"/>
          </a:p>
        </p:txBody>
      </p:sp>
      <p:sp>
        <p:nvSpPr>
          <p:cNvPr id="18" name="Text 15"/>
          <p:cNvSpPr/>
          <p:nvPr/>
        </p:nvSpPr>
        <p:spPr>
          <a:xfrm>
            <a:off x="8246059" y="4160520"/>
            <a:ext cx="927202"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Hàng ùn ở lễ tân</a:t>
            </a:r>
            <a:endParaRPr lang="en-US" sz="1050" dirty="0"/>
          </a:p>
        </p:txBody>
      </p:sp>
      <p:sp>
        <p:nvSpPr>
          <p:cNvPr id="19" name="Shape 16"/>
          <p:cNvSpPr/>
          <p:nvPr/>
        </p:nvSpPr>
        <p:spPr>
          <a:xfrm>
            <a:off x="9191549" y="4443984"/>
            <a:ext cx="73152" cy="0"/>
          </a:xfrm>
          <a:prstGeom prst="line">
            <a:avLst/>
          </a:prstGeom>
          <a:noFill/>
          <a:ln w="17780">
            <a:solidFill>
              <a:srgbClr val="B50915"/>
            </a:solidFill>
            <a:prstDash val="solid"/>
            <a:headEnd type="none"/>
            <a:tailEnd type="triangle"/>
          </a:ln>
        </p:spPr>
        <p:txBody>
          <a:bodyPr/>
          <a:lstStyle/>
          <a:p>
            <a:endParaRPr lang="vi-VN"/>
          </a:p>
        </p:txBody>
      </p:sp>
      <p:sp>
        <p:nvSpPr>
          <p:cNvPr id="20" name="Text 17"/>
          <p:cNvSpPr/>
          <p:nvPr/>
        </p:nvSpPr>
        <p:spPr>
          <a:xfrm>
            <a:off x="9282989" y="4160520"/>
            <a:ext cx="927202"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Rủi ro thất lạc</a:t>
            </a:r>
            <a:endParaRPr lang="en-US" sz="1050" dirty="0"/>
          </a:p>
        </p:txBody>
      </p:sp>
      <p:sp>
        <p:nvSpPr>
          <p:cNvPr id="21" name="Shape 18"/>
          <p:cNvSpPr/>
          <p:nvPr/>
        </p:nvSpPr>
        <p:spPr>
          <a:xfrm>
            <a:off x="10228478" y="4443984"/>
            <a:ext cx="73152" cy="0"/>
          </a:xfrm>
          <a:prstGeom prst="line">
            <a:avLst/>
          </a:prstGeom>
          <a:noFill/>
          <a:ln w="17780">
            <a:solidFill>
              <a:srgbClr val="B50915"/>
            </a:solidFill>
            <a:prstDash val="solid"/>
            <a:headEnd type="none"/>
            <a:tailEnd type="triangle"/>
          </a:ln>
        </p:spPr>
        <p:txBody>
          <a:bodyPr/>
          <a:lstStyle/>
          <a:p>
            <a:endParaRPr lang="vi-VN"/>
          </a:p>
        </p:txBody>
      </p:sp>
      <p:sp>
        <p:nvSpPr>
          <p:cNvPr id="22" name="Text 19"/>
          <p:cNvSpPr/>
          <p:nvPr/>
        </p:nvSpPr>
        <p:spPr>
          <a:xfrm>
            <a:off x="10319918" y="4160520"/>
            <a:ext cx="927202"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Cần Smartbox</a:t>
            </a:r>
            <a:endParaRPr lang="en-US" sz="1050" dirty="0"/>
          </a:p>
        </p:txBody>
      </p:sp>
      <p:sp>
        <p:nvSpPr>
          <p:cNvPr id="23" name="Shape 20"/>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24" name="Text 21"/>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25" name="Text 22"/>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04</a:t>
            </a:r>
            <a:endParaRPr lang="en-US" sz="1000" dirty="0"/>
          </a:p>
        </p:txBody>
      </p:sp>
      <p:pic>
        <p:nvPicPr>
          <p:cNvPr id="27" name="Hình ảnh 26">
            <a:extLst>
              <a:ext uri="{FF2B5EF4-FFF2-40B4-BE49-F238E27FC236}">
                <a16:creationId xmlns:a16="http://schemas.microsoft.com/office/drawing/2014/main" id="{98107FDE-1004-9BD3-031A-349AA0C1F5CF}"/>
              </a:ext>
            </a:extLst>
          </p:cNvPr>
          <p:cNvPicPr>
            <a:picLocks noChangeAspect="1"/>
          </p:cNvPicPr>
          <p:nvPr/>
        </p:nvPicPr>
        <p:blipFill>
          <a:blip r:embed="rId3"/>
          <a:stretch>
            <a:fillRect/>
          </a:stretch>
        </p:blipFill>
        <p:spPr>
          <a:xfrm>
            <a:off x="502920" y="1580019"/>
            <a:ext cx="5314366" cy="299209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a:t>
            </a:r>
            <a:endParaRPr lang="en-US" sz="750" dirty="0"/>
          </a:p>
        </p:txBody>
      </p:sp>
      <p:sp>
        <p:nvSpPr>
          <p:cNvPr id="8" name="Text 6"/>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dirty="0">
                <a:solidFill>
                  <a:srgbClr val="1F2328"/>
                </a:solidFill>
                <a:latin typeface="Arial" pitchFamily="34" charset="0"/>
                <a:ea typeface="Arial" pitchFamily="34" charset="-122"/>
                <a:cs typeface="Arial" pitchFamily="34" charset="-120"/>
              </a:rPr>
              <a:t>Mục tiêu hệ thống Smartbox</a:t>
            </a:r>
            <a:endParaRPr lang="en-US" sz="2400" dirty="0"/>
          </a:p>
        </p:txBody>
      </p:sp>
      <p:sp>
        <p:nvSpPr>
          <p:cNvPr id="9" name="Shape 7"/>
          <p:cNvSpPr/>
          <p:nvPr/>
        </p:nvSpPr>
        <p:spPr>
          <a:xfrm>
            <a:off x="502920" y="1133856"/>
            <a:ext cx="1188720" cy="0"/>
          </a:xfrm>
          <a:prstGeom prst="line">
            <a:avLst/>
          </a:prstGeom>
          <a:noFill/>
          <a:ln w="27940">
            <a:solidFill>
              <a:srgbClr val="B50915"/>
            </a:solidFill>
            <a:prstDash val="solid"/>
          </a:ln>
        </p:spPr>
        <p:txBody>
          <a:bodyPr/>
          <a:lstStyle/>
          <a:p>
            <a:endParaRPr lang="vi-VN"/>
          </a:p>
        </p:txBody>
      </p:sp>
      <p:sp>
        <p:nvSpPr>
          <p:cNvPr id="10" name="Text 8"/>
          <p:cNvSpPr/>
          <p:nvPr/>
        </p:nvSpPr>
        <p:spPr>
          <a:xfrm>
            <a:off x="777240" y="1417320"/>
            <a:ext cx="2011680" cy="475488"/>
          </a:xfrm>
          <a:prstGeom prst="rect">
            <a:avLst/>
          </a:prstGeom>
          <a:solidFill>
            <a:srgbClr val="FFFFFF"/>
          </a:solidFill>
          <a:ln w="10160">
            <a:solidFill>
              <a:srgbClr val="E0E2E6"/>
            </a:solidFill>
          </a:ln>
        </p:spPr>
        <p:txBody>
          <a:bodyPr wrap="square" lIns="0" tIns="0" rIns="0" bIns="0" rtlCol="0" anchor="ctr">
            <a:normAutofit/>
          </a:bodyPr>
          <a:lstStyle/>
          <a:p>
            <a:pPr marL="0" indent="0" algn="ctr">
              <a:buNone/>
            </a:pPr>
            <a:r>
              <a:rPr lang="en-US" sz="2700" b="1" dirty="0">
                <a:solidFill>
                  <a:srgbClr val="B50915"/>
                </a:solidFill>
                <a:latin typeface="Arial" pitchFamily="34" charset="0"/>
                <a:ea typeface="Arial" pitchFamily="34" charset="-122"/>
                <a:cs typeface="Arial" pitchFamily="34" charset="-120"/>
              </a:rPr>
              <a:t>24/7</a:t>
            </a:r>
            <a:endParaRPr lang="en-US" sz="2700" dirty="0"/>
          </a:p>
        </p:txBody>
      </p:sp>
      <p:sp>
        <p:nvSpPr>
          <p:cNvPr id="11" name="Text 9"/>
          <p:cNvSpPr/>
          <p:nvPr/>
        </p:nvSpPr>
        <p:spPr>
          <a:xfrm>
            <a:off x="777240" y="1929383"/>
            <a:ext cx="2011680" cy="475485"/>
          </a:xfrm>
          <a:prstGeom prst="rect">
            <a:avLst/>
          </a:prstGeom>
          <a:noFill/>
          <a:ln/>
        </p:spPr>
        <p:txBody>
          <a:bodyPr wrap="square" lIns="254" tIns="254" rIns="254" bIns="254" rtlCol="0" anchor="ctr"/>
          <a:lstStyle/>
          <a:p>
            <a:pPr marL="0" indent="0" algn="ctr">
              <a:buNone/>
            </a:pPr>
            <a:r>
              <a:rPr lang="en-US" sz="1400" b="1" dirty="0">
                <a:solidFill>
                  <a:srgbClr val="5B616E"/>
                </a:solidFill>
                <a:latin typeface="Arial" pitchFamily="34" charset="0"/>
                <a:ea typeface="Arial" pitchFamily="34" charset="-122"/>
                <a:cs typeface="Arial" pitchFamily="34" charset="-120"/>
              </a:rPr>
              <a:t>C</a:t>
            </a:r>
            <a:r>
              <a:rPr lang="en-US" sz="1400" b="1">
                <a:solidFill>
                  <a:srgbClr val="5B616E"/>
                </a:solidFill>
                <a:latin typeface="Arial" pitchFamily="34" charset="0"/>
                <a:ea typeface="Arial" pitchFamily="34" charset="-122"/>
                <a:cs typeface="Arial" pitchFamily="34" charset="-120"/>
              </a:rPr>
              <a:t>ư </a:t>
            </a:r>
            <a:r>
              <a:rPr lang="en-US" sz="1400" b="1" dirty="0">
                <a:solidFill>
                  <a:srgbClr val="5B616E"/>
                </a:solidFill>
                <a:latin typeface="Arial" pitchFamily="34" charset="0"/>
                <a:ea typeface="Arial" pitchFamily="34" charset="-122"/>
                <a:cs typeface="Arial" pitchFamily="34" charset="-120"/>
              </a:rPr>
              <a:t>dân </a:t>
            </a:r>
            <a:r>
              <a:rPr lang="en-US" sz="1400" b="1">
                <a:solidFill>
                  <a:srgbClr val="5B616E"/>
                </a:solidFill>
                <a:latin typeface="Arial" pitchFamily="34" charset="0"/>
                <a:ea typeface="Arial" pitchFamily="34" charset="-122"/>
                <a:cs typeface="Arial" pitchFamily="34" charset="-120"/>
              </a:rPr>
              <a:t>nhận hàng</a:t>
            </a:r>
          </a:p>
          <a:p>
            <a:pPr marL="0" indent="0" algn="ctr">
              <a:buNone/>
            </a:pPr>
            <a:r>
              <a:rPr lang="en-US" sz="1400" b="1">
                <a:solidFill>
                  <a:srgbClr val="5B616E"/>
                </a:solidFill>
                <a:latin typeface="Arial" pitchFamily="34" charset="0"/>
                <a:ea typeface="Arial" pitchFamily="34" charset="-122"/>
                <a:cs typeface="Arial" pitchFamily="34" charset="-120"/>
              </a:rPr>
              <a:t>chủ </a:t>
            </a:r>
            <a:r>
              <a:rPr lang="en-US" sz="1400" b="1" dirty="0">
                <a:solidFill>
                  <a:srgbClr val="5B616E"/>
                </a:solidFill>
                <a:latin typeface="Arial" pitchFamily="34" charset="0"/>
                <a:ea typeface="Arial" pitchFamily="34" charset="-122"/>
                <a:cs typeface="Arial" pitchFamily="34" charset="-120"/>
              </a:rPr>
              <a:t>động</a:t>
            </a:r>
            <a:endParaRPr lang="en-US" sz="1400" dirty="0"/>
          </a:p>
        </p:txBody>
      </p:sp>
      <p:sp>
        <p:nvSpPr>
          <p:cNvPr id="12" name="Text 10"/>
          <p:cNvSpPr/>
          <p:nvPr/>
        </p:nvSpPr>
        <p:spPr>
          <a:xfrm>
            <a:off x="3063240" y="1417320"/>
            <a:ext cx="2011680" cy="475488"/>
          </a:xfrm>
          <a:prstGeom prst="rect">
            <a:avLst/>
          </a:prstGeom>
          <a:solidFill>
            <a:srgbClr val="FFFFFF"/>
          </a:solidFill>
          <a:ln w="10160">
            <a:solidFill>
              <a:srgbClr val="E0E2E6"/>
            </a:solidFill>
          </a:ln>
        </p:spPr>
        <p:txBody>
          <a:bodyPr wrap="square" lIns="0" tIns="0" rIns="0" bIns="0" rtlCol="0" anchor="ctr">
            <a:normAutofit/>
          </a:bodyPr>
          <a:lstStyle/>
          <a:p>
            <a:pPr marL="0" indent="0" algn="ctr">
              <a:buNone/>
            </a:pPr>
            <a:r>
              <a:rPr lang="en-US" sz="2700" b="1" dirty="0">
                <a:solidFill>
                  <a:srgbClr val="B50915"/>
                </a:solidFill>
                <a:latin typeface="Arial" pitchFamily="34" charset="0"/>
                <a:ea typeface="Arial" pitchFamily="34" charset="-122"/>
                <a:cs typeface="Arial" pitchFamily="34" charset="-120"/>
              </a:rPr>
              <a:t>OTP/QR</a:t>
            </a:r>
            <a:endParaRPr lang="en-US" sz="2700" dirty="0"/>
          </a:p>
        </p:txBody>
      </p:sp>
      <p:sp>
        <p:nvSpPr>
          <p:cNvPr id="13" name="Text 11"/>
          <p:cNvSpPr/>
          <p:nvPr/>
        </p:nvSpPr>
        <p:spPr>
          <a:xfrm>
            <a:off x="3078785" y="1993392"/>
            <a:ext cx="2011680" cy="347472"/>
          </a:xfrm>
          <a:prstGeom prst="rect">
            <a:avLst/>
          </a:prstGeom>
          <a:noFill/>
          <a:ln/>
        </p:spPr>
        <p:txBody>
          <a:bodyPr wrap="square" lIns="254" tIns="254" rIns="254" bIns="254" rtlCol="0" anchor="ctr"/>
          <a:lstStyle/>
          <a:p>
            <a:pPr marL="0" indent="0" algn="ctr">
              <a:buNone/>
            </a:pPr>
            <a:r>
              <a:rPr lang="en-US" sz="1400" b="1">
                <a:solidFill>
                  <a:srgbClr val="5B616E"/>
                </a:solidFill>
                <a:latin typeface="Arial" pitchFamily="34" charset="0"/>
                <a:ea typeface="Arial" pitchFamily="34" charset="-122"/>
                <a:cs typeface="Arial" pitchFamily="34" charset="-120"/>
              </a:rPr>
              <a:t>Mở tủ</a:t>
            </a:r>
          </a:p>
          <a:p>
            <a:pPr marL="0" indent="0" algn="ctr">
              <a:buNone/>
            </a:pPr>
            <a:r>
              <a:rPr lang="en-US" sz="1400" b="1">
                <a:solidFill>
                  <a:srgbClr val="5B616E"/>
                </a:solidFill>
                <a:latin typeface="Arial" pitchFamily="34" charset="0"/>
                <a:ea typeface="Arial" pitchFamily="34" charset="-122"/>
                <a:cs typeface="Arial" pitchFamily="34" charset="-120"/>
              </a:rPr>
              <a:t>bằng </a:t>
            </a:r>
            <a:r>
              <a:rPr lang="en-US" sz="1400" b="1" dirty="0">
                <a:solidFill>
                  <a:srgbClr val="5B616E"/>
                </a:solidFill>
                <a:latin typeface="Arial" pitchFamily="34" charset="0"/>
                <a:ea typeface="Arial" pitchFamily="34" charset="-122"/>
                <a:cs typeface="Arial" pitchFamily="34" charset="-120"/>
              </a:rPr>
              <a:t>mã xác thực</a:t>
            </a:r>
            <a:endParaRPr lang="en-US" sz="1400" dirty="0"/>
          </a:p>
        </p:txBody>
      </p:sp>
      <p:sp>
        <p:nvSpPr>
          <p:cNvPr id="14" name="Text 12"/>
          <p:cNvSpPr/>
          <p:nvPr/>
        </p:nvSpPr>
        <p:spPr>
          <a:xfrm>
            <a:off x="5349240" y="1417320"/>
            <a:ext cx="2011680" cy="475488"/>
          </a:xfrm>
          <a:prstGeom prst="rect">
            <a:avLst/>
          </a:prstGeom>
          <a:solidFill>
            <a:srgbClr val="FFFFFF"/>
          </a:solidFill>
          <a:ln w="10160">
            <a:solidFill>
              <a:srgbClr val="E0E2E6"/>
            </a:solidFill>
          </a:ln>
        </p:spPr>
        <p:txBody>
          <a:bodyPr wrap="square" lIns="0" tIns="0" rIns="0" bIns="0" rtlCol="0" anchor="ctr">
            <a:normAutofit/>
          </a:bodyPr>
          <a:lstStyle/>
          <a:p>
            <a:pPr marL="0" indent="0" algn="ctr">
              <a:buNone/>
            </a:pPr>
            <a:r>
              <a:rPr lang="en-US" sz="2700" b="1" dirty="0">
                <a:solidFill>
                  <a:srgbClr val="B50915"/>
                </a:solidFill>
                <a:latin typeface="Arial" pitchFamily="34" charset="0"/>
                <a:ea typeface="Arial" pitchFamily="34" charset="-122"/>
                <a:cs typeface="Arial" pitchFamily="34" charset="-120"/>
              </a:rPr>
              <a:t>COD + phí</a:t>
            </a:r>
            <a:endParaRPr lang="en-US" sz="2700" dirty="0"/>
          </a:p>
        </p:txBody>
      </p:sp>
      <p:sp>
        <p:nvSpPr>
          <p:cNvPr id="15" name="Text 13"/>
          <p:cNvSpPr/>
          <p:nvPr/>
        </p:nvSpPr>
        <p:spPr>
          <a:xfrm>
            <a:off x="5349240" y="1929384"/>
            <a:ext cx="2011680" cy="347472"/>
          </a:xfrm>
          <a:prstGeom prst="rect">
            <a:avLst/>
          </a:prstGeom>
          <a:noFill/>
          <a:ln/>
        </p:spPr>
        <p:txBody>
          <a:bodyPr wrap="square" lIns="254" tIns="254" rIns="254" bIns="254" rtlCol="0" anchor="ctr"/>
          <a:lstStyle/>
          <a:p>
            <a:pPr marL="0" indent="0" algn="ctr">
              <a:buNone/>
            </a:pPr>
            <a:r>
              <a:rPr lang="en-US" sz="1400" b="1" dirty="0">
                <a:solidFill>
                  <a:srgbClr val="5B616E"/>
                </a:solidFill>
                <a:latin typeface="Arial" pitchFamily="34" charset="0"/>
                <a:ea typeface="Arial" pitchFamily="34" charset="-122"/>
                <a:cs typeface="Arial" pitchFamily="34" charset="-120"/>
              </a:rPr>
              <a:t>Q</a:t>
            </a:r>
            <a:r>
              <a:rPr lang="en-US" sz="1400" b="1">
                <a:solidFill>
                  <a:srgbClr val="5B616E"/>
                </a:solidFill>
                <a:latin typeface="Arial" pitchFamily="34" charset="0"/>
                <a:ea typeface="Arial" pitchFamily="34" charset="-122"/>
                <a:cs typeface="Arial" pitchFamily="34" charset="-120"/>
              </a:rPr>
              <a:t>uyết </a:t>
            </a:r>
            <a:r>
              <a:rPr lang="en-US" sz="1400" b="1" dirty="0">
                <a:solidFill>
                  <a:srgbClr val="5B616E"/>
                </a:solidFill>
                <a:latin typeface="Arial" pitchFamily="34" charset="0"/>
                <a:ea typeface="Arial" pitchFamily="34" charset="-122"/>
                <a:cs typeface="Arial" pitchFamily="34" charset="-120"/>
              </a:rPr>
              <a:t>toán tự động</a:t>
            </a:r>
            <a:endParaRPr lang="en-US" sz="1400" dirty="0"/>
          </a:p>
        </p:txBody>
      </p:sp>
      <p:sp>
        <p:nvSpPr>
          <p:cNvPr id="16" name="Text 14"/>
          <p:cNvSpPr/>
          <p:nvPr/>
        </p:nvSpPr>
        <p:spPr>
          <a:xfrm>
            <a:off x="7635240" y="1417320"/>
            <a:ext cx="2011680" cy="475488"/>
          </a:xfrm>
          <a:prstGeom prst="rect">
            <a:avLst/>
          </a:prstGeom>
          <a:solidFill>
            <a:srgbClr val="FFFFFF"/>
          </a:solidFill>
          <a:ln w="10160">
            <a:solidFill>
              <a:srgbClr val="E0E2E6"/>
            </a:solidFill>
          </a:ln>
        </p:spPr>
        <p:txBody>
          <a:bodyPr wrap="square" lIns="0" tIns="0" rIns="0" bIns="0" rtlCol="0" anchor="ctr">
            <a:normAutofit/>
          </a:bodyPr>
          <a:lstStyle/>
          <a:p>
            <a:pPr marL="0" indent="0" algn="ctr">
              <a:buNone/>
            </a:pPr>
            <a:r>
              <a:rPr lang="en-US" sz="2700" b="1" dirty="0">
                <a:solidFill>
                  <a:srgbClr val="B50915"/>
                </a:solidFill>
                <a:latin typeface="Arial" pitchFamily="34" charset="0"/>
                <a:ea typeface="Arial" pitchFamily="34" charset="-122"/>
                <a:cs typeface="Arial" pitchFamily="34" charset="-120"/>
              </a:rPr>
              <a:t>Realtime</a:t>
            </a:r>
            <a:endParaRPr lang="en-US" sz="2700" dirty="0"/>
          </a:p>
        </p:txBody>
      </p:sp>
      <p:sp>
        <p:nvSpPr>
          <p:cNvPr id="17" name="Text 15"/>
          <p:cNvSpPr/>
          <p:nvPr/>
        </p:nvSpPr>
        <p:spPr>
          <a:xfrm>
            <a:off x="7635240" y="1929384"/>
            <a:ext cx="2011680" cy="347472"/>
          </a:xfrm>
          <a:prstGeom prst="rect">
            <a:avLst/>
          </a:prstGeom>
          <a:noFill/>
          <a:ln/>
        </p:spPr>
        <p:txBody>
          <a:bodyPr wrap="square" lIns="254" tIns="254" rIns="254" bIns="254" rtlCol="0" anchor="ctr"/>
          <a:lstStyle/>
          <a:p>
            <a:pPr marL="0" indent="0" algn="ctr">
              <a:buNone/>
            </a:pPr>
            <a:r>
              <a:rPr lang="en-US" sz="1400" b="1" dirty="0">
                <a:solidFill>
                  <a:srgbClr val="5B616E"/>
                </a:solidFill>
                <a:latin typeface="Arial" pitchFamily="34" charset="0"/>
                <a:ea typeface="Arial" pitchFamily="34" charset="-122"/>
                <a:cs typeface="Arial" pitchFamily="34" charset="-120"/>
              </a:rPr>
              <a:t>T</a:t>
            </a:r>
            <a:r>
              <a:rPr lang="en-US" sz="1400" b="1">
                <a:solidFill>
                  <a:srgbClr val="5B616E"/>
                </a:solidFill>
                <a:latin typeface="Arial" pitchFamily="34" charset="0"/>
                <a:ea typeface="Arial" pitchFamily="34" charset="-122"/>
                <a:cs typeface="Arial" pitchFamily="34" charset="-120"/>
              </a:rPr>
              <a:t>rạng </a:t>
            </a:r>
            <a:r>
              <a:rPr lang="en-US" sz="1400" b="1" dirty="0">
                <a:solidFill>
                  <a:srgbClr val="5B616E"/>
                </a:solidFill>
                <a:latin typeface="Arial" pitchFamily="34" charset="0"/>
                <a:ea typeface="Arial" pitchFamily="34" charset="-122"/>
                <a:cs typeface="Arial" pitchFamily="34" charset="-120"/>
              </a:rPr>
              <a:t>thái tủ đồng bộ</a:t>
            </a:r>
            <a:endParaRPr lang="en-US" sz="1400" dirty="0"/>
          </a:p>
        </p:txBody>
      </p:sp>
      <p:sp>
        <p:nvSpPr>
          <p:cNvPr id="18" name="Text 16"/>
          <p:cNvSpPr/>
          <p:nvPr/>
        </p:nvSpPr>
        <p:spPr>
          <a:xfrm>
            <a:off x="9921240" y="1417320"/>
            <a:ext cx="2011680" cy="475488"/>
          </a:xfrm>
          <a:prstGeom prst="rect">
            <a:avLst/>
          </a:prstGeom>
          <a:solidFill>
            <a:srgbClr val="FFFFFF"/>
          </a:solidFill>
          <a:ln w="10160">
            <a:solidFill>
              <a:srgbClr val="E0E2E6"/>
            </a:solidFill>
          </a:ln>
        </p:spPr>
        <p:txBody>
          <a:bodyPr wrap="square" lIns="0" tIns="0" rIns="0" bIns="0" rtlCol="0" anchor="ctr">
            <a:normAutofit/>
          </a:bodyPr>
          <a:lstStyle/>
          <a:p>
            <a:pPr marL="0" indent="0" algn="ctr">
              <a:buNone/>
            </a:pPr>
            <a:r>
              <a:rPr lang="en-US" sz="2700" b="1" dirty="0">
                <a:solidFill>
                  <a:srgbClr val="B50915"/>
                </a:solidFill>
                <a:latin typeface="Arial" pitchFamily="34" charset="0"/>
                <a:ea typeface="Arial" pitchFamily="34" charset="-122"/>
                <a:cs typeface="Arial" pitchFamily="34" charset="-120"/>
              </a:rPr>
              <a:t>Data</a:t>
            </a:r>
            <a:endParaRPr lang="en-US" sz="2700" dirty="0"/>
          </a:p>
        </p:txBody>
      </p:sp>
      <p:sp>
        <p:nvSpPr>
          <p:cNvPr id="19" name="Text 17"/>
          <p:cNvSpPr/>
          <p:nvPr/>
        </p:nvSpPr>
        <p:spPr>
          <a:xfrm>
            <a:off x="9921240" y="1929384"/>
            <a:ext cx="2011680" cy="347472"/>
          </a:xfrm>
          <a:prstGeom prst="rect">
            <a:avLst/>
          </a:prstGeom>
          <a:noFill/>
          <a:ln/>
        </p:spPr>
        <p:txBody>
          <a:bodyPr wrap="square" lIns="254" tIns="254" rIns="254" bIns="254" rtlCol="0" anchor="ctr"/>
          <a:lstStyle/>
          <a:p>
            <a:pPr marL="0" indent="0" algn="ctr">
              <a:buNone/>
            </a:pPr>
            <a:r>
              <a:rPr lang="en-US" sz="1400" b="1" dirty="0">
                <a:solidFill>
                  <a:srgbClr val="5B616E"/>
                </a:solidFill>
                <a:latin typeface="Arial" pitchFamily="34" charset="0"/>
                <a:ea typeface="Arial" pitchFamily="34" charset="-122"/>
                <a:cs typeface="Arial" pitchFamily="34" charset="-120"/>
              </a:rPr>
              <a:t>Đ</a:t>
            </a:r>
            <a:r>
              <a:rPr lang="en-US" sz="1400" b="1">
                <a:solidFill>
                  <a:srgbClr val="5B616E"/>
                </a:solidFill>
                <a:latin typeface="Arial" pitchFamily="34" charset="0"/>
                <a:ea typeface="Arial" pitchFamily="34" charset="-122"/>
                <a:cs typeface="Arial" pitchFamily="34" charset="-120"/>
              </a:rPr>
              <a:t>ối </a:t>
            </a:r>
            <a:r>
              <a:rPr lang="en-US" sz="1400" b="1" dirty="0">
                <a:solidFill>
                  <a:srgbClr val="5B616E"/>
                </a:solidFill>
                <a:latin typeface="Arial" pitchFamily="34" charset="0"/>
                <a:ea typeface="Arial" pitchFamily="34" charset="-122"/>
                <a:cs typeface="Arial" pitchFamily="34" charset="-120"/>
              </a:rPr>
              <a:t>soát &amp; báo cáo</a:t>
            </a:r>
            <a:endParaRPr lang="en-US" sz="1400" dirty="0"/>
          </a:p>
        </p:txBody>
      </p:sp>
      <p:sp>
        <p:nvSpPr>
          <p:cNvPr id="20" name="Text 18"/>
          <p:cNvSpPr/>
          <p:nvPr/>
        </p:nvSpPr>
        <p:spPr>
          <a:xfrm>
            <a:off x="960120" y="3063240"/>
            <a:ext cx="10287000" cy="777240"/>
          </a:xfrm>
          <a:prstGeom prst="rect">
            <a:avLst/>
          </a:prstGeom>
          <a:noFill/>
          <a:ln/>
        </p:spPr>
        <p:txBody>
          <a:bodyPr wrap="square" lIns="762" tIns="762" rIns="762" bIns="762" rtlCol="0" anchor="t">
            <a:normAutofit/>
          </a:bodyPr>
          <a:lstStyle/>
          <a:p>
            <a:pPr marL="0" indent="0" algn="ctr">
              <a:buNone/>
            </a:pPr>
            <a:r>
              <a:rPr lang="en-US" sz="1600" b="1" dirty="0">
                <a:solidFill>
                  <a:srgbClr val="1F2328"/>
                </a:solidFill>
                <a:latin typeface="Arial" pitchFamily="34" charset="0"/>
                <a:ea typeface="Arial" pitchFamily="34" charset="-122"/>
                <a:cs typeface="Arial" pitchFamily="34" charset="-120"/>
              </a:rPr>
              <a:t>Hệ thống hướng tới mô phỏng phần mềm quản lý tủ đồ thông minh: người dùng thao tác trên app/màn hình tủ, server xử lý nghiệp vụ, tủ vật lý nhận lệnh mở chốt và phản hồi trạng thái cảm biến.</a:t>
            </a:r>
            <a:endParaRPr lang="en-US" sz="1600" dirty="0"/>
          </a:p>
        </p:txBody>
      </p:sp>
      <p:sp>
        <p:nvSpPr>
          <p:cNvPr id="21" name="Text 19"/>
          <p:cNvSpPr/>
          <p:nvPr/>
        </p:nvSpPr>
        <p:spPr>
          <a:xfrm>
            <a:off x="1143000" y="4389120"/>
            <a:ext cx="1905610"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Ứng dụng / màn hình tủ</a:t>
            </a:r>
            <a:endParaRPr lang="en-US" sz="1050" dirty="0"/>
          </a:p>
        </p:txBody>
      </p:sp>
      <p:sp>
        <p:nvSpPr>
          <p:cNvPr id="22" name="Shape 20"/>
          <p:cNvSpPr/>
          <p:nvPr/>
        </p:nvSpPr>
        <p:spPr>
          <a:xfrm>
            <a:off x="3066898" y="4672584"/>
            <a:ext cx="73152" cy="0"/>
          </a:xfrm>
          <a:prstGeom prst="line">
            <a:avLst/>
          </a:prstGeom>
          <a:noFill/>
          <a:ln w="17780">
            <a:solidFill>
              <a:srgbClr val="B50915"/>
            </a:solidFill>
            <a:prstDash val="solid"/>
            <a:headEnd type="none"/>
            <a:tailEnd type="triangle"/>
          </a:ln>
        </p:spPr>
        <p:txBody>
          <a:bodyPr/>
          <a:lstStyle/>
          <a:p>
            <a:endParaRPr lang="vi-VN"/>
          </a:p>
        </p:txBody>
      </p:sp>
      <p:sp>
        <p:nvSpPr>
          <p:cNvPr id="23" name="Text 21"/>
          <p:cNvSpPr/>
          <p:nvPr/>
        </p:nvSpPr>
        <p:spPr>
          <a:xfrm>
            <a:off x="3158338" y="4389120"/>
            <a:ext cx="1905610"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Server nghiệp vụ</a:t>
            </a:r>
            <a:endParaRPr lang="en-US" sz="1050" dirty="0"/>
          </a:p>
        </p:txBody>
      </p:sp>
      <p:sp>
        <p:nvSpPr>
          <p:cNvPr id="24" name="Shape 22"/>
          <p:cNvSpPr/>
          <p:nvPr/>
        </p:nvSpPr>
        <p:spPr>
          <a:xfrm>
            <a:off x="5082235" y="4672584"/>
            <a:ext cx="73152" cy="0"/>
          </a:xfrm>
          <a:prstGeom prst="line">
            <a:avLst/>
          </a:prstGeom>
          <a:noFill/>
          <a:ln w="17780">
            <a:solidFill>
              <a:srgbClr val="B50915"/>
            </a:solidFill>
            <a:prstDash val="solid"/>
            <a:headEnd type="none"/>
            <a:tailEnd type="triangle"/>
          </a:ln>
        </p:spPr>
        <p:txBody>
          <a:bodyPr/>
          <a:lstStyle/>
          <a:p>
            <a:endParaRPr lang="vi-VN"/>
          </a:p>
        </p:txBody>
      </p:sp>
      <p:sp>
        <p:nvSpPr>
          <p:cNvPr id="25" name="Text 23"/>
          <p:cNvSpPr/>
          <p:nvPr/>
        </p:nvSpPr>
        <p:spPr>
          <a:xfrm>
            <a:off x="5173675" y="4389120"/>
            <a:ext cx="1905610"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Cơ sở dữ liệu</a:t>
            </a:r>
            <a:endParaRPr lang="en-US" sz="1050" dirty="0"/>
          </a:p>
        </p:txBody>
      </p:sp>
      <p:sp>
        <p:nvSpPr>
          <p:cNvPr id="26" name="Shape 24"/>
          <p:cNvSpPr/>
          <p:nvPr/>
        </p:nvSpPr>
        <p:spPr>
          <a:xfrm>
            <a:off x="7097573" y="4672584"/>
            <a:ext cx="73152" cy="0"/>
          </a:xfrm>
          <a:prstGeom prst="line">
            <a:avLst/>
          </a:prstGeom>
          <a:noFill/>
          <a:ln w="17780">
            <a:solidFill>
              <a:srgbClr val="B50915"/>
            </a:solidFill>
            <a:prstDash val="solid"/>
            <a:headEnd type="none"/>
            <a:tailEnd type="triangle"/>
          </a:ln>
        </p:spPr>
        <p:txBody>
          <a:bodyPr/>
          <a:lstStyle/>
          <a:p>
            <a:endParaRPr lang="vi-VN"/>
          </a:p>
        </p:txBody>
      </p:sp>
      <p:sp>
        <p:nvSpPr>
          <p:cNvPr id="27" name="Text 25"/>
          <p:cNvSpPr/>
          <p:nvPr/>
        </p:nvSpPr>
        <p:spPr>
          <a:xfrm>
            <a:off x="7189013" y="4389120"/>
            <a:ext cx="1905610"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Tủ vật lý</a:t>
            </a:r>
            <a:endParaRPr lang="en-US" sz="1050" dirty="0"/>
          </a:p>
        </p:txBody>
      </p:sp>
      <p:sp>
        <p:nvSpPr>
          <p:cNvPr id="28" name="Shape 26"/>
          <p:cNvSpPr/>
          <p:nvPr/>
        </p:nvSpPr>
        <p:spPr>
          <a:xfrm>
            <a:off x="9112910" y="4672584"/>
            <a:ext cx="73152" cy="0"/>
          </a:xfrm>
          <a:prstGeom prst="line">
            <a:avLst/>
          </a:prstGeom>
          <a:noFill/>
          <a:ln w="17780">
            <a:solidFill>
              <a:srgbClr val="B50915"/>
            </a:solidFill>
            <a:prstDash val="solid"/>
            <a:headEnd type="none"/>
            <a:tailEnd type="triangle"/>
          </a:ln>
        </p:spPr>
        <p:txBody>
          <a:bodyPr/>
          <a:lstStyle/>
          <a:p>
            <a:endParaRPr lang="vi-VN"/>
          </a:p>
        </p:txBody>
      </p:sp>
      <p:sp>
        <p:nvSpPr>
          <p:cNvPr id="29" name="Text 27"/>
          <p:cNvSpPr/>
          <p:nvPr/>
        </p:nvSpPr>
        <p:spPr>
          <a:xfrm>
            <a:off x="9204350" y="4389120"/>
            <a:ext cx="1905610"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Thông báo SMS/Zalo</a:t>
            </a:r>
            <a:endParaRPr lang="en-US" sz="1050" dirty="0"/>
          </a:p>
        </p:txBody>
      </p:sp>
      <p:sp>
        <p:nvSpPr>
          <p:cNvPr id="30" name="Shape 28"/>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31" name="Text 29"/>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32" name="Text 30"/>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05</a:t>
            </a:r>
            <a:endParaRPr lang="en-US" sz="1000" dirty="0"/>
          </a:p>
        </p:txBody>
      </p:sp>
      <p:sp>
        <p:nvSpPr>
          <p:cNvPr id="33" name="Text 5">
            <a:extLst>
              <a:ext uri="{FF2B5EF4-FFF2-40B4-BE49-F238E27FC236}">
                <a16:creationId xmlns:a16="http://schemas.microsoft.com/office/drawing/2014/main" id="{8EC42F56-10BB-04DB-140F-DF8A719322F6}"/>
              </a:ext>
            </a:extLst>
          </p:cNvPr>
          <p:cNvSpPr/>
          <p:nvPr/>
        </p:nvSpPr>
        <p:spPr>
          <a:xfrm>
            <a:off x="502920" y="143354"/>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 KHẢO SÁT HIỆN TRẠNG VÀ MÔ TẢ NGHIỆP VỤ</a:t>
            </a:r>
          </a:p>
          <a:p>
            <a:pPr marL="0" indent="0">
              <a:buNone/>
            </a:pPr>
            <a:r>
              <a:rPr lang="en-US" sz="1200" b="1">
                <a:solidFill>
                  <a:srgbClr val="B50915"/>
                </a:solidFill>
                <a:latin typeface="Arial" pitchFamily="34" charset="0"/>
                <a:cs typeface="Arial" pitchFamily="34" charset="-120"/>
              </a:rPr>
              <a:t>1.1 Khảo sát hiện trạng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a:t>
            </a:r>
            <a:endParaRPr lang="en-US" sz="750" dirty="0"/>
          </a:p>
        </p:txBody>
      </p:sp>
      <p:sp>
        <p:nvSpPr>
          <p:cNvPr id="8" name="Text 6"/>
          <p:cNvSpPr/>
          <p:nvPr/>
        </p:nvSpPr>
        <p:spPr>
          <a:xfrm>
            <a:off x="502920" y="530352"/>
            <a:ext cx="9223500" cy="512064"/>
          </a:xfrm>
          <a:prstGeom prst="rect">
            <a:avLst/>
          </a:prstGeom>
          <a:noFill/>
          <a:ln/>
        </p:spPr>
        <p:txBody>
          <a:bodyPr wrap="square" lIns="0" tIns="0" rIns="0" bIns="0" rtlCol="0" anchor="ctr">
            <a:normAutofit fontScale="85000" lnSpcReduction="10000"/>
          </a:bodyPr>
          <a:lstStyle/>
          <a:p>
            <a:pPr marL="0" indent="0">
              <a:buNone/>
            </a:pPr>
            <a:r>
              <a:rPr lang="vi-VN" sz="2400" b="1">
                <a:solidFill>
                  <a:srgbClr val="1F2328"/>
                </a:solidFill>
                <a:latin typeface="Arial" pitchFamily="34" charset="0"/>
                <a:ea typeface="Arial" pitchFamily="34" charset="-122"/>
                <a:cs typeface="Arial" pitchFamily="34" charset="-120"/>
              </a:rPr>
              <a:t>Hệ thống được thiết kế để phục vụ ba nhóm đối tượng người dùng chính:</a:t>
            </a:r>
            <a:endParaRPr lang="en-US" sz="2400" dirty="0"/>
          </a:p>
        </p:txBody>
      </p:sp>
      <p:sp>
        <p:nvSpPr>
          <p:cNvPr id="9" name="Shape 7"/>
          <p:cNvSpPr/>
          <p:nvPr/>
        </p:nvSpPr>
        <p:spPr>
          <a:xfrm>
            <a:off x="502920" y="1133856"/>
            <a:ext cx="1188720" cy="0"/>
          </a:xfrm>
          <a:prstGeom prst="line">
            <a:avLst/>
          </a:prstGeom>
          <a:noFill/>
          <a:ln w="27940">
            <a:solidFill>
              <a:srgbClr val="B50915"/>
            </a:solidFill>
            <a:prstDash val="solid"/>
          </a:ln>
        </p:spPr>
        <p:txBody>
          <a:bodyPr/>
          <a:lstStyle/>
          <a:p>
            <a:endParaRPr lang="vi-VN"/>
          </a:p>
        </p:txBody>
      </p:sp>
      <p:sp>
        <p:nvSpPr>
          <p:cNvPr id="10" name="Text 8"/>
          <p:cNvSpPr/>
          <p:nvPr/>
        </p:nvSpPr>
        <p:spPr>
          <a:xfrm>
            <a:off x="868680" y="1417320"/>
            <a:ext cx="3246120" cy="438912"/>
          </a:xfrm>
          <a:prstGeom prst="rect">
            <a:avLst/>
          </a:prstGeom>
          <a:solidFill>
            <a:srgbClr val="FFF7DB"/>
          </a:solidFill>
          <a:ln w="8890">
            <a:solidFill>
              <a:srgbClr val="D9DDE3"/>
            </a:solidFill>
          </a:ln>
        </p:spPr>
        <p:txBody>
          <a:bodyPr wrap="square" lIns="0" tIns="0" rIns="0" bIns="0" rtlCol="0" anchor="ctr"/>
          <a:lstStyle/>
          <a:p>
            <a:pPr marL="0" indent="0" algn="ctr">
              <a:buNone/>
            </a:pPr>
            <a:r>
              <a:rPr lang="en-US" sz="1800" b="1">
                <a:solidFill>
                  <a:srgbClr val="1F2328"/>
                </a:solidFill>
                <a:latin typeface="Arial" pitchFamily="34" charset="0"/>
                <a:ea typeface="Arial" pitchFamily="34" charset="-122"/>
                <a:cs typeface="Arial" pitchFamily="34" charset="-120"/>
              </a:rPr>
              <a:t>Bưu tá (Shipper)</a:t>
            </a:r>
            <a:endParaRPr lang="en-US" sz="1800" dirty="0"/>
          </a:p>
        </p:txBody>
      </p:sp>
      <p:sp>
        <p:nvSpPr>
          <p:cNvPr id="11" name="Text 9"/>
          <p:cNvSpPr/>
          <p:nvPr/>
        </p:nvSpPr>
        <p:spPr>
          <a:xfrm>
            <a:off x="868680" y="2057400"/>
            <a:ext cx="3246120" cy="1143000"/>
          </a:xfrm>
          <a:prstGeom prst="rect">
            <a:avLst/>
          </a:prstGeom>
          <a:solidFill>
            <a:srgbClr val="FFFFFF"/>
          </a:solidFill>
          <a:ln w="8890">
            <a:solidFill>
              <a:srgbClr val="E1E5EA"/>
            </a:solidFill>
          </a:ln>
        </p:spPr>
        <p:txBody>
          <a:bodyPr wrap="square" lIns="1270" tIns="1270" rIns="1270" bIns="1270" rtlCol="0" anchor="ctr">
            <a:normAutofit/>
          </a:bodyPr>
          <a:lstStyle/>
          <a:p>
            <a:pPr marL="0" indent="0" algn="ctr">
              <a:buNone/>
            </a:pPr>
            <a:r>
              <a:rPr lang="en-US" sz="1600" dirty="0">
                <a:solidFill>
                  <a:srgbClr val="5B616E"/>
                </a:solidFill>
                <a:latin typeface="Arial" pitchFamily="34" charset="0"/>
                <a:ea typeface="Arial" pitchFamily="34" charset="-122"/>
                <a:cs typeface="Arial" pitchFamily="34" charset="-120"/>
              </a:rPr>
              <a:t>Giao hàng TMĐT, chọn tủ </a:t>
            </a:r>
            <a:r>
              <a:rPr lang="en-US" sz="1600">
                <a:solidFill>
                  <a:srgbClr val="5B616E"/>
                </a:solidFill>
                <a:latin typeface="Arial" pitchFamily="34" charset="0"/>
                <a:ea typeface="Arial" pitchFamily="34" charset="-122"/>
                <a:cs typeface="Arial" pitchFamily="34" charset="-120"/>
              </a:rPr>
              <a:t>trống,</a:t>
            </a:r>
          </a:p>
          <a:p>
            <a:pPr marL="0" indent="0" algn="ctr">
              <a:buNone/>
            </a:pPr>
            <a:r>
              <a:rPr lang="en-US" sz="1600">
                <a:solidFill>
                  <a:srgbClr val="5B616E"/>
                </a:solidFill>
                <a:latin typeface="Arial" pitchFamily="34" charset="0"/>
                <a:ea typeface="Arial" pitchFamily="34" charset="-122"/>
                <a:cs typeface="Arial" pitchFamily="34" charset="-120"/>
              </a:rPr>
              <a:t>cất </a:t>
            </a:r>
            <a:r>
              <a:rPr lang="en-US" sz="1600" dirty="0">
                <a:solidFill>
                  <a:srgbClr val="5B616E"/>
                </a:solidFill>
                <a:latin typeface="Arial" pitchFamily="34" charset="0"/>
                <a:ea typeface="Arial" pitchFamily="34" charset="-122"/>
                <a:cs typeface="Arial" pitchFamily="34" charset="-120"/>
              </a:rPr>
              <a:t>hàng, nhập </a:t>
            </a:r>
            <a:r>
              <a:rPr lang="en-US" sz="1600">
                <a:solidFill>
                  <a:srgbClr val="5B616E"/>
                </a:solidFill>
                <a:latin typeface="Arial" pitchFamily="34" charset="0"/>
                <a:ea typeface="Arial" pitchFamily="34" charset="-122"/>
                <a:cs typeface="Arial" pitchFamily="34" charset="-120"/>
              </a:rPr>
              <a:t>COD,</a:t>
            </a:r>
          </a:p>
          <a:p>
            <a:pPr marL="0" indent="0" algn="ctr">
              <a:buNone/>
            </a:pPr>
            <a:r>
              <a:rPr lang="en-US" sz="1600">
                <a:solidFill>
                  <a:srgbClr val="5B616E"/>
                </a:solidFill>
                <a:latin typeface="Arial" pitchFamily="34" charset="0"/>
                <a:ea typeface="Arial" pitchFamily="34" charset="-122"/>
                <a:cs typeface="Arial" pitchFamily="34" charset="-120"/>
              </a:rPr>
              <a:t>kích </a:t>
            </a:r>
            <a:r>
              <a:rPr lang="en-US" sz="1600" dirty="0">
                <a:solidFill>
                  <a:srgbClr val="5B616E"/>
                </a:solidFill>
                <a:latin typeface="Arial" pitchFamily="34" charset="0"/>
                <a:ea typeface="Arial" pitchFamily="34" charset="-122"/>
                <a:cs typeface="Arial" pitchFamily="34" charset="-120"/>
              </a:rPr>
              <a:t>hoạt thông báo nhận hàng.</a:t>
            </a:r>
            <a:endParaRPr lang="en-US" sz="1600" dirty="0"/>
          </a:p>
        </p:txBody>
      </p:sp>
      <p:sp>
        <p:nvSpPr>
          <p:cNvPr id="12" name="Text 10"/>
          <p:cNvSpPr/>
          <p:nvPr/>
        </p:nvSpPr>
        <p:spPr>
          <a:xfrm>
            <a:off x="4617720" y="1417320"/>
            <a:ext cx="3246120" cy="438912"/>
          </a:xfrm>
          <a:prstGeom prst="rect">
            <a:avLst/>
          </a:prstGeom>
          <a:solidFill>
            <a:srgbClr val="E9F8EF"/>
          </a:solidFill>
          <a:ln w="8890">
            <a:solidFill>
              <a:srgbClr val="D9DDE3"/>
            </a:solidFill>
          </a:ln>
        </p:spPr>
        <p:txBody>
          <a:bodyPr wrap="square" lIns="0" tIns="0" rIns="0" bIns="0" rtlCol="0" anchor="ctr"/>
          <a:lstStyle/>
          <a:p>
            <a:pPr marL="0" indent="0" algn="ctr">
              <a:buNone/>
            </a:pPr>
            <a:r>
              <a:rPr lang="en-US" sz="1800" b="1">
                <a:solidFill>
                  <a:srgbClr val="1F2328"/>
                </a:solidFill>
                <a:latin typeface="Arial" pitchFamily="34" charset="0"/>
                <a:ea typeface="Arial" pitchFamily="34" charset="-122"/>
                <a:cs typeface="Arial" pitchFamily="34" charset="-120"/>
              </a:rPr>
              <a:t>Cư dân (Resident)</a:t>
            </a:r>
            <a:endParaRPr lang="en-US" sz="1800" dirty="0"/>
          </a:p>
        </p:txBody>
      </p:sp>
      <p:sp>
        <p:nvSpPr>
          <p:cNvPr id="13" name="Text 11"/>
          <p:cNvSpPr/>
          <p:nvPr/>
        </p:nvSpPr>
        <p:spPr>
          <a:xfrm>
            <a:off x="4617720" y="2057400"/>
            <a:ext cx="3246120" cy="1143000"/>
          </a:xfrm>
          <a:prstGeom prst="rect">
            <a:avLst/>
          </a:prstGeom>
          <a:solidFill>
            <a:srgbClr val="FFFFFF"/>
          </a:solidFill>
          <a:ln w="8890">
            <a:solidFill>
              <a:srgbClr val="E1E5EA"/>
            </a:solidFill>
          </a:ln>
        </p:spPr>
        <p:txBody>
          <a:bodyPr wrap="square" lIns="1270" tIns="1270" rIns="1270" bIns="1270" rtlCol="0" anchor="ctr">
            <a:normAutofit/>
          </a:bodyPr>
          <a:lstStyle/>
          <a:p>
            <a:pPr marL="0" indent="0" algn="ctr">
              <a:buNone/>
            </a:pPr>
            <a:r>
              <a:rPr lang="en-US" sz="1600" dirty="0">
                <a:solidFill>
                  <a:srgbClr val="5B616E"/>
                </a:solidFill>
                <a:latin typeface="Arial" pitchFamily="34" charset="0"/>
                <a:ea typeface="Arial" pitchFamily="34" charset="-122"/>
                <a:cs typeface="Arial" pitchFamily="34" charset="-120"/>
              </a:rPr>
              <a:t>Nhận hàng, thanh toán phí/</a:t>
            </a:r>
            <a:r>
              <a:rPr lang="en-US" sz="1600">
                <a:solidFill>
                  <a:srgbClr val="5B616E"/>
                </a:solidFill>
                <a:latin typeface="Arial" pitchFamily="34" charset="0"/>
                <a:ea typeface="Arial" pitchFamily="34" charset="-122"/>
                <a:cs typeface="Arial" pitchFamily="34" charset="-120"/>
              </a:rPr>
              <a:t>COD,</a:t>
            </a:r>
          </a:p>
          <a:p>
            <a:pPr marL="0" indent="0" algn="ctr">
              <a:buNone/>
            </a:pPr>
            <a:r>
              <a:rPr lang="en-US" sz="1600">
                <a:solidFill>
                  <a:srgbClr val="5B616E"/>
                </a:solidFill>
                <a:latin typeface="Arial" pitchFamily="34" charset="0"/>
                <a:ea typeface="Arial" pitchFamily="34" charset="-122"/>
                <a:cs typeface="Arial" pitchFamily="34" charset="-120"/>
              </a:rPr>
              <a:t>tự </a:t>
            </a:r>
            <a:r>
              <a:rPr lang="en-US" sz="1600" dirty="0">
                <a:solidFill>
                  <a:srgbClr val="5B616E"/>
                </a:solidFill>
                <a:latin typeface="Arial" pitchFamily="34" charset="0"/>
                <a:ea typeface="Arial" pitchFamily="34" charset="-122"/>
                <a:cs typeface="Arial" pitchFamily="34" charset="-120"/>
              </a:rPr>
              <a:t>thuê tủ cá </a:t>
            </a:r>
            <a:r>
              <a:rPr lang="en-US" sz="1600">
                <a:solidFill>
                  <a:srgbClr val="5B616E"/>
                </a:solidFill>
                <a:latin typeface="Arial" pitchFamily="34" charset="0"/>
                <a:ea typeface="Arial" pitchFamily="34" charset="-122"/>
                <a:cs typeface="Arial" pitchFamily="34" charset="-120"/>
              </a:rPr>
              <a:t>nhân,</a:t>
            </a:r>
          </a:p>
          <a:p>
            <a:pPr marL="0" indent="0" algn="ctr">
              <a:buNone/>
            </a:pPr>
            <a:r>
              <a:rPr lang="en-US" sz="1600">
                <a:solidFill>
                  <a:srgbClr val="5B616E"/>
                </a:solidFill>
                <a:latin typeface="Arial" pitchFamily="34" charset="0"/>
                <a:ea typeface="Arial" pitchFamily="34" charset="-122"/>
                <a:cs typeface="Arial" pitchFamily="34" charset="-120"/>
              </a:rPr>
              <a:t>theo </a:t>
            </a:r>
            <a:r>
              <a:rPr lang="en-US" sz="1600" dirty="0">
                <a:solidFill>
                  <a:srgbClr val="5B616E"/>
                </a:solidFill>
                <a:latin typeface="Arial" pitchFamily="34" charset="0"/>
                <a:ea typeface="Arial" pitchFamily="34" charset="-122"/>
                <a:cs typeface="Arial" pitchFamily="34" charset="-120"/>
              </a:rPr>
              <a:t>dõi lịch sử giao dịch.</a:t>
            </a:r>
            <a:endParaRPr lang="en-US" sz="1600" dirty="0"/>
          </a:p>
        </p:txBody>
      </p:sp>
      <p:sp>
        <p:nvSpPr>
          <p:cNvPr id="14" name="Text 12"/>
          <p:cNvSpPr/>
          <p:nvPr/>
        </p:nvSpPr>
        <p:spPr>
          <a:xfrm>
            <a:off x="8366760" y="1417320"/>
            <a:ext cx="3246120" cy="438912"/>
          </a:xfrm>
          <a:prstGeom prst="rect">
            <a:avLst/>
          </a:prstGeom>
          <a:solidFill>
            <a:srgbClr val="EAF2FF"/>
          </a:solidFill>
          <a:ln w="8890">
            <a:solidFill>
              <a:srgbClr val="D9DDE3"/>
            </a:solidFill>
          </a:ln>
        </p:spPr>
        <p:txBody>
          <a:bodyPr wrap="square" lIns="0" tIns="0" rIns="0" bIns="0" rtlCol="0" anchor="ctr"/>
          <a:lstStyle/>
          <a:p>
            <a:pPr marL="0" indent="0" algn="ctr">
              <a:buNone/>
            </a:pPr>
            <a:r>
              <a:rPr lang="en-US" sz="1800" b="1" dirty="0">
                <a:solidFill>
                  <a:srgbClr val="1F2328"/>
                </a:solidFill>
                <a:latin typeface="Arial" pitchFamily="34" charset="0"/>
                <a:ea typeface="Arial" pitchFamily="34" charset="-122"/>
                <a:cs typeface="Arial" pitchFamily="34" charset="-120"/>
              </a:rPr>
              <a:t>Quản </a:t>
            </a:r>
            <a:r>
              <a:rPr lang="en-US" sz="1800" b="1">
                <a:solidFill>
                  <a:srgbClr val="1F2328"/>
                </a:solidFill>
                <a:latin typeface="Arial" pitchFamily="34" charset="0"/>
                <a:ea typeface="Arial" pitchFamily="34" charset="-122"/>
                <a:cs typeface="Arial" pitchFamily="34" charset="-120"/>
              </a:rPr>
              <a:t>trị viên (Admin)</a:t>
            </a:r>
            <a:endParaRPr lang="en-US" sz="1800" dirty="0"/>
          </a:p>
        </p:txBody>
      </p:sp>
      <p:sp>
        <p:nvSpPr>
          <p:cNvPr id="15" name="Text 13"/>
          <p:cNvSpPr/>
          <p:nvPr/>
        </p:nvSpPr>
        <p:spPr>
          <a:xfrm>
            <a:off x="8366760" y="2057400"/>
            <a:ext cx="3246120" cy="1143000"/>
          </a:xfrm>
          <a:prstGeom prst="rect">
            <a:avLst/>
          </a:prstGeom>
          <a:solidFill>
            <a:srgbClr val="FFFFFF"/>
          </a:solidFill>
          <a:ln w="8890">
            <a:solidFill>
              <a:srgbClr val="E1E5EA"/>
            </a:solidFill>
          </a:ln>
        </p:spPr>
        <p:txBody>
          <a:bodyPr wrap="square" lIns="1270" tIns="1270" rIns="1270" bIns="1270" rtlCol="0" anchor="ctr">
            <a:normAutofit/>
          </a:bodyPr>
          <a:lstStyle/>
          <a:p>
            <a:pPr marL="0" indent="0" algn="ctr">
              <a:buNone/>
            </a:pPr>
            <a:r>
              <a:rPr lang="en-US" sz="1600" dirty="0">
                <a:solidFill>
                  <a:srgbClr val="5B616E"/>
                </a:solidFill>
                <a:latin typeface="Arial" pitchFamily="34" charset="0"/>
                <a:ea typeface="Arial" pitchFamily="34" charset="-122"/>
                <a:cs typeface="Arial" pitchFamily="34" charset="-120"/>
              </a:rPr>
              <a:t>Quản lý trạm tủ, cấu hình biểu phí, theo dõi vận hành và doanh thu.</a:t>
            </a:r>
            <a:endParaRPr lang="en-US" sz="1600" dirty="0"/>
          </a:p>
        </p:txBody>
      </p:sp>
      <p:sp>
        <p:nvSpPr>
          <p:cNvPr id="16" name="Shape 14"/>
          <p:cNvSpPr/>
          <p:nvPr/>
        </p:nvSpPr>
        <p:spPr>
          <a:xfrm>
            <a:off x="1300258" y="3886200"/>
            <a:ext cx="2331720" cy="594360"/>
          </a:xfrm>
          <a:prstGeom prst="chevron">
            <a:avLst/>
          </a:prstGeom>
          <a:solidFill>
            <a:srgbClr val="B50915"/>
          </a:solidFill>
          <a:ln w="12700">
            <a:solidFill>
              <a:srgbClr val="B50915"/>
            </a:solidFill>
            <a:prstDash val="solid"/>
          </a:ln>
        </p:spPr>
        <p:txBody>
          <a:bodyPr/>
          <a:lstStyle/>
          <a:p>
            <a:endParaRPr lang="vi-VN"/>
          </a:p>
        </p:txBody>
      </p:sp>
      <p:sp>
        <p:nvSpPr>
          <p:cNvPr id="17" name="Shape 15"/>
          <p:cNvSpPr/>
          <p:nvPr/>
        </p:nvSpPr>
        <p:spPr>
          <a:xfrm>
            <a:off x="5119182" y="3886200"/>
            <a:ext cx="2331720" cy="594360"/>
          </a:xfrm>
          <a:prstGeom prst="chevron">
            <a:avLst/>
          </a:prstGeom>
          <a:solidFill>
            <a:srgbClr val="B50915"/>
          </a:solidFill>
          <a:ln w="12700">
            <a:solidFill>
              <a:srgbClr val="B50915"/>
            </a:solidFill>
            <a:prstDash val="solid"/>
          </a:ln>
        </p:spPr>
        <p:txBody>
          <a:bodyPr/>
          <a:lstStyle/>
          <a:p>
            <a:endParaRPr lang="vi-VN"/>
          </a:p>
        </p:txBody>
      </p:sp>
      <p:sp>
        <p:nvSpPr>
          <p:cNvPr id="18" name="Shape 16"/>
          <p:cNvSpPr/>
          <p:nvPr/>
        </p:nvSpPr>
        <p:spPr>
          <a:xfrm>
            <a:off x="8763386" y="3886200"/>
            <a:ext cx="2331720" cy="594360"/>
          </a:xfrm>
          <a:prstGeom prst="chevron">
            <a:avLst/>
          </a:prstGeom>
          <a:solidFill>
            <a:srgbClr val="B50915"/>
          </a:solidFill>
          <a:ln w="12700">
            <a:solidFill>
              <a:srgbClr val="B50915"/>
            </a:solidFill>
            <a:prstDash val="solid"/>
          </a:ln>
        </p:spPr>
        <p:txBody>
          <a:bodyPr/>
          <a:lstStyle/>
          <a:p>
            <a:endParaRPr lang="vi-VN"/>
          </a:p>
        </p:txBody>
      </p:sp>
      <p:sp>
        <p:nvSpPr>
          <p:cNvPr id="19" name="Text 17"/>
          <p:cNvSpPr/>
          <p:nvPr/>
        </p:nvSpPr>
        <p:spPr>
          <a:xfrm>
            <a:off x="1574578" y="4050792"/>
            <a:ext cx="1463040" cy="164592"/>
          </a:xfrm>
          <a:prstGeom prst="rect">
            <a:avLst/>
          </a:prstGeom>
          <a:noFill/>
          <a:ln/>
        </p:spPr>
        <p:txBody>
          <a:bodyPr wrap="square" lIns="0" tIns="0" rIns="0" bIns="0"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Tạo giao dịch</a:t>
            </a:r>
            <a:endParaRPr lang="en-US" sz="950" dirty="0"/>
          </a:p>
        </p:txBody>
      </p:sp>
      <p:sp>
        <p:nvSpPr>
          <p:cNvPr id="20" name="Text 18"/>
          <p:cNvSpPr/>
          <p:nvPr/>
        </p:nvSpPr>
        <p:spPr>
          <a:xfrm>
            <a:off x="5402646" y="4050792"/>
            <a:ext cx="1463040" cy="164592"/>
          </a:xfrm>
          <a:prstGeom prst="rect">
            <a:avLst/>
          </a:prstGeom>
          <a:noFill/>
          <a:ln/>
        </p:spPr>
        <p:txBody>
          <a:bodyPr wrap="square" lIns="0" tIns="0" rIns="0" bIns="0"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Nhận / thuê tủ</a:t>
            </a:r>
            <a:endParaRPr lang="en-US" sz="950" dirty="0"/>
          </a:p>
        </p:txBody>
      </p:sp>
      <p:sp>
        <p:nvSpPr>
          <p:cNvPr id="21" name="Text 19"/>
          <p:cNvSpPr/>
          <p:nvPr/>
        </p:nvSpPr>
        <p:spPr>
          <a:xfrm>
            <a:off x="8973698" y="4050792"/>
            <a:ext cx="1737360" cy="164592"/>
          </a:xfrm>
          <a:prstGeom prst="rect">
            <a:avLst/>
          </a:prstGeom>
          <a:noFill/>
          <a:ln/>
        </p:spPr>
        <p:txBody>
          <a:bodyPr wrap="square" lIns="0" tIns="0" rIns="0" bIns="0"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Quản trị &amp; đối soát</a:t>
            </a:r>
            <a:endParaRPr lang="en-US" sz="950" dirty="0"/>
          </a:p>
        </p:txBody>
      </p:sp>
      <p:sp>
        <p:nvSpPr>
          <p:cNvPr id="22" name="Text 20"/>
          <p:cNvSpPr/>
          <p:nvPr/>
        </p:nvSpPr>
        <p:spPr>
          <a:xfrm>
            <a:off x="1097280" y="4983480"/>
            <a:ext cx="10058400" cy="594360"/>
          </a:xfrm>
          <a:prstGeom prst="rect">
            <a:avLst/>
          </a:prstGeom>
          <a:noFill/>
          <a:ln/>
        </p:spPr>
        <p:txBody>
          <a:bodyPr wrap="square" lIns="762" tIns="762" rIns="762" bIns="762" rtlCol="0" anchor="t">
            <a:normAutofit/>
          </a:bodyPr>
          <a:lstStyle/>
          <a:p>
            <a:pPr marL="0" indent="0" algn="ctr">
              <a:buNone/>
            </a:pPr>
            <a:r>
              <a:rPr lang="en-US" sz="1600" b="1" dirty="0">
                <a:solidFill>
                  <a:srgbClr val="1F2328"/>
                </a:solidFill>
                <a:latin typeface="Arial" pitchFamily="34" charset="0"/>
                <a:ea typeface="Arial" pitchFamily="34" charset="-122"/>
                <a:cs typeface="Arial" pitchFamily="34" charset="-120"/>
              </a:rPr>
              <a:t>Điểm mấu chốt</a:t>
            </a:r>
            <a:r>
              <a:rPr lang="en-US" sz="1600" b="1">
                <a:solidFill>
                  <a:srgbClr val="1F2328"/>
                </a:solidFill>
                <a:latin typeface="Arial" pitchFamily="34" charset="0"/>
                <a:ea typeface="Arial" pitchFamily="34" charset="-122"/>
                <a:cs typeface="Arial" pitchFamily="34" charset="-120"/>
              </a:rPr>
              <a:t>: Tất </a:t>
            </a:r>
            <a:r>
              <a:rPr lang="en-US" sz="1600" b="1" dirty="0">
                <a:solidFill>
                  <a:srgbClr val="1F2328"/>
                </a:solidFill>
                <a:latin typeface="Arial" pitchFamily="34" charset="0"/>
                <a:ea typeface="Arial" pitchFamily="34" charset="-122"/>
                <a:cs typeface="Arial" pitchFamily="34" charset="-120"/>
              </a:rPr>
              <a:t>cả tác nhân đều sử dụng chung nền tảng xác thực và dữ liệu giao </a:t>
            </a:r>
            <a:r>
              <a:rPr lang="en-US" sz="1600" b="1">
                <a:solidFill>
                  <a:srgbClr val="1F2328"/>
                </a:solidFill>
                <a:latin typeface="Arial" pitchFamily="34" charset="0"/>
                <a:ea typeface="Arial" pitchFamily="34" charset="-122"/>
                <a:cs typeface="Arial" pitchFamily="34" charset="-120"/>
              </a:rPr>
              <a:t>dịch,</a:t>
            </a:r>
          </a:p>
          <a:p>
            <a:pPr marL="0" indent="0" algn="ctr">
              <a:buNone/>
            </a:pPr>
            <a:r>
              <a:rPr lang="en-US" sz="1600" b="1">
                <a:solidFill>
                  <a:srgbClr val="1F2328"/>
                </a:solidFill>
                <a:latin typeface="Arial" pitchFamily="34" charset="0"/>
                <a:ea typeface="Arial" pitchFamily="34" charset="-122"/>
                <a:cs typeface="Arial" pitchFamily="34" charset="-120"/>
              </a:rPr>
              <a:t>nhưng </a:t>
            </a:r>
            <a:r>
              <a:rPr lang="en-US" sz="1600" b="1" dirty="0">
                <a:solidFill>
                  <a:srgbClr val="1F2328"/>
                </a:solidFill>
                <a:latin typeface="Arial" pitchFamily="34" charset="0"/>
                <a:ea typeface="Arial" pitchFamily="34" charset="-122"/>
                <a:cs typeface="Arial" pitchFamily="34" charset="-120"/>
              </a:rPr>
              <a:t>được điều hướng tới chức năng khác nhau theo quyền truy cập.</a:t>
            </a:r>
            <a:endParaRPr lang="en-US" sz="1600" dirty="0"/>
          </a:p>
        </p:txBody>
      </p:sp>
      <p:sp>
        <p:nvSpPr>
          <p:cNvPr id="23" name="Shape 21"/>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24" name="Text 22"/>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25" name="Text 23"/>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06</a:t>
            </a:r>
            <a:endParaRPr lang="en-US" sz="1000" dirty="0"/>
          </a:p>
        </p:txBody>
      </p:sp>
      <p:sp>
        <p:nvSpPr>
          <p:cNvPr id="26" name="Text 5">
            <a:extLst>
              <a:ext uri="{FF2B5EF4-FFF2-40B4-BE49-F238E27FC236}">
                <a16:creationId xmlns:a16="http://schemas.microsoft.com/office/drawing/2014/main" id="{BF745CE5-345F-6172-7284-DF7E062DA8D6}"/>
              </a:ext>
            </a:extLst>
          </p:cNvPr>
          <p:cNvSpPr/>
          <p:nvPr/>
        </p:nvSpPr>
        <p:spPr>
          <a:xfrm>
            <a:off x="502920"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 KHẢO SÁT HIỆN TRẠNG VÀ MÔ TẢ NGHIỆP VỤ</a:t>
            </a:r>
          </a:p>
          <a:p>
            <a:pPr marL="0" indent="0">
              <a:buNone/>
            </a:pPr>
            <a:r>
              <a:rPr lang="en-US" sz="1200" b="1">
                <a:solidFill>
                  <a:srgbClr val="B50915"/>
                </a:solidFill>
                <a:latin typeface="Arial" pitchFamily="34" charset="0"/>
                <a:cs typeface="Arial" pitchFamily="34" charset="-120"/>
              </a:rPr>
              <a:t>1.2 Mô tả nghiệp vụ</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a:t>
            </a:r>
            <a:endParaRPr lang="en-US" sz="750" dirty="0"/>
          </a:p>
        </p:txBody>
      </p:sp>
      <p:sp>
        <p:nvSpPr>
          <p:cNvPr id="8" name="Text 6"/>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dirty="0">
                <a:solidFill>
                  <a:srgbClr val="1F2328"/>
                </a:solidFill>
                <a:latin typeface="Arial" pitchFamily="34" charset="0"/>
                <a:ea typeface="Arial" pitchFamily="34" charset="-122"/>
                <a:cs typeface="Arial" pitchFamily="34" charset="-120"/>
              </a:rPr>
              <a:t>Bức tranh nghiệp vụ tổng thể</a:t>
            </a:r>
            <a:endParaRPr lang="en-US" sz="2400" dirty="0"/>
          </a:p>
        </p:txBody>
      </p:sp>
      <p:sp>
        <p:nvSpPr>
          <p:cNvPr id="9" name="Shape 7"/>
          <p:cNvSpPr/>
          <p:nvPr/>
        </p:nvSpPr>
        <p:spPr>
          <a:xfrm>
            <a:off x="502920" y="1029021"/>
            <a:ext cx="1188720" cy="0"/>
          </a:xfrm>
          <a:prstGeom prst="line">
            <a:avLst/>
          </a:prstGeom>
          <a:noFill/>
          <a:ln w="27940">
            <a:solidFill>
              <a:srgbClr val="B50915"/>
            </a:solidFill>
            <a:prstDash val="solid"/>
          </a:ln>
        </p:spPr>
        <p:txBody>
          <a:bodyPr/>
          <a:lstStyle/>
          <a:p>
            <a:endParaRPr lang="vi-VN"/>
          </a:p>
        </p:txBody>
      </p:sp>
      <p:sp>
        <p:nvSpPr>
          <p:cNvPr id="10" name="Shape 8"/>
          <p:cNvSpPr/>
          <p:nvPr/>
        </p:nvSpPr>
        <p:spPr>
          <a:xfrm>
            <a:off x="4709160" y="2314607"/>
            <a:ext cx="2743200" cy="1097280"/>
          </a:xfrm>
          <a:prstGeom prst="roundRect">
            <a:avLst/>
          </a:prstGeom>
          <a:solidFill>
            <a:srgbClr val="B50915"/>
          </a:solidFill>
          <a:ln w="12700">
            <a:solidFill>
              <a:srgbClr val="B50915"/>
            </a:solidFill>
            <a:prstDash val="solid"/>
          </a:ln>
        </p:spPr>
        <p:txBody>
          <a:bodyPr/>
          <a:lstStyle/>
          <a:p>
            <a:endParaRPr lang="vi-VN"/>
          </a:p>
        </p:txBody>
      </p:sp>
      <p:sp>
        <p:nvSpPr>
          <p:cNvPr id="11" name="Text 9"/>
          <p:cNvSpPr/>
          <p:nvPr/>
        </p:nvSpPr>
        <p:spPr>
          <a:xfrm>
            <a:off x="4910328" y="2659217"/>
            <a:ext cx="2340864" cy="457200"/>
          </a:xfrm>
          <a:prstGeom prst="rect">
            <a:avLst/>
          </a:prstGeom>
          <a:noFill/>
          <a:ln/>
        </p:spPr>
        <p:txBody>
          <a:bodyPr wrap="square" lIns="0" tIns="0" rIns="0" bIns="0" rtlCol="0" anchor="ctr">
            <a:normAutofit fontScale="92500" lnSpcReduction="20000"/>
          </a:bodyPr>
          <a:lstStyle/>
          <a:p>
            <a:pPr marL="0" indent="0" algn="ctr">
              <a:buNone/>
            </a:pPr>
            <a:r>
              <a:rPr lang="en-US" sz="1900" b="1" dirty="0">
                <a:solidFill>
                  <a:srgbClr val="FFFFFF"/>
                </a:solidFill>
                <a:latin typeface="Arial" pitchFamily="34" charset="0"/>
                <a:ea typeface="Arial" pitchFamily="34" charset="-122"/>
                <a:cs typeface="Arial" pitchFamily="34" charset="-120"/>
              </a:rPr>
              <a:t>SMARTBOX</a:t>
            </a:r>
            <a:endParaRPr lang="en-US" sz="1900" dirty="0"/>
          </a:p>
          <a:p>
            <a:pPr marL="0" indent="0" algn="ctr">
              <a:buNone/>
            </a:pPr>
            <a:r>
              <a:rPr lang="en-US" sz="1900" b="1" dirty="0">
                <a:solidFill>
                  <a:srgbClr val="FFFFFF"/>
                </a:solidFill>
                <a:latin typeface="Arial" pitchFamily="34" charset="0"/>
                <a:ea typeface="Arial" pitchFamily="34" charset="-122"/>
                <a:cs typeface="Arial" pitchFamily="34" charset="-120"/>
              </a:rPr>
              <a:t>CORE SYSTEM</a:t>
            </a:r>
            <a:endParaRPr lang="en-US" sz="1900" dirty="0"/>
          </a:p>
        </p:txBody>
      </p:sp>
      <p:sp>
        <p:nvSpPr>
          <p:cNvPr id="12" name="Text 10"/>
          <p:cNvSpPr/>
          <p:nvPr/>
        </p:nvSpPr>
        <p:spPr>
          <a:xfrm>
            <a:off x="914400" y="1188720"/>
            <a:ext cx="2880360" cy="685800"/>
          </a:xfrm>
          <a:prstGeom prst="rect">
            <a:avLst/>
          </a:prstGeom>
          <a:solidFill>
            <a:srgbClr val="FFF7DB"/>
          </a:solidFill>
          <a:ln w="10160">
            <a:solidFill>
              <a:srgbClr val="D3D7DE"/>
            </a:solidFill>
          </a:ln>
        </p:spPr>
        <p:txBody>
          <a:bodyPr wrap="square" lIns="762" tIns="762" rIns="762" bIns="762" rtlCol="0" anchor="ctr">
            <a:normAutofit/>
          </a:bodyPr>
          <a:lstStyle/>
          <a:p>
            <a:pPr marL="0" indent="0" algn="ctr">
              <a:buNone/>
            </a:pPr>
            <a:r>
              <a:rPr lang="en-US" sz="1400" b="1">
                <a:solidFill>
                  <a:srgbClr val="1F2328"/>
                </a:solidFill>
                <a:latin typeface="Arial" pitchFamily="34" charset="0"/>
                <a:ea typeface="Arial" pitchFamily="34" charset="-122"/>
                <a:cs typeface="Arial" pitchFamily="34" charset="-120"/>
              </a:rPr>
              <a:t>Đăng nhập &amp; phân quyền</a:t>
            </a:r>
            <a:endParaRPr lang="en-US" sz="1400" dirty="0"/>
          </a:p>
        </p:txBody>
      </p:sp>
      <p:sp>
        <p:nvSpPr>
          <p:cNvPr id="13" name="Shape 11"/>
          <p:cNvSpPr/>
          <p:nvPr/>
        </p:nvSpPr>
        <p:spPr>
          <a:xfrm flipH="1" flipV="1">
            <a:off x="3779520" y="1499616"/>
            <a:ext cx="1021079" cy="814990"/>
          </a:xfrm>
          <a:prstGeom prst="line">
            <a:avLst/>
          </a:prstGeom>
          <a:noFill/>
          <a:ln w="15240">
            <a:solidFill>
              <a:srgbClr val="A0A6B1"/>
            </a:solidFill>
            <a:prstDash val="solid"/>
            <a:tailEnd type="triangle"/>
          </a:ln>
        </p:spPr>
        <p:txBody>
          <a:bodyPr/>
          <a:lstStyle/>
          <a:p>
            <a:endParaRPr lang="vi-VN"/>
          </a:p>
        </p:txBody>
      </p:sp>
      <p:sp>
        <p:nvSpPr>
          <p:cNvPr id="14" name="Text 12"/>
          <p:cNvSpPr/>
          <p:nvPr/>
        </p:nvSpPr>
        <p:spPr>
          <a:xfrm>
            <a:off x="914400" y="3429000"/>
            <a:ext cx="2880360" cy="685800"/>
          </a:xfrm>
          <a:prstGeom prst="rect">
            <a:avLst/>
          </a:prstGeom>
          <a:solidFill>
            <a:srgbClr val="E9F8EF"/>
          </a:solidFill>
          <a:ln w="10160">
            <a:solidFill>
              <a:srgbClr val="D3D7DE"/>
            </a:solidFill>
          </a:ln>
        </p:spPr>
        <p:txBody>
          <a:bodyPr wrap="square" lIns="762" tIns="762" rIns="762" bIns="762" rtlCol="0" anchor="ctr">
            <a:normAutofit/>
          </a:bodyPr>
          <a:lstStyle/>
          <a:p>
            <a:pPr marL="0" indent="0" algn="ctr">
              <a:buNone/>
            </a:pPr>
            <a:r>
              <a:rPr lang="en-US" sz="1400" b="1">
                <a:solidFill>
                  <a:srgbClr val="1F2328"/>
                </a:solidFill>
                <a:latin typeface="Arial" pitchFamily="34" charset="0"/>
                <a:ea typeface="Arial" pitchFamily="34" charset="-122"/>
                <a:cs typeface="Arial" pitchFamily="34" charset="-120"/>
              </a:rPr>
              <a:t>Giao hàng TMĐT</a:t>
            </a:r>
            <a:endParaRPr lang="en-US" sz="1400" dirty="0"/>
          </a:p>
        </p:txBody>
      </p:sp>
      <p:sp>
        <p:nvSpPr>
          <p:cNvPr id="15" name="Shape 13"/>
          <p:cNvSpPr/>
          <p:nvPr/>
        </p:nvSpPr>
        <p:spPr>
          <a:xfrm flipH="1">
            <a:off x="3794760" y="3374136"/>
            <a:ext cx="1005840" cy="411480"/>
          </a:xfrm>
          <a:prstGeom prst="line">
            <a:avLst/>
          </a:prstGeom>
          <a:noFill/>
          <a:ln w="15240">
            <a:solidFill>
              <a:srgbClr val="A0A6B1"/>
            </a:solidFill>
            <a:prstDash val="solid"/>
            <a:tailEnd type="triangle"/>
          </a:ln>
        </p:spPr>
        <p:txBody>
          <a:bodyPr/>
          <a:lstStyle/>
          <a:p>
            <a:endParaRPr lang="vi-VN"/>
          </a:p>
        </p:txBody>
      </p:sp>
      <p:sp>
        <p:nvSpPr>
          <p:cNvPr id="16" name="Text 14"/>
          <p:cNvSpPr/>
          <p:nvPr/>
        </p:nvSpPr>
        <p:spPr>
          <a:xfrm>
            <a:off x="8412480" y="1188720"/>
            <a:ext cx="2880360" cy="685800"/>
          </a:xfrm>
          <a:prstGeom prst="rect">
            <a:avLst/>
          </a:prstGeom>
          <a:solidFill>
            <a:srgbClr val="EAF2FF"/>
          </a:solidFill>
          <a:ln w="10160">
            <a:solidFill>
              <a:srgbClr val="D3D7DE"/>
            </a:solidFill>
          </a:ln>
        </p:spPr>
        <p:txBody>
          <a:bodyPr wrap="square" lIns="762" tIns="762" rIns="762" bIns="762" rtlCol="0" anchor="ctr">
            <a:normAutofit/>
          </a:bodyPr>
          <a:lstStyle/>
          <a:p>
            <a:pPr marL="0" indent="0" algn="ctr">
              <a:buNone/>
            </a:pPr>
            <a:r>
              <a:rPr lang="en-US" sz="1400" b="1">
                <a:solidFill>
                  <a:srgbClr val="1F2328"/>
                </a:solidFill>
                <a:latin typeface="Arial" pitchFamily="34" charset="0"/>
                <a:ea typeface="Arial" pitchFamily="34" charset="-122"/>
                <a:cs typeface="Arial" pitchFamily="34" charset="-120"/>
              </a:rPr>
              <a:t>Nhận hàng &amp; thanh toán</a:t>
            </a:r>
            <a:endParaRPr lang="en-US" sz="1400" dirty="0"/>
          </a:p>
        </p:txBody>
      </p:sp>
      <p:sp>
        <p:nvSpPr>
          <p:cNvPr id="17" name="Shape 15"/>
          <p:cNvSpPr/>
          <p:nvPr/>
        </p:nvSpPr>
        <p:spPr>
          <a:xfrm>
            <a:off x="9829800" y="1874520"/>
            <a:ext cx="0" cy="0"/>
          </a:xfrm>
          <a:prstGeom prst="line">
            <a:avLst/>
          </a:prstGeom>
          <a:noFill/>
          <a:ln w="15240">
            <a:solidFill>
              <a:srgbClr val="A0A6B1"/>
            </a:solidFill>
            <a:prstDash val="solid"/>
            <a:tailEnd type="triangle"/>
          </a:ln>
        </p:spPr>
        <p:txBody>
          <a:bodyPr/>
          <a:lstStyle/>
          <a:p>
            <a:endParaRPr lang="vi-VN"/>
          </a:p>
        </p:txBody>
      </p:sp>
      <p:sp>
        <p:nvSpPr>
          <p:cNvPr id="18" name="Text 16"/>
          <p:cNvSpPr/>
          <p:nvPr/>
        </p:nvSpPr>
        <p:spPr>
          <a:xfrm>
            <a:off x="8412480" y="3429000"/>
            <a:ext cx="2880360" cy="685800"/>
          </a:xfrm>
          <a:prstGeom prst="rect">
            <a:avLst/>
          </a:prstGeom>
          <a:solidFill>
            <a:srgbClr val="F3EAFE"/>
          </a:solidFill>
          <a:ln w="10160">
            <a:solidFill>
              <a:srgbClr val="D3D7DE"/>
            </a:solidFill>
          </a:ln>
        </p:spPr>
        <p:txBody>
          <a:bodyPr wrap="square" lIns="762" tIns="762" rIns="762" bIns="762" rtlCol="0" anchor="ctr">
            <a:normAutofit/>
          </a:bodyPr>
          <a:lstStyle/>
          <a:p>
            <a:pPr marL="0" indent="0" algn="ctr">
              <a:buNone/>
            </a:pPr>
            <a:r>
              <a:rPr lang="en-US" sz="1400" b="1">
                <a:solidFill>
                  <a:srgbClr val="1F2328"/>
                </a:solidFill>
                <a:latin typeface="Arial" pitchFamily="34" charset="0"/>
                <a:ea typeface="Arial" pitchFamily="34" charset="-122"/>
                <a:cs typeface="Arial" pitchFamily="34" charset="-120"/>
              </a:rPr>
              <a:t>Thuê tủ cá nhân</a:t>
            </a:r>
            <a:endParaRPr lang="en-US" sz="1400" dirty="0"/>
          </a:p>
        </p:txBody>
      </p:sp>
      <p:sp>
        <p:nvSpPr>
          <p:cNvPr id="19" name="Shape 17"/>
          <p:cNvSpPr/>
          <p:nvPr/>
        </p:nvSpPr>
        <p:spPr>
          <a:xfrm>
            <a:off x="9829800" y="4114800"/>
            <a:ext cx="0" cy="0"/>
          </a:xfrm>
          <a:prstGeom prst="line">
            <a:avLst/>
          </a:prstGeom>
          <a:noFill/>
          <a:ln w="15240">
            <a:solidFill>
              <a:srgbClr val="A0A6B1"/>
            </a:solidFill>
            <a:prstDash val="solid"/>
            <a:tailEnd type="triangle"/>
          </a:ln>
        </p:spPr>
        <p:txBody>
          <a:bodyPr/>
          <a:lstStyle/>
          <a:p>
            <a:endParaRPr lang="vi-VN"/>
          </a:p>
        </p:txBody>
      </p:sp>
      <p:sp>
        <p:nvSpPr>
          <p:cNvPr id="20" name="Text 18"/>
          <p:cNvSpPr/>
          <p:nvPr/>
        </p:nvSpPr>
        <p:spPr>
          <a:xfrm>
            <a:off x="4572000" y="4846320"/>
            <a:ext cx="2880360" cy="685800"/>
          </a:xfrm>
          <a:prstGeom prst="rect">
            <a:avLst/>
          </a:prstGeom>
          <a:solidFill>
            <a:srgbClr val="FFF3F3"/>
          </a:solidFill>
          <a:ln w="10160">
            <a:solidFill>
              <a:srgbClr val="D3D7DE"/>
            </a:solidFill>
          </a:ln>
        </p:spPr>
        <p:txBody>
          <a:bodyPr wrap="square" lIns="762" tIns="762" rIns="762" bIns="762" rtlCol="0" anchor="ctr">
            <a:normAutofit/>
          </a:bodyPr>
          <a:lstStyle/>
          <a:p>
            <a:pPr marL="0" indent="0" algn="ctr">
              <a:buNone/>
            </a:pPr>
            <a:r>
              <a:rPr lang="en-US" sz="1400" b="1" dirty="0">
                <a:solidFill>
                  <a:srgbClr val="1F2328"/>
                </a:solidFill>
                <a:latin typeface="Arial" pitchFamily="34" charset="0"/>
                <a:ea typeface="Arial" pitchFamily="34" charset="-122"/>
                <a:cs typeface="Arial" pitchFamily="34" charset="-120"/>
              </a:rPr>
              <a:t>Quản lý trạm tủ &amp; biểu phí</a:t>
            </a:r>
            <a:endParaRPr lang="en-US" sz="1400" dirty="0"/>
          </a:p>
        </p:txBody>
      </p:sp>
      <p:sp>
        <p:nvSpPr>
          <p:cNvPr id="21" name="Shape 19"/>
          <p:cNvSpPr/>
          <p:nvPr/>
        </p:nvSpPr>
        <p:spPr>
          <a:xfrm>
            <a:off x="5989320" y="5532120"/>
            <a:ext cx="0" cy="0"/>
          </a:xfrm>
          <a:prstGeom prst="line">
            <a:avLst/>
          </a:prstGeom>
          <a:noFill/>
          <a:ln w="15240">
            <a:solidFill>
              <a:srgbClr val="A0A6B1"/>
            </a:solidFill>
            <a:prstDash val="solid"/>
            <a:tailEnd type="triangle"/>
          </a:ln>
        </p:spPr>
        <p:txBody>
          <a:bodyPr/>
          <a:lstStyle/>
          <a:p>
            <a:endParaRPr lang="vi-VN"/>
          </a:p>
        </p:txBody>
      </p:sp>
      <p:sp>
        <p:nvSpPr>
          <p:cNvPr id="22" name="Text 20"/>
          <p:cNvSpPr/>
          <p:nvPr/>
        </p:nvSpPr>
        <p:spPr>
          <a:xfrm>
            <a:off x="1325880" y="5806440"/>
            <a:ext cx="9692640" cy="411480"/>
          </a:xfrm>
          <a:prstGeom prst="rect">
            <a:avLst/>
          </a:prstGeom>
          <a:noFill/>
          <a:ln/>
        </p:spPr>
        <p:txBody>
          <a:bodyPr wrap="square" lIns="762" tIns="762" rIns="762" bIns="762" rtlCol="0" anchor="t">
            <a:normAutofit lnSpcReduction="10000"/>
          </a:bodyPr>
          <a:lstStyle/>
          <a:p>
            <a:pPr marL="0" indent="0" algn="ctr">
              <a:buNone/>
            </a:pPr>
            <a:r>
              <a:rPr lang="en-US" sz="1450" b="1" dirty="0">
                <a:solidFill>
                  <a:srgbClr val="1F2328"/>
                </a:solidFill>
                <a:latin typeface="Arial" pitchFamily="34" charset="0"/>
                <a:ea typeface="Arial" pitchFamily="34" charset="-122"/>
                <a:cs typeface="Arial" pitchFamily="34" charset="-120"/>
              </a:rPr>
              <a:t>5 luồng nghiệp vụ cốt lõi tạo thành vòng đời bưu </a:t>
            </a:r>
            <a:r>
              <a:rPr lang="en-US" sz="1450" b="1">
                <a:solidFill>
                  <a:srgbClr val="1F2328"/>
                </a:solidFill>
                <a:latin typeface="Arial" pitchFamily="34" charset="0"/>
                <a:ea typeface="Arial" pitchFamily="34" charset="-122"/>
                <a:cs typeface="Arial" pitchFamily="34" charset="-120"/>
              </a:rPr>
              <a:t>kiện:</a:t>
            </a:r>
          </a:p>
          <a:p>
            <a:pPr marL="0" indent="0" algn="ctr">
              <a:buNone/>
            </a:pPr>
            <a:r>
              <a:rPr lang="en-US" sz="1450" b="1">
                <a:solidFill>
                  <a:srgbClr val="1F2328"/>
                </a:solidFill>
                <a:latin typeface="Arial" pitchFamily="34" charset="0"/>
                <a:ea typeface="Arial" pitchFamily="34" charset="-122"/>
                <a:cs typeface="Arial" pitchFamily="34" charset="-120"/>
              </a:rPr>
              <a:t>Từ </a:t>
            </a:r>
            <a:r>
              <a:rPr lang="en-US" sz="1450" b="1" dirty="0">
                <a:solidFill>
                  <a:srgbClr val="1F2328"/>
                </a:solidFill>
                <a:latin typeface="Arial" pitchFamily="34" charset="0"/>
                <a:ea typeface="Arial" pitchFamily="34" charset="-122"/>
                <a:cs typeface="Arial" pitchFamily="34" charset="-120"/>
              </a:rPr>
              <a:t>xác thực, cấp phát ngăn, cất hàng, thanh toán, mở tủ đến cập nhật trạng thái và đối soát.</a:t>
            </a:r>
            <a:endParaRPr lang="en-US" sz="1450" dirty="0"/>
          </a:p>
        </p:txBody>
      </p:sp>
      <p:sp>
        <p:nvSpPr>
          <p:cNvPr id="23" name="Shape 21"/>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24" name="Text 22"/>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25" name="Text 23"/>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07</a:t>
            </a:r>
            <a:endParaRPr lang="en-US" sz="1000" dirty="0"/>
          </a:p>
        </p:txBody>
      </p:sp>
      <p:sp>
        <p:nvSpPr>
          <p:cNvPr id="26" name="Shape 11">
            <a:extLst>
              <a:ext uri="{FF2B5EF4-FFF2-40B4-BE49-F238E27FC236}">
                <a16:creationId xmlns:a16="http://schemas.microsoft.com/office/drawing/2014/main" id="{C1CD06AD-A636-4E8E-8290-13C3CBA4F88B}"/>
              </a:ext>
            </a:extLst>
          </p:cNvPr>
          <p:cNvSpPr/>
          <p:nvPr/>
        </p:nvSpPr>
        <p:spPr>
          <a:xfrm flipV="1">
            <a:off x="7391400" y="1548753"/>
            <a:ext cx="1021080" cy="814991"/>
          </a:xfrm>
          <a:prstGeom prst="line">
            <a:avLst/>
          </a:prstGeom>
          <a:noFill/>
          <a:ln w="15240">
            <a:solidFill>
              <a:srgbClr val="A0A6B1"/>
            </a:solidFill>
            <a:prstDash val="solid"/>
            <a:tailEnd type="triangle"/>
          </a:ln>
        </p:spPr>
        <p:txBody>
          <a:bodyPr/>
          <a:lstStyle/>
          <a:p>
            <a:endParaRPr lang="vi-VN"/>
          </a:p>
        </p:txBody>
      </p:sp>
      <p:sp>
        <p:nvSpPr>
          <p:cNvPr id="27" name="Shape 11">
            <a:extLst>
              <a:ext uri="{FF2B5EF4-FFF2-40B4-BE49-F238E27FC236}">
                <a16:creationId xmlns:a16="http://schemas.microsoft.com/office/drawing/2014/main" id="{1D5179FB-4112-B3B3-74B6-F58BE57557CF}"/>
              </a:ext>
            </a:extLst>
          </p:cNvPr>
          <p:cNvSpPr/>
          <p:nvPr/>
        </p:nvSpPr>
        <p:spPr>
          <a:xfrm>
            <a:off x="7452360" y="3308952"/>
            <a:ext cx="960120" cy="476664"/>
          </a:xfrm>
          <a:prstGeom prst="line">
            <a:avLst/>
          </a:prstGeom>
          <a:noFill/>
          <a:ln w="15240">
            <a:solidFill>
              <a:srgbClr val="A0A6B1"/>
            </a:solidFill>
            <a:prstDash val="solid"/>
            <a:tailEnd type="triangle"/>
          </a:ln>
        </p:spPr>
        <p:txBody>
          <a:bodyPr/>
          <a:lstStyle/>
          <a:p>
            <a:endParaRPr lang="vi-VN"/>
          </a:p>
        </p:txBody>
      </p:sp>
      <p:sp>
        <p:nvSpPr>
          <p:cNvPr id="28" name="Shape 11">
            <a:extLst>
              <a:ext uri="{FF2B5EF4-FFF2-40B4-BE49-F238E27FC236}">
                <a16:creationId xmlns:a16="http://schemas.microsoft.com/office/drawing/2014/main" id="{7F651B60-B19E-8A36-4742-31A8F83C3CD3}"/>
              </a:ext>
            </a:extLst>
          </p:cNvPr>
          <p:cNvSpPr/>
          <p:nvPr/>
        </p:nvSpPr>
        <p:spPr>
          <a:xfrm>
            <a:off x="5989320" y="3419857"/>
            <a:ext cx="0" cy="1426463"/>
          </a:xfrm>
          <a:prstGeom prst="line">
            <a:avLst/>
          </a:prstGeom>
          <a:noFill/>
          <a:ln w="15240">
            <a:solidFill>
              <a:srgbClr val="A0A6B1"/>
            </a:solidFill>
            <a:prstDash val="solid"/>
            <a:tailEnd type="triangle"/>
          </a:ln>
        </p:spPr>
        <p:txBody>
          <a:bodyPr/>
          <a:lstStyle/>
          <a:p>
            <a:endParaRPr lang="vi-VN"/>
          </a:p>
        </p:txBody>
      </p:sp>
      <p:sp>
        <p:nvSpPr>
          <p:cNvPr id="29" name="Text 5">
            <a:extLst>
              <a:ext uri="{FF2B5EF4-FFF2-40B4-BE49-F238E27FC236}">
                <a16:creationId xmlns:a16="http://schemas.microsoft.com/office/drawing/2014/main" id="{A991FE6C-0F42-E809-3640-1C2EF439D264}"/>
              </a:ext>
            </a:extLst>
          </p:cNvPr>
          <p:cNvSpPr/>
          <p:nvPr/>
        </p:nvSpPr>
        <p:spPr>
          <a:xfrm>
            <a:off x="502920"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 KHẢO SÁT HIỆN TRẠNG VÀ MÔ TẢ NGHIỆP VỤ</a:t>
            </a:r>
          </a:p>
          <a:p>
            <a:pPr marL="0" indent="0">
              <a:buNone/>
            </a:pPr>
            <a:r>
              <a:rPr lang="en-US" sz="1200" b="1">
                <a:solidFill>
                  <a:srgbClr val="B50915"/>
                </a:solidFill>
                <a:latin typeface="Arial" pitchFamily="34" charset="0"/>
                <a:cs typeface="Arial" pitchFamily="34" charset="-120"/>
              </a:rPr>
              <a:t>1.2 Mô tả nghiệp vụ</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a:t>
            </a:r>
            <a:endParaRPr lang="en-US" sz="750" dirty="0"/>
          </a:p>
        </p:txBody>
      </p:sp>
      <p:sp>
        <p:nvSpPr>
          <p:cNvPr id="8" name="Text 6"/>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dirty="0">
                <a:solidFill>
                  <a:srgbClr val="1F2328"/>
                </a:solidFill>
                <a:latin typeface="Arial" pitchFamily="34" charset="0"/>
                <a:ea typeface="Arial" pitchFamily="34" charset="-122"/>
                <a:cs typeface="Arial" pitchFamily="34" charset="-120"/>
              </a:rPr>
              <a:t>Nghiệp vụ 1</a:t>
            </a:r>
            <a:r>
              <a:rPr lang="en-US" sz="2400" b="1">
                <a:solidFill>
                  <a:srgbClr val="1F2328"/>
                </a:solidFill>
                <a:latin typeface="Arial" pitchFamily="34" charset="0"/>
                <a:ea typeface="Arial" pitchFamily="34" charset="-122"/>
                <a:cs typeface="Arial" pitchFamily="34" charset="-120"/>
              </a:rPr>
              <a:t>: </a:t>
            </a:r>
            <a:r>
              <a:rPr lang="vi-VN" sz="2400" b="1">
                <a:solidFill>
                  <a:srgbClr val="1F2328"/>
                </a:solidFill>
                <a:latin typeface="Arial" pitchFamily="34" charset="0"/>
                <a:ea typeface="Arial" pitchFamily="34" charset="-122"/>
                <a:cs typeface="Arial" pitchFamily="34" charset="-120"/>
              </a:rPr>
              <a:t>Đăng nhập và Điều hướng Hệ thống</a:t>
            </a:r>
            <a:endParaRPr lang="en-US" sz="2400" dirty="0"/>
          </a:p>
        </p:txBody>
      </p:sp>
      <p:sp>
        <p:nvSpPr>
          <p:cNvPr id="9" name="Shape 7"/>
          <p:cNvSpPr/>
          <p:nvPr/>
        </p:nvSpPr>
        <p:spPr>
          <a:xfrm>
            <a:off x="502920" y="1035883"/>
            <a:ext cx="1188720" cy="0"/>
          </a:xfrm>
          <a:prstGeom prst="line">
            <a:avLst/>
          </a:prstGeom>
          <a:noFill/>
          <a:ln w="27940">
            <a:solidFill>
              <a:srgbClr val="B50915"/>
            </a:solidFill>
            <a:prstDash val="solid"/>
          </a:ln>
        </p:spPr>
        <p:txBody>
          <a:bodyPr/>
          <a:lstStyle/>
          <a:p>
            <a:endParaRPr lang="vi-VN"/>
          </a:p>
        </p:txBody>
      </p:sp>
      <p:sp>
        <p:nvSpPr>
          <p:cNvPr id="12" name="Text 9"/>
          <p:cNvSpPr/>
          <p:nvPr/>
        </p:nvSpPr>
        <p:spPr>
          <a:xfrm>
            <a:off x="7818120" y="1572768"/>
            <a:ext cx="384048" cy="384048"/>
          </a:xfrm>
          <a:prstGeom prst="rect">
            <a:avLst/>
          </a:prstGeom>
          <a:solidFill>
            <a:srgbClr val="B50915"/>
          </a:solidFill>
          <a:ln>
            <a:solidFill>
              <a:srgbClr val="B50915"/>
            </a:solid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8293608" y="1554480"/>
            <a:ext cx="2862072" cy="228600"/>
          </a:xfrm>
          <a:prstGeom prst="rect">
            <a:avLst/>
          </a:prstGeom>
          <a:noFill/>
          <a:ln/>
        </p:spPr>
        <p:txBody>
          <a:bodyPr wrap="square" lIns="0" tIns="0" rIns="0" bIns="0" rtlCol="0" anchor="ctr">
            <a:normAutofit/>
          </a:bodyPr>
          <a:lstStyle/>
          <a:p>
            <a:pPr marL="0" indent="0">
              <a:buNone/>
            </a:pPr>
            <a:r>
              <a:rPr lang="en-US" sz="1250" b="1" dirty="0">
                <a:solidFill>
                  <a:srgbClr val="1F2328"/>
                </a:solidFill>
                <a:latin typeface="Arial" pitchFamily="34" charset="0"/>
                <a:ea typeface="Arial" pitchFamily="34" charset="-122"/>
                <a:cs typeface="Arial" pitchFamily="34" charset="-120"/>
              </a:rPr>
              <a:t>Nhập định danh</a:t>
            </a:r>
            <a:endParaRPr lang="en-US" sz="1250" dirty="0"/>
          </a:p>
        </p:txBody>
      </p:sp>
      <p:sp>
        <p:nvSpPr>
          <p:cNvPr id="14" name="Text 11"/>
          <p:cNvSpPr/>
          <p:nvPr/>
        </p:nvSpPr>
        <p:spPr>
          <a:xfrm>
            <a:off x="8293608" y="1801368"/>
            <a:ext cx="2862072" cy="393192"/>
          </a:xfrm>
          <a:prstGeom prst="rect">
            <a:avLst/>
          </a:prstGeom>
          <a:noFill/>
          <a:ln/>
        </p:spPr>
        <p:txBody>
          <a:bodyPr wrap="square" lIns="0" tIns="0" rIns="0" bIns="0" rtlCol="0" anchor="ctr">
            <a:normAutofit/>
          </a:bodyPr>
          <a:lstStyle/>
          <a:p>
            <a:pPr marL="0" indent="0">
              <a:buNone/>
            </a:pPr>
            <a:r>
              <a:rPr lang="en-US" sz="970" dirty="0">
                <a:solidFill>
                  <a:srgbClr val="5B616E"/>
                </a:solidFill>
                <a:latin typeface="Arial" pitchFamily="34" charset="0"/>
                <a:ea typeface="Arial" pitchFamily="34" charset="-122"/>
                <a:cs typeface="Arial" pitchFamily="34" charset="-120"/>
              </a:rPr>
              <a:t>Số điện thoại + mật khẩu</a:t>
            </a:r>
            <a:endParaRPr lang="en-US" sz="970" dirty="0"/>
          </a:p>
        </p:txBody>
      </p:sp>
      <p:sp>
        <p:nvSpPr>
          <p:cNvPr id="15" name="Text 12"/>
          <p:cNvSpPr/>
          <p:nvPr/>
        </p:nvSpPr>
        <p:spPr>
          <a:xfrm>
            <a:off x="7818120" y="2377440"/>
            <a:ext cx="384048" cy="384048"/>
          </a:xfrm>
          <a:prstGeom prst="rect">
            <a:avLst/>
          </a:prstGeom>
          <a:solidFill>
            <a:srgbClr val="B50915"/>
          </a:solidFill>
          <a:ln>
            <a:solidFill>
              <a:srgbClr val="B50915"/>
            </a:solid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3"/>
          <p:cNvSpPr/>
          <p:nvPr/>
        </p:nvSpPr>
        <p:spPr>
          <a:xfrm>
            <a:off x="8293608" y="2359152"/>
            <a:ext cx="2862072" cy="228600"/>
          </a:xfrm>
          <a:prstGeom prst="rect">
            <a:avLst/>
          </a:prstGeom>
          <a:noFill/>
          <a:ln/>
        </p:spPr>
        <p:txBody>
          <a:bodyPr wrap="square" lIns="0" tIns="0" rIns="0" bIns="0" rtlCol="0" anchor="ctr">
            <a:normAutofit/>
          </a:bodyPr>
          <a:lstStyle/>
          <a:p>
            <a:pPr marL="0" indent="0">
              <a:buNone/>
            </a:pPr>
            <a:r>
              <a:rPr lang="en-US" sz="1250" b="1" dirty="0">
                <a:solidFill>
                  <a:srgbClr val="1F2328"/>
                </a:solidFill>
                <a:latin typeface="Arial" pitchFamily="34" charset="0"/>
                <a:ea typeface="Arial" pitchFamily="34" charset="-122"/>
                <a:cs typeface="Arial" pitchFamily="34" charset="-120"/>
              </a:rPr>
              <a:t>Kiểm tra CSDL</a:t>
            </a:r>
            <a:endParaRPr lang="en-US" sz="1250" dirty="0"/>
          </a:p>
        </p:txBody>
      </p:sp>
      <p:sp>
        <p:nvSpPr>
          <p:cNvPr id="17" name="Text 14"/>
          <p:cNvSpPr/>
          <p:nvPr/>
        </p:nvSpPr>
        <p:spPr>
          <a:xfrm>
            <a:off x="8293608" y="2606040"/>
            <a:ext cx="2862072" cy="393192"/>
          </a:xfrm>
          <a:prstGeom prst="rect">
            <a:avLst/>
          </a:prstGeom>
          <a:noFill/>
          <a:ln/>
        </p:spPr>
        <p:txBody>
          <a:bodyPr wrap="square" lIns="0" tIns="0" rIns="0" bIns="0" rtlCol="0" anchor="ctr">
            <a:normAutofit/>
          </a:bodyPr>
          <a:lstStyle/>
          <a:p>
            <a:pPr marL="0" indent="0">
              <a:buNone/>
            </a:pPr>
            <a:r>
              <a:rPr lang="en-US" sz="970" dirty="0">
                <a:solidFill>
                  <a:srgbClr val="5B616E"/>
                </a:solidFill>
                <a:latin typeface="Arial" pitchFamily="34" charset="0"/>
                <a:ea typeface="Arial" pitchFamily="34" charset="-122"/>
                <a:cs typeface="Arial" pitchFamily="34" charset="-120"/>
              </a:rPr>
              <a:t>Đối chiếu tài khoản và mật khẩu</a:t>
            </a:r>
            <a:endParaRPr lang="en-US" sz="970" dirty="0"/>
          </a:p>
        </p:txBody>
      </p:sp>
      <p:sp>
        <p:nvSpPr>
          <p:cNvPr id="18" name="Text 15"/>
          <p:cNvSpPr/>
          <p:nvPr/>
        </p:nvSpPr>
        <p:spPr>
          <a:xfrm>
            <a:off x="7818120" y="3182112"/>
            <a:ext cx="384048" cy="384048"/>
          </a:xfrm>
          <a:prstGeom prst="rect">
            <a:avLst/>
          </a:prstGeom>
          <a:solidFill>
            <a:srgbClr val="B50915"/>
          </a:solidFill>
          <a:ln>
            <a:solidFill>
              <a:srgbClr val="B50915"/>
            </a:solid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Text 16"/>
          <p:cNvSpPr/>
          <p:nvPr/>
        </p:nvSpPr>
        <p:spPr>
          <a:xfrm>
            <a:off x="8293608" y="3163824"/>
            <a:ext cx="2862072" cy="228600"/>
          </a:xfrm>
          <a:prstGeom prst="rect">
            <a:avLst/>
          </a:prstGeom>
          <a:noFill/>
          <a:ln/>
        </p:spPr>
        <p:txBody>
          <a:bodyPr wrap="square" lIns="0" tIns="0" rIns="0" bIns="0" rtlCol="0" anchor="ctr">
            <a:normAutofit/>
          </a:bodyPr>
          <a:lstStyle/>
          <a:p>
            <a:pPr marL="0" indent="0">
              <a:buNone/>
            </a:pPr>
            <a:r>
              <a:rPr lang="en-US" sz="1250" b="1" dirty="0">
                <a:solidFill>
                  <a:srgbClr val="1F2328"/>
                </a:solidFill>
                <a:latin typeface="Arial" pitchFamily="34" charset="0"/>
                <a:ea typeface="Arial" pitchFamily="34" charset="-122"/>
                <a:cs typeface="Arial" pitchFamily="34" charset="-120"/>
              </a:rPr>
              <a:t>Phân quyền</a:t>
            </a:r>
            <a:endParaRPr lang="en-US" sz="1250" dirty="0"/>
          </a:p>
        </p:txBody>
      </p:sp>
      <p:sp>
        <p:nvSpPr>
          <p:cNvPr id="20" name="Text 17"/>
          <p:cNvSpPr/>
          <p:nvPr/>
        </p:nvSpPr>
        <p:spPr>
          <a:xfrm>
            <a:off x="8293608" y="3410712"/>
            <a:ext cx="2862072" cy="393192"/>
          </a:xfrm>
          <a:prstGeom prst="rect">
            <a:avLst/>
          </a:prstGeom>
          <a:noFill/>
          <a:ln/>
        </p:spPr>
        <p:txBody>
          <a:bodyPr wrap="square" lIns="0" tIns="0" rIns="0" bIns="0" rtlCol="0" anchor="ctr">
            <a:normAutofit/>
          </a:bodyPr>
          <a:lstStyle/>
          <a:p>
            <a:pPr marL="0" indent="0">
              <a:buNone/>
            </a:pPr>
            <a:r>
              <a:rPr lang="en-US" sz="970" dirty="0">
                <a:solidFill>
                  <a:srgbClr val="5B616E"/>
                </a:solidFill>
                <a:latin typeface="Arial" pitchFamily="34" charset="0"/>
                <a:ea typeface="Arial" pitchFamily="34" charset="-122"/>
                <a:cs typeface="Arial" pitchFamily="34" charset="-120"/>
              </a:rPr>
              <a:t>Admin / Bưu tá / Cư dân</a:t>
            </a:r>
            <a:endParaRPr lang="en-US" sz="970" dirty="0"/>
          </a:p>
        </p:txBody>
      </p:sp>
      <p:sp>
        <p:nvSpPr>
          <p:cNvPr id="21" name="Text 18"/>
          <p:cNvSpPr/>
          <p:nvPr/>
        </p:nvSpPr>
        <p:spPr>
          <a:xfrm>
            <a:off x="7818120" y="3986784"/>
            <a:ext cx="384048" cy="384048"/>
          </a:xfrm>
          <a:prstGeom prst="rect">
            <a:avLst/>
          </a:prstGeom>
          <a:solidFill>
            <a:srgbClr val="B50915"/>
          </a:solidFill>
          <a:ln>
            <a:solidFill>
              <a:srgbClr val="B50915"/>
            </a:solid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2" name="Text 19"/>
          <p:cNvSpPr/>
          <p:nvPr/>
        </p:nvSpPr>
        <p:spPr>
          <a:xfrm>
            <a:off x="8293608" y="3968496"/>
            <a:ext cx="2862072" cy="228600"/>
          </a:xfrm>
          <a:prstGeom prst="rect">
            <a:avLst/>
          </a:prstGeom>
          <a:noFill/>
          <a:ln/>
        </p:spPr>
        <p:txBody>
          <a:bodyPr wrap="square" lIns="0" tIns="0" rIns="0" bIns="0" rtlCol="0" anchor="ctr">
            <a:normAutofit/>
          </a:bodyPr>
          <a:lstStyle/>
          <a:p>
            <a:pPr marL="0" indent="0">
              <a:buNone/>
            </a:pPr>
            <a:r>
              <a:rPr lang="en-US" sz="1250" b="1" dirty="0">
                <a:solidFill>
                  <a:srgbClr val="1F2328"/>
                </a:solidFill>
                <a:latin typeface="Arial" pitchFamily="34" charset="0"/>
                <a:ea typeface="Arial" pitchFamily="34" charset="-122"/>
                <a:cs typeface="Arial" pitchFamily="34" charset="-120"/>
              </a:rPr>
              <a:t>Điều hướng</a:t>
            </a:r>
            <a:endParaRPr lang="en-US" sz="1250" dirty="0"/>
          </a:p>
        </p:txBody>
      </p:sp>
      <p:sp>
        <p:nvSpPr>
          <p:cNvPr id="23" name="Text 20"/>
          <p:cNvSpPr/>
          <p:nvPr/>
        </p:nvSpPr>
        <p:spPr>
          <a:xfrm>
            <a:off x="8293608" y="4215384"/>
            <a:ext cx="2862072" cy="393192"/>
          </a:xfrm>
          <a:prstGeom prst="rect">
            <a:avLst/>
          </a:prstGeom>
          <a:noFill/>
          <a:ln/>
        </p:spPr>
        <p:txBody>
          <a:bodyPr wrap="square" lIns="0" tIns="0" rIns="0" bIns="0" rtlCol="0" anchor="ctr">
            <a:normAutofit/>
          </a:bodyPr>
          <a:lstStyle/>
          <a:p>
            <a:pPr marL="0" indent="0">
              <a:buNone/>
            </a:pPr>
            <a:r>
              <a:rPr lang="en-US" sz="970" dirty="0">
                <a:solidFill>
                  <a:srgbClr val="5B616E"/>
                </a:solidFill>
                <a:latin typeface="Arial" pitchFamily="34" charset="0"/>
                <a:ea typeface="Arial" pitchFamily="34" charset="-122"/>
                <a:cs typeface="Arial" pitchFamily="34" charset="-120"/>
              </a:rPr>
              <a:t>Dashboard / giao hàng / nhận hàng</a:t>
            </a:r>
            <a:endParaRPr lang="en-US" sz="970" dirty="0"/>
          </a:p>
        </p:txBody>
      </p:sp>
      <p:sp>
        <p:nvSpPr>
          <p:cNvPr id="24" name="Text 21"/>
          <p:cNvSpPr/>
          <p:nvPr/>
        </p:nvSpPr>
        <p:spPr>
          <a:xfrm>
            <a:off x="7818120" y="4983480"/>
            <a:ext cx="3246120" cy="594360"/>
          </a:xfrm>
          <a:prstGeom prst="rect">
            <a:avLst/>
          </a:prstGeom>
          <a:noFill/>
          <a:ln/>
        </p:spPr>
        <p:txBody>
          <a:bodyPr wrap="square" lIns="762" tIns="762" rIns="762" bIns="762" rtlCol="0" anchor="t">
            <a:normAutofit lnSpcReduction="10000"/>
          </a:bodyPr>
          <a:lstStyle/>
          <a:p>
            <a:pPr marL="0" indent="0" algn="ctr">
              <a:buNone/>
            </a:pPr>
            <a:r>
              <a:rPr lang="en-US" sz="1350" b="1" dirty="0">
                <a:solidFill>
                  <a:srgbClr val="B50915"/>
                </a:solidFill>
                <a:latin typeface="Arial" pitchFamily="34" charset="0"/>
                <a:ea typeface="Arial" pitchFamily="34" charset="-122"/>
                <a:cs typeface="Arial" pitchFamily="34" charset="-120"/>
              </a:rPr>
              <a:t>Vai trò thiết kế</a:t>
            </a:r>
            <a:r>
              <a:rPr lang="en-US" sz="1350" b="1">
                <a:solidFill>
                  <a:srgbClr val="B50915"/>
                </a:solidFill>
                <a:latin typeface="Arial" pitchFamily="34" charset="0"/>
                <a:ea typeface="Arial" pitchFamily="34" charset="-122"/>
                <a:cs typeface="Arial" pitchFamily="34" charset="-120"/>
              </a:rPr>
              <a:t>: là </a:t>
            </a:r>
            <a:r>
              <a:rPr lang="en-US" sz="1350" b="1" dirty="0">
                <a:solidFill>
                  <a:srgbClr val="B50915"/>
                </a:solidFill>
                <a:latin typeface="Arial" pitchFamily="34" charset="0"/>
                <a:ea typeface="Arial" pitchFamily="34" charset="-122"/>
                <a:cs typeface="Arial" pitchFamily="34" charset="-120"/>
              </a:rPr>
              <a:t>use case nền cho toàn bộ hệ thống, quyết định chức năng được mở sau đăng nhập.</a:t>
            </a:r>
            <a:endParaRPr lang="en-US" sz="1350" dirty="0"/>
          </a:p>
        </p:txBody>
      </p:sp>
      <p:sp>
        <p:nvSpPr>
          <p:cNvPr id="25" name="Shape 22"/>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26" name="Text 23"/>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27" name="Text 24"/>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08</a:t>
            </a:r>
            <a:endParaRPr lang="en-US" sz="1000" dirty="0"/>
          </a:p>
        </p:txBody>
      </p:sp>
      <p:sp>
        <p:nvSpPr>
          <p:cNvPr id="29" name="Text 5">
            <a:extLst>
              <a:ext uri="{FF2B5EF4-FFF2-40B4-BE49-F238E27FC236}">
                <a16:creationId xmlns:a16="http://schemas.microsoft.com/office/drawing/2014/main" id="{B968CAA7-F06A-325D-7D79-67DC06C2CE70}"/>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 KHẢO SÁT HIỆN TRẠNG VÀ MÔ TẢ NGHIỆP VỤ</a:t>
            </a:r>
          </a:p>
          <a:p>
            <a:pPr marL="0" indent="0">
              <a:buNone/>
            </a:pPr>
            <a:r>
              <a:rPr lang="en-US" sz="1200" b="1">
                <a:solidFill>
                  <a:srgbClr val="B50915"/>
                </a:solidFill>
                <a:latin typeface="Arial" pitchFamily="34" charset="0"/>
                <a:cs typeface="Arial" pitchFamily="34" charset="-120"/>
              </a:rPr>
              <a:t>1.2 Mô tả nghiệp vụ</a:t>
            </a:r>
            <a:endParaRPr lang="en-US" sz="1200" dirty="0"/>
          </a:p>
        </p:txBody>
      </p:sp>
      <p:pic>
        <p:nvPicPr>
          <p:cNvPr id="30" name="Hình ảnh 29" descr="Ảnh có chứa văn bản, ảnh chụp màn hình, biểu đồ, hàng">
            <a:extLst>
              <a:ext uri="{FF2B5EF4-FFF2-40B4-BE49-F238E27FC236}">
                <a16:creationId xmlns:a16="http://schemas.microsoft.com/office/drawing/2014/main" id="{ECB37542-BFDD-581E-8E2E-AD3EF87EEC91}"/>
              </a:ext>
            </a:extLst>
          </p:cNvPr>
          <p:cNvPicPr>
            <a:picLocks noChangeAspect="1"/>
          </p:cNvPicPr>
          <p:nvPr/>
        </p:nvPicPr>
        <p:blipFill>
          <a:blip r:embed="rId3"/>
          <a:stretch>
            <a:fillRect/>
          </a:stretch>
        </p:blipFill>
        <p:spPr>
          <a:xfrm>
            <a:off x="972330" y="1232484"/>
            <a:ext cx="6062888" cy="515002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305"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a:t>
            </a:r>
            <a:endParaRPr lang="en-US" sz="750" dirty="0"/>
          </a:p>
        </p:txBody>
      </p:sp>
      <p:sp>
        <p:nvSpPr>
          <p:cNvPr id="8" name="Text 6"/>
          <p:cNvSpPr/>
          <p:nvPr/>
        </p:nvSpPr>
        <p:spPr>
          <a:xfrm>
            <a:off x="502920" y="530352"/>
            <a:ext cx="8961120" cy="512064"/>
          </a:xfrm>
          <a:prstGeom prst="rect">
            <a:avLst/>
          </a:prstGeom>
          <a:noFill/>
          <a:ln/>
        </p:spPr>
        <p:txBody>
          <a:bodyPr wrap="square" lIns="0" tIns="0" rIns="0" bIns="0" rtlCol="0" anchor="ctr">
            <a:normAutofit fontScale="92500"/>
          </a:bodyPr>
          <a:lstStyle/>
          <a:p>
            <a:pPr marL="0" indent="0">
              <a:buNone/>
            </a:pPr>
            <a:r>
              <a:rPr lang="en-US" sz="2400" b="1" dirty="0">
                <a:solidFill>
                  <a:srgbClr val="1F2328"/>
                </a:solidFill>
                <a:latin typeface="Arial" pitchFamily="34" charset="0"/>
                <a:ea typeface="Arial" pitchFamily="34" charset="-122"/>
                <a:cs typeface="Arial" pitchFamily="34" charset="-120"/>
              </a:rPr>
              <a:t>Nghiệp vụ 2</a:t>
            </a:r>
            <a:r>
              <a:rPr lang="en-US" sz="2400" b="1">
                <a:solidFill>
                  <a:srgbClr val="1F2328"/>
                </a:solidFill>
                <a:latin typeface="Arial" pitchFamily="34" charset="0"/>
                <a:ea typeface="Arial" pitchFamily="34" charset="-122"/>
                <a:cs typeface="Arial" pitchFamily="34" charset="-120"/>
              </a:rPr>
              <a:t>: </a:t>
            </a:r>
            <a:r>
              <a:rPr lang="vi-VN" sz="2400" b="1">
                <a:solidFill>
                  <a:srgbClr val="1F2328"/>
                </a:solidFill>
                <a:latin typeface="Arial" pitchFamily="34" charset="0"/>
                <a:ea typeface="Arial" pitchFamily="34" charset="-122"/>
                <a:cs typeface="Arial" pitchFamily="34" charset="-120"/>
              </a:rPr>
              <a:t>Bưu tá Giao hàng Thương mại Điện tử (Cất hàng)</a:t>
            </a:r>
            <a:endParaRPr lang="en-US" sz="2400" dirty="0"/>
          </a:p>
        </p:txBody>
      </p:sp>
      <p:sp>
        <p:nvSpPr>
          <p:cNvPr id="9" name="Shape 7"/>
          <p:cNvSpPr/>
          <p:nvPr/>
        </p:nvSpPr>
        <p:spPr>
          <a:xfrm>
            <a:off x="502920" y="1133856"/>
            <a:ext cx="1188720" cy="0"/>
          </a:xfrm>
          <a:prstGeom prst="line">
            <a:avLst/>
          </a:prstGeom>
          <a:noFill/>
          <a:ln w="27940">
            <a:solidFill>
              <a:srgbClr val="B50915"/>
            </a:solidFill>
            <a:prstDash val="solid"/>
          </a:ln>
        </p:spPr>
        <p:txBody>
          <a:bodyPr/>
          <a:lstStyle/>
          <a:p>
            <a:endParaRPr lang="vi-VN"/>
          </a:p>
        </p:txBody>
      </p:sp>
      <p:sp>
        <p:nvSpPr>
          <p:cNvPr id="12" name="Text 9"/>
          <p:cNvSpPr/>
          <p:nvPr/>
        </p:nvSpPr>
        <p:spPr>
          <a:xfrm>
            <a:off x="7479792" y="1554480"/>
            <a:ext cx="571500"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Chọn trạm</a:t>
            </a:r>
            <a:endParaRPr lang="en-US" sz="1050" dirty="0"/>
          </a:p>
        </p:txBody>
      </p:sp>
      <p:sp>
        <p:nvSpPr>
          <p:cNvPr id="13" name="Shape 10"/>
          <p:cNvSpPr/>
          <p:nvPr/>
        </p:nvSpPr>
        <p:spPr>
          <a:xfrm>
            <a:off x="8069580" y="1837944"/>
            <a:ext cx="73152" cy="0"/>
          </a:xfrm>
          <a:prstGeom prst="line">
            <a:avLst/>
          </a:prstGeom>
          <a:noFill/>
          <a:ln w="17780">
            <a:solidFill>
              <a:srgbClr val="B50915"/>
            </a:solidFill>
            <a:prstDash val="solid"/>
            <a:headEnd type="none"/>
            <a:tailEnd type="triangle"/>
          </a:ln>
        </p:spPr>
        <p:txBody>
          <a:bodyPr/>
          <a:lstStyle/>
          <a:p>
            <a:endParaRPr lang="vi-VN"/>
          </a:p>
        </p:txBody>
      </p:sp>
      <p:sp>
        <p:nvSpPr>
          <p:cNvPr id="14" name="Text 11"/>
          <p:cNvSpPr/>
          <p:nvPr/>
        </p:nvSpPr>
        <p:spPr>
          <a:xfrm>
            <a:off x="8161020" y="1554480"/>
            <a:ext cx="571500"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Chọn ngăn</a:t>
            </a:r>
            <a:endParaRPr lang="en-US" sz="1050" dirty="0"/>
          </a:p>
        </p:txBody>
      </p:sp>
      <p:sp>
        <p:nvSpPr>
          <p:cNvPr id="15" name="Shape 12"/>
          <p:cNvSpPr/>
          <p:nvPr/>
        </p:nvSpPr>
        <p:spPr>
          <a:xfrm>
            <a:off x="8750808" y="1837944"/>
            <a:ext cx="73152" cy="0"/>
          </a:xfrm>
          <a:prstGeom prst="line">
            <a:avLst/>
          </a:prstGeom>
          <a:noFill/>
          <a:ln w="17780">
            <a:solidFill>
              <a:srgbClr val="B50915"/>
            </a:solidFill>
            <a:prstDash val="solid"/>
            <a:headEnd type="none"/>
            <a:tailEnd type="triangle"/>
          </a:ln>
        </p:spPr>
        <p:txBody>
          <a:bodyPr/>
          <a:lstStyle/>
          <a:p>
            <a:endParaRPr lang="vi-VN"/>
          </a:p>
        </p:txBody>
      </p:sp>
      <p:sp>
        <p:nvSpPr>
          <p:cNvPr id="16" name="Text 13"/>
          <p:cNvSpPr/>
          <p:nvPr/>
        </p:nvSpPr>
        <p:spPr>
          <a:xfrm>
            <a:off x="8842248" y="1554480"/>
            <a:ext cx="571500"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Nhập </a:t>
            </a:r>
            <a:r>
              <a:rPr lang="en-US" sz="1050" b="1">
                <a:solidFill>
                  <a:srgbClr val="1F2328"/>
                </a:solidFill>
                <a:latin typeface="Arial" pitchFamily="34" charset="0"/>
                <a:ea typeface="Arial" pitchFamily="34" charset="-122"/>
                <a:cs typeface="Arial" pitchFamily="34" charset="-120"/>
              </a:rPr>
              <a:t>SĐT/</a:t>
            </a:r>
          </a:p>
          <a:p>
            <a:pPr marL="0" indent="0" algn="ctr">
              <a:buNone/>
            </a:pPr>
            <a:r>
              <a:rPr lang="en-US" sz="1050" b="1">
                <a:solidFill>
                  <a:srgbClr val="1F2328"/>
                </a:solidFill>
                <a:latin typeface="Arial" pitchFamily="34" charset="0"/>
                <a:ea typeface="Arial" pitchFamily="34" charset="-122"/>
                <a:cs typeface="Arial" pitchFamily="34" charset="-120"/>
              </a:rPr>
              <a:t>COD</a:t>
            </a:r>
            <a:endParaRPr lang="en-US" sz="1050" dirty="0"/>
          </a:p>
        </p:txBody>
      </p:sp>
      <p:sp>
        <p:nvSpPr>
          <p:cNvPr id="17" name="Shape 14"/>
          <p:cNvSpPr/>
          <p:nvPr/>
        </p:nvSpPr>
        <p:spPr>
          <a:xfrm>
            <a:off x="9432036" y="1837944"/>
            <a:ext cx="73152" cy="0"/>
          </a:xfrm>
          <a:prstGeom prst="line">
            <a:avLst/>
          </a:prstGeom>
          <a:noFill/>
          <a:ln w="17780">
            <a:solidFill>
              <a:srgbClr val="B50915"/>
            </a:solidFill>
            <a:prstDash val="solid"/>
            <a:headEnd type="none"/>
            <a:tailEnd type="triangle"/>
          </a:ln>
        </p:spPr>
        <p:txBody>
          <a:bodyPr/>
          <a:lstStyle/>
          <a:p>
            <a:endParaRPr lang="vi-VN"/>
          </a:p>
        </p:txBody>
      </p:sp>
      <p:sp>
        <p:nvSpPr>
          <p:cNvPr id="18" name="Text 15"/>
          <p:cNvSpPr/>
          <p:nvPr/>
        </p:nvSpPr>
        <p:spPr>
          <a:xfrm>
            <a:off x="9523476" y="1554480"/>
            <a:ext cx="571500"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Mở chốt</a:t>
            </a:r>
            <a:endParaRPr lang="en-US" sz="1050" dirty="0"/>
          </a:p>
        </p:txBody>
      </p:sp>
      <p:sp>
        <p:nvSpPr>
          <p:cNvPr id="19" name="Shape 16"/>
          <p:cNvSpPr/>
          <p:nvPr/>
        </p:nvSpPr>
        <p:spPr>
          <a:xfrm>
            <a:off x="10113264" y="1837944"/>
            <a:ext cx="73152" cy="0"/>
          </a:xfrm>
          <a:prstGeom prst="line">
            <a:avLst/>
          </a:prstGeom>
          <a:noFill/>
          <a:ln w="17780">
            <a:solidFill>
              <a:srgbClr val="B50915"/>
            </a:solidFill>
            <a:prstDash val="solid"/>
            <a:headEnd type="none"/>
            <a:tailEnd type="triangle"/>
          </a:ln>
        </p:spPr>
        <p:txBody>
          <a:bodyPr/>
          <a:lstStyle/>
          <a:p>
            <a:endParaRPr lang="vi-VN"/>
          </a:p>
        </p:txBody>
      </p:sp>
      <p:sp>
        <p:nvSpPr>
          <p:cNvPr id="20" name="Text 17"/>
          <p:cNvSpPr/>
          <p:nvPr/>
        </p:nvSpPr>
        <p:spPr>
          <a:xfrm>
            <a:off x="10204704" y="1554480"/>
            <a:ext cx="571500"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Cất hàng</a:t>
            </a:r>
            <a:endParaRPr lang="en-US" sz="1050" dirty="0"/>
          </a:p>
        </p:txBody>
      </p:sp>
      <p:sp>
        <p:nvSpPr>
          <p:cNvPr id="21" name="Shape 18"/>
          <p:cNvSpPr/>
          <p:nvPr/>
        </p:nvSpPr>
        <p:spPr>
          <a:xfrm>
            <a:off x="10794492" y="1837944"/>
            <a:ext cx="73152" cy="0"/>
          </a:xfrm>
          <a:prstGeom prst="line">
            <a:avLst/>
          </a:prstGeom>
          <a:noFill/>
          <a:ln w="17780">
            <a:solidFill>
              <a:srgbClr val="B50915"/>
            </a:solidFill>
            <a:prstDash val="solid"/>
            <a:headEnd type="none"/>
            <a:tailEnd type="triangle"/>
          </a:ln>
        </p:spPr>
        <p:txBody>
          <a:bodyPr/>
          <a:lstStyle/>
          <a:p>
            <a:endParaRPr lang="vi-VN"/>
          </a:p>
        </p:txBody>
      </p:sp>
      <p:sp>
        <p:nvSpPr>
          <p:cNvPr id="22" name="Text 19"/>
          <p:cNvSpPr/>
          <p:nvPr/>
        </p:nvSpPr>
        <p:spPr>
          <a:xfrm>
            <a:off x="10885932" y="1554480"/>
            <a:ext cx="571500"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Sinh OTP</a:t>
            </a:r>
            <a:endParaRPr lang="en-US" sz="1050" dirty="0"/>
          </a:p>
        </p:txBody>
      </p:sp>
      <p:sp>
        <p:nvSpPr>
          <p:cNvPr id="23" name="Text 20"/>
          <p:cNvSpPr/>
          <p:nvPr/>
        </p:nvSpPr>
        <p:spPr>
          <a:xfrm>
            <a:off x="7543800" y="2834640"/>
            <a:ext cx="3703320" cy="2103120"/>
          </a:xfrm>
          <a:prstGeom prst="rect">
            <a:avLst/>
          </a:prstGeom>
          <a:noFill/>
          <a:ln/>
        </p:spPr>
        <p:txBody>
          <a:bodyPr wrap="square" lIns="635" tIns="635" rIns="635" bIns="635" rtlCol="0" anchor="t">
            <a:normAutofit lnSpcReduction="10000"/>
          </a:bodyPr>
          <a:lstStyle/>
          <a:p>
            <a:r>
              <a:rPr lang="en-US" sz="1350" dirty="0">
                <a:solidFill>
                  <a:srgbClr val="1F2328"/>
                </a:solidFill>
                <a:latin typeface="Arial" pitchFamily="34" charset="0"/>
                <a:ea typeface="Arial" pitchFamily="34" charset="-122"/>
                <a:cs typeface="Arial" pitchFamily="34" charset="-120"/>
              </a:rPr>
              <a:t>Hệ thống truy vấn ngăn trống theo kích thước S/M/L theo thời gian thực.
</a:t>
            </a:r>
            <a:endParaRPr lang="en-US" sz="1350" dirty="0"/>
          </a:p>
          <a:p>
            <a:r>
              <a:rPr lang="en-US" sz="1350" dirty="0">
                <a:solidFill>
                  <a:srgbClr val="1F2328"/>
                </a:solidFill>
                <a:latin typeface="Arial" pitchFamily="34" charset="0"/>
                <a:ea typeface="Arial" pitchFamily="34" charset="-122"/>
                <a:cs typeface="Arial" pitchFamily="34" charset="-120"/>
              </a:rPr>
              <a:t>Giao dịch mới được tạo ở trạng thái “Chờ nhận hàng”.
</a:t>
            </a:r>
            <a:endParaRPr lang="en-US" sz="1350" dirty="0"/>
          </a:p>
          <a:p>
            <a:r>
              <a:rPr lang="en-US" sz="1350" dirty="0">
                <a:solidFill>
                  <a:srgbClr val="1F2328"/>
                </a:solidFill>
                <a:latin typeface="Arial" pitchFamily="34" charset="0"/>
                <a:ea typeface="Arial" pitchFamily="34" charset="-122"/>
                <a:cs typeface="Arial" pitchFamily="34" charset="-120"/>
              </a:rPr>
              <a:t>Khi cửa đóng, hệ thống ghi ThoiGianGui và gửi OTP/QR cho cư dân.
</a:t>
            </a:r>
            <a:endParaRPr lang="en-US" sz="1350" dirty="0"/>
          </a:p>
          <a:p>
            <a:r>
              <a:rPr lang="en-US" sz="1350" dirty="0">
                <a:solidFill>
                  <a:srgbClr val="1F2328"/>
                </a:solidFill>
                <a:latin typeface="Arial" pitchFamily="34" charset="0"/>
                <a:ea typeface="Arial" pitchFamily="34" charset="-122"/>
                <a:cs typeface="Arial" pitchFamily="34" charset="-120"/>
              </a:rPr>
              <a:t>Ngăn tủ được chuyển từ “Trống” sang “Đang sử dụng”.</a:t>
            </a:r>
            <a:endParaRPr lang="en-US" sz="1350" dirty="0"/>
          </a:p>
        </p:txBody>
      </p:sp>
      <p:sp>
        <p:nvSpPr>
          <p:cNvPr id="24" name="Shape 21"/>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25" name="Text 22"/>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26" name="Text 23"/>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09</a:t>
            </a:r>
            <a:endParaRPr lang="en-US" sz="1000" dirty="0"/>
          </a:p>
        </p:txBody>
      </p:sp>
      <p:pic>
        <p:nvPicPr>
          <p:cNvPr id="27" name="Hình ảnh 26" descr="Ảnh có chứa văn bản, ảnh chụp màn hình, biểu đồ, Song song">
            <a:extLst>
              <a:ext uri="{FF2B5EF4-FFF2-40B4-BE49-F238E27FC236}">
                <a16:creationId xmlns:a16="http://schemas.microsoft.com/office/drawing/2014/main" id="{1FF63654-D2C4-8A99-D3EC-783044B8177D}"/>
              </a:ext>
            </a:extLst>
          </p:cNvPr>
          <p:cNvPicPr>
            <a:picLocks noChangeAspect="1"/>
          </p:cNvPicPr>
          <p:nvPr/>
        </p:nvPicPr>
        <p:blipFill>
          <a:blip r:embed="rId3"/>
          <a:stretch>
            <a:fillRect/>
          </a:stretch>
        </p:blipFill>
        <p:spPr>
          <a:xfrm>
            <a:off x="908304" y="1204616"/>
            <a:ext cx="6189182" cy="5232761"/>
          </a:xfrm>
          <a:prstGeom prst="rect">
            <a:avLst/>
          </a:prstGeom>
        </p:spPr>
      </p:pic>
      <p:sp>
        <p:nvSpPr>
          <p:cNvPr id="28" name="Text 5">
            <a:extLst>
              <a:ext uri="{FF2B5EF4-FFF2-40B4-BE49-F238E27FC236}">
                <a16:creationId xmlns:a16="http://schemas.microsoft.com/office/drawing/2014/main" id="{D3737EC0-D4CA-57F6-3E5F-31CDC2B204C6}"/>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 KHẢO SÁT HIỆN TRẠNG VÀ MÔ TẢ NGHIỆP VỤ</a:t>
            </a:r>
          </a:p>
          <a:p>
            <a:pPr marL="0" indent="0">
              <a:buNone/>
            </a:pPr>
            <a:r>
              <a:rPr lang="en-US" sz="1200" b="1">
                <a:solidFill>
                  <a:srgbClr val="B50915"/>
                </a:solidFill>
                <a:latin typeface="Arial" pitchFamily="34" charset="0"/>
                <a:cs typeface="Arial" pitchFamily="34" charset="-120"/>
              </a:rPr>
              <a:t>1.2 Mô tả nghiệp vụ</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a:t>
            </a:r>
            <a:endParaRPr lang="en-US" sz="750" dirty="0"/>
          </a:p>
        </p:txBody>
      </p:sp>
      <p:sp>
        <p:nvSpPr>
          <p:cNvPr id="8" name="Text 6"/>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dirty="0">
                <a:solidFill>
                  <a:srgbClr val="1F2328"/>
                </a:solidFill>
                <a:latin typeface="Arial" pitchFamily="34" charset="0"/>
                <a:ea typeface="Arial" pitchFamily="34" charset="-122"/>
                <a:cs typeface="Arial" pitchFamily="34" charset="-120"/>
              </a:rPr>
              <a:t>Nghiệp vụ 3</a:t>
            </a:r>
            <a:r>
              <a:rPr lang="en-US" sz="2400" b="1">
                <a:solidFill>
                  <a:srgbClr val="1F2328"/>
                </a:solidFill>
                <a:latin typeface="Arial" pitchFamily="34" charset="0"/>
                <a:ea typeface="Arial" pitchFamily="34" charset="-122"/>
                <a:cs typeface="Arial" pitchFamily="34" charset="-120"/>
              </a:rPr>
              <a:t>: </a:t>
            </a:r>
            <a:r>
              <a:rPr lang="vi-VN" sz="2400" b="1">
                <a:solidFill>
                  <a:srgbClr val="1F2328"/>
                </a:solidFill>
                <a:latin typeface="Arial" pitchFamily="34" charset="0"/>
                <a:ea typeface="Arial" pitchFamily="34" charset="-122"/>
                <a:cs typeface="Arial" pitchFamily="34" charset="-120"/>
              </a:rPr>
              <a:t>Cư dân Nhận hàng và Thanh toán (Lấy hàng)</a:t>
            </a:r>
            <a:endParaRPr lang="en-US" sz="2400" dirty="0"/>
          </a:p>
        </p:txBody>
      </p:sp>
      <p:sp>
        <p:nvSpPr>
          <p:cNvPr id="9" name="Shape 7"/>
          <p:cNvSpPr/>
          <p:nvPr/>
        </p:nvSpPr>
        <p:spPr>
          <a:xfrm>
            <a:off x="502920" y="1133856"/>
            <a:ext cx="1188720" cy="0"/>
          </a:xfrm>
          <a:prstGeom prst="line">
            <a:avLst/>
          </a:prstGeom>
          <a:noFill/>
          <a:ln w="27940">
            <a:solidFill>
              <a:srgbClr val="B50915"/>
            </a:solidFill>
            <a:prstDash val="solid"/>
          </a:ln>
        </p:spPr>
        <p:txBody>
          <a:bodyPr/>
          <a:lstStyle/>
          <a:p>
            <a:endParaRPr lang="vi-VN"/>
          </a:p>
        </p:txBody>
      </p:sp>
      <p:sp>
        <p:nvSpPr>
          <p:cNvPr id="12" name="Text 9"/>
          <p:cNvSpPr/>
          <p:nvPr/>
        </p:nvSpPr>
        <p:spPr>
          <a:xfrm>
            <a:off x="7838923" y="1444752"/>
            <a:ext cx="3200400" cy="274320"/>
          </a:xfrm>
          <a:prstGeom prst="rect">
            <a:avLst/>
          </a:prstGeom>
          <a:noFill/>
          <a:ln/>
        </p:spPr>
        <p:txBody>
          <a:bodyPr wrap="square" lIns="762" tIns="762" rIns="762" bIns="762" rtlCol="0" anchor="t">
            <a:normAutofit/>
          </a:bodyPr>
          <a:lstStyle/>
          <a:p>
            <a:pPr marL="0" indent="0" algn="ctr">
              <a:buNone/>
            </a:pPr>
            <a:r>
              <a:rPr lang="en-US" sz="1400" b="1" dirty="0">
                <a:solidFill>
                  <a:srgbClr val="B50915"/>
                </a:solidFill>
                <a:latin typeface="Arial" pitchFamily="34" charset="0"/>
                <a:ea typeface="Arial" pitchFamily="34" charset="-122"/>
                <a:cs typeface="Arial" pitchFamily="34" charset="-120"/>
              </a:rPr>
              <a:t>Công thức quyết toán</a:t>
            </a:r>
            <a:endParaRPr lang="en-US" sz="1400" dirty="0"/>
          </a:p>
        </p:txBody>
      </p:sp>
      <p:sp>
        <p:nvSpPr>
          <p:cNvPr id="13" name="Text 10"/>
          <p:cNvSpPr/>
          <p:nvPr/>
        </p:nvSpPr>
        <p:spPr>
          <a:xfrm>
            <a:off x="7635240" y="1828800"/>
            <a:ext cx="3827262" cy="502920"/>
          </a:xfrm>
          <a:prstGeom prst="rect">
            <a:avLst/>
          </a:prstGeom>
          <a:solidFill>
            <a:srgbClr val="FFFFFF"/>
          </a:solidFill>
          <a:ln w="13970">
            <a:solidFill>
              <a:srgbClr val="B50915"/>
            </a:solidFill>
          </a:ln>
        </p:spPr>
        <p:txBody>
          <a:bodyPr wrap="square" lIns="635" tIns="635" rIns="635" bIns="635" rtlCol="0" anchor="ctr">
            <a:normAutofit/>
          </a:bodyPr>
          <a:lstStyle/>
          <a:p>
            <a:pPr marL="0" indent="0" algn="ctr">
              <a:buNone/>
            </a:pPr>
            <a:r>
              <a:rPr lang="en-US" sz="1600" b="1" dirty="0">
                <a:solidFill>
                  <a:srgbClr val="1F2328"/>
                </a:solidFill>
                <a:latin typeface="Arial" pitchFamily="34" charset="0"/>
                <a:ea typeface="Arial" pitchFamily="34" charset="-122"/>
                <a:cs typeface="Arial" pitchFamily="34" charset="-120"/>
              </a:rPr>
              <a:t>Tổng tiền = COD + Phí lưu bãi quá hạn</a:t>
            </a:r>
            <a:endParaRPr lang="en-US" sz="1600" dirty="0"/>
          </a:p>
        </p:txBody>
      </p:sp>
      <p:sp>
        <p:nvSpPr>
          <p:cNvPr id="14" name="Text 11"/>
          <p:cNvSpPr/>
          <p:nvPr/>
        </p:nvSpPr>
        <p:spPr>
          <a:xfrm>
            <a:off x="7543800" y="2788920"/>
            <a:ext cx="3749040" cy="2148840"/>
          </a:xfrm>
          <a:prstGeom prst="rect">
            <a:avLst/>
          </a:prstGeom>
          <a:noFill/>
          <a:ln/>
        </p:spPr>
        <p:txBody>
          <a:bodyPr wrap="square" lIns="635" tIns="635" rIns="635" bIns="635" rtlCol="0" anchor="t">
            <a:normAutofit/>
          </a:bodyPr>
          <a:lstStyle/>
          <a:p>
            <a:r>
              <a:rPr lang="en-US" sz="1350">
                <a:solidFill>
                  <a:srgbClr val="1F2328"/>
                </a:solidFill>
                <a:latin typeface="Arial" pitchFamily="34" charset="0"/>
                <a:ea typeface="Arial" pitchFamily="34" charset="-122"/>
                <a:cs typeface="Arial" pitchFamily="34" charset="-120"/>
              </a:rPr>
              <a:t>Mã OTP/QR hợp lệ mới được truy vấn giao dịch.
</a:t>
            </a:r>
            <a:endParaRPr lang="en-US" sz="1350"/>
          </a:p>
          <a:p>
            <a:r>
              <a:rPr lang="en-US" sz="1350">
                <a:solidFill>
                  <a:srgbClr val="1F2328"/>
                </a:solidFill>
                <a:latin typeface="Arial" pitchFamily="34" charset="0"/>
                <a:ea typeface="Arial" pitchFamily="34" charset="-122"/>
                <a:cs typeface="Arial" pitchFamily="34" charset="-120"/>
              </a:rPr>
              <a:t>Nếu phát sinh phí, hệ thống tạo QR thanh toán động.
</a:t>
            </a:r>
            <a:endParaRPr lang="en-US" sz="1350"/>
          </a:p>
          <a:p>
            <a:r>
              <a:rPr lang="en-US" sz="1350">
                <a:solidFill>
                  <a:srgbClr val="1F2328"/>
                </a:solidFill>
                <a:latin typeface="Arial" pitchFamily="34" charset="0"/>
                <a:ea typeface="Arial" pitchFamily="34" charset="-122"/>
                <a:cs typeface="Arial" pitchFamily="34" charset="-120"/>
              </a:rPr>
              <a:t>Webhook thanh toán thành công là điều kiện mở tủ.
</a:t>
            </a:r>
            <a:endParaRPr lang="en-US" sz="1350"/>
          </a:p>
          <a:p>
            <a:r>
              <a:rPr lang="en-US" sz="1350">
                <a:solidFill>
                  <a:srgbClr val="1F2328"/>
                </a:solidFill>
                <a:latin typeface="Arial" pitchFamily="34" charset="0"/>
                <a:ea typeface="Arial" pitchFamily="34" charset="-122"/>
                <a:cs typeface="Arial" pitchFamily="34" charset="-120"/>
              </a:rPr>
              <a:t>Hoàn tất: ngăn tủ về “Trống”, giao dịch “Đã nhận”.</a:t>
            </a:r>
            <a:endParaRPr lang="en-US" sz="1350" dirty="0"/>
          </a:p>
        </p:txBody>
      </p:sp>
      <p:sp>
        <p:nvSpPr>
          <p:cNvPr id="15" name="Shape 12"/>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16" name="Text 13"/>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17" name="Text 14"/>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10</a:t>
            </a:r>
            <a:endParaRPr lang="en-US" sz="1000" dirty="0"/>
          </a:p>
        </p:txBody>
      </p:sp>
      <p:sp>
        <p:nvSpPr>
          <p:cNvPr id="18" name="Text 5">
            <a:extLst>
              <a:ext uri="{FF2B5EF4-FFF2-40B4-BE49-F238E27FC236}">
                <a16:creationId xmlns:a16="http://schemas.microsoft.com/office/drawing/2014/main" id="{D764718F-369D-2180-F0B9-AD0BD96C3923}"/>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 KHẢO SÁT HIỆN TRẠNG VÀ MÔ TẢ NGHIỆP VỤ</a:t>
            </a:r>
          </a:p>
          <a:p>
            <a:pPr marL="0" indent="0">
              <a:buNone/>
            </a:pPr>
            <a:r>
              <a:rPr lang="en-US" sz="1200" b="1">
                <a:solidFill>
                  <a:srgbClr val="B50915"/>
                </a:solidFill>
                <a:latin typeface="Arial" pitchFamily="34" charset="0"/>
                <a:cs typeface="Arial" pitchFamily="34" charset="-120"/>
              </a:rPr>
              <a:t>1.2 Mô tả nghiệp vụ</a:t>
            </a:r>
            <a:endParaRPr lang="en-US" sz="1200" dirty="0"/>
          </a:p>
        </p:txBody>
      </p:sp>
      <p:pic>
        <p:nvPicPr>
          <p:cNvPr id="19" name="Hình ảnh 18" descr="Ảnh có chứa văn bản, ảnh chụp màn hình, biểu đồ, Phông chữ&#10;&#10;Mô tả được tạo tự động">
            <a:extLst>
              <a:ext uri="{FF2B5EF4-FFF2-40B4-BE49-F238E27FC236}">
                <a16:creationId xmlns:a16="http://schemas.microsoft.com/office/drawing/2014/main" id="{F84A4102-BC51-4FB5-AF40-1E24468620B8}"/>
              </a:ext>
            </a:extLst>
          </p:cNvPr>
          <p:cNvPicPr>
            <a:picLocks noChangeAspect="1"/>
          </p:cNvPicPr>
          <p:nvPr/>
        </p:nvPicPr>
        <p:blipFill>
          <a:blip r:embed="rId3"/>
          <a:stretch>
            <a:fillRect/>
          </a:stretch>
        </p:blipFill>
        <p:spPr>
          <a:xfrm>
            <a:off x="515765" y="1222037"/>
            <a:ext cx="6468074" cy="52153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a:t>
            </a:r>
            <a:endParaRPr lang="en-US" sz="750" dirty="0"/>
          </a:p>
        </p:txBody>
      </p:sp>
      <p:sp>
        <p:nvSpPr>
          <p:cNvPr id="8" name="Text 6"/>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dirty="0">
                <a:solidFill>
                  <a:srgbClr val="1F2328"/>
                </a:solidFill>
                <a:latin typeface="Arial" pitchFamily="34" charset="0"/>
                <a:ea typeface="Arial" pitchFamily="34" charset="-122"/>
                <a:cs typeface="Arial" pitchFamily="34" charset="-120"/>
              </a:rPr>
              <a:t>Nghiệp vụ 4</a:t>
            </a:r>
            <a:r>
              <a:rPr lang="en-US" sz="2400" b="1">
                <a:solidFill>
                  <a:srgbClr val="1F2328"/>
                </a:solidFill>
                <a:latin typeface="Arial" pitchFamily="34" charset="0"/>
                <a:ea typeface="Arial" pitchFamily="34" charset="-122"/>
                <a:cs typeface="Arial" pitchFamily="34" charset="-120"/>
              </a:rPr>
              <a:t>: </a:t>
            </a:r>
            <a:r>
              <a:rPr lang="vi-VN" sz="2400" b="1">
                <a:solidFill>
                  <a:srgbClr val="1F2328"/>
                </a:solidFill>
                <a:latin typeface="Arial" pitchFamily="34" charset="0"/>
                <a:ea typeface="Arial" pitchFamily="34" charset="-122"/>
                <a:cs typeface="Arial" pitchFamily="34" charset="-120"/>
              </a:rPr>
              <a:t>Cư dân Tự thuê tủ cá nhân (Home to Box)</a:t>
            </a:r>
            <a:endParaRPr lang="en-US" sz="2400" dirty="0"/>
          </a:p>
        </p:txBody>
      </p:sp>
      <p:sp>
        <p:nvSpPr>
          <p:cNvPr id="9" name="Shape 7"/>
          <p:cNvSpPr/>
          <p:nvPr/>
        </p:nvSpPr>
        <p:spPr>
          <a:xfrm>
            <a:off x="502920" y="1133856"/>
            <a:ext cx="1188720" cy="0"/>
          </a:xfrm>
          <a:prstGeom prst="line">
            <a:avLst/>
          </a:prstGeom>
          <a:noFill/>
          <a:ln w="27940">
            <a:solidFill>
              <a:srgbClr val="B50915"/>
            </a:solidFill>
            <a:prstDash val="solid"/>
          </a:ln>
        </p:spPr>
        <p:txBody>
          <a:bodyPr/>
          <a:lstStyle/>
          <a:p>
            <a:endParaRPr lang="vi-VN"/>
          </a:p>
        </p:txBody>
      </p:sp>
      <p:sp>
        <p:nvSpPr>
          <p:cNvPr id="12" name="Text 9"/>
          <p:cNvSpPr/>
          <p:nvPr/>
        </p:nvSpPr>
        <p:spPr>
          <a:xfrm>
            <a:off x="7726680" y="1554480"/>
            <a:ext cx="384048" cy="384048"/>
          </a:xfrm>
          <a:prstGeom prst="rect">
            <a:avLst/>
          </a:prstGeom>
          <a:solidFill>
            <a:srgbClr val="B50915"/>
          </a:solidFill>
          <a:ln>
            <a:solidFill>
              <a:srgbClr val="B50915"/>
            </a:solid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8202168" y="1536192"/>
            <a:ext cx="3044952" cy="228600"/>
          </a:xfrm>
          <a:prstGeom prst="rect">
            <a:avLst/>
          </a:prstGeom>
          <a:noFill/>
          <a:ln/>
        </p:spPr>
        <p:txBody>
          <a:bodyPr wrap="square" lIns="0" tIns="0" rIns="0" bIns="0" rtlCol="0" anchor="ctr">
            <a:normAutofit/>
          </a:bodyPr>
          <a:lstStyle/>
          <a:p>
            <a:pPr marL="0" indent="0">
              <a:buNone/>
            </a:pPr>
            <a:r>
              <a:rPr lang="en-US" sz="1250" b="1" dirty="0">
                <a:solidFill>
                  <a:srgbClr val="1F2328"/>
                </a:solidFill>
                <a:latin typeface="Arial" pitchFamily="34" charset="0"/>
                <a:ea typeface="Arial" pitchFamily="34" charset="-122"/>
                <a:cs typeface="Arial" pitchFamily="34" charset="-120"/>
              </a:rPr>
              <a:t>Chọn trạm &amp; ngăn</a:t>
            </a:r>
            <a:endParaRPr lang="en-US" sz="1250" dirty="0"/>
          </a:p>
        </p:txBody>
      </p:sp>
      <p:sp>
        <p:nvSpPr>
          <p:cNvPr id="14" name="Text 11"/>
          <p:cNvSpPr/>
          <p:nvPr/>
        </p:nvSpPr>
        <p:spPr>
          <a:xfrm>
            <a:off x="8202168" y="1783080"/>
            <a:ext cx="3044952" cy="393192"/>
          </a:xfrm>
          <a:prstGeom prst="rect">
            <a:avLst/>
          </a:prstGeom>
          <a:noFill/>
          <a:ln/>
        </p:spPr>
        <p:txBody>
          <a:bodyPr wrap="square" lIns="0" tIns="0" rIns="0" bIns="0" rtlCol="0" anchor="ctr">
            <a:normAutofit/>
          </a:bodyPr>
          <a:lstStyle/>
          <a:p>
            <a:pPr marL="0" indent="0">
              <a:buNone/>
            </a:pPr>
            <a:r>
              <a:rPr lang="en-US" sz="970" dirty="0">
                <a:solidFill>
                  <a:srgbClr val="5B616E"/>
                </a:solidFill>
                <a:latin typeface="Arial" pitchFamily="34" charset="0"/>
                <a:ea typeface="Arial" pitchFamily="34" charset="-122"/>
                <a:cs typeface="Arial" pitchFamily="34" charset="-120"/>
              </a:rPr>
              <a:t>Hiển thị ngăn trống, biểu phí</a:t>
            </a:r>
            <a:endParaRPr lang="en-US" sz="970" dirty="0"/>
          </a:p>
        </p:txBody>
      </p:sp>
      <p:sp>
        <p:nvSpPr>
          <p:cNvPr id="15" name="Text 12"/>
          <p:cNvSpPr/>
          <p:nvPr/>
        </p:nvSpPr>
        <p:spPr>
          <a:xfrm>
            <a:off x="7726680" y="2395728"/>
            <a:ext cx="384048" cy="384048"/>
          </a:xfrm>
          <a:prstGeom prst="rect">
            <a:avLst/>
          </a:prstGeom>
          <a:solidFill>
            <a:srgbClr val="B50915"/>
          </a:solidFill>
          <a:ln>
            <a:solidFill>
              <a:srgbClr val="B50915"/>
            </a:solid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3"/>
          <p:cNvSpPr/>
          <p:nvPr/>
        </p:nvSpPr>
        <p:spPr>
          <a:xfrm>
            <a:off x="8202168" y="2377440"/>
            <a:ext cx="3044952" cy="228600"/>
          </a:xfrm>
          <a:prstGeom prst="rect">
            <a:avLst/>
          </a:prstGeom>
          <a:noFill/>
          <a:ln/>
        </p:spPr>
        <p:txBody>
          <a:bodyPr wrap="square" lIns="0" tIns="0" rIns="0" bIns="0" rtlCol="0" anchor="ctr">
            <a:normAutofit/>
          </a:bodyPr>
          <a:lstStyle/>
          <a:p>
            <a:pPr marL="0" indent="0">
              <a:buNone/>
            </a:pPr>
            <a:r>
              <a:rPr lang="en-US" sz="1250" b="1" dirty="0">
                <a:solidFill>
                  <a:srgbClr val="1F2328"/>
                </a:solidFill>
                <a:latin typeface="Arial" pitchFamily="34" charset="0"/>
                <a:ea typeface="Arial" pitchFamily="34" charset="-122"/>
                <a:cs typeface="Arial" pitchFamily="34" charset="-120"/>
              </a:rPr>
              <a:t>Thanh toán phí thuê</a:t>
            </a:r>
            <a:endParaRPr lang="en-US" sz="1250" dirty="0"/>
          </a:p>
        </p:txBody>
      </p:sp>
      <p:sp>
        <p:nvSpPr>
          <p:cNvPr id="17" name="Text 14"/>
          <p:cNvSpPr/>
          <p:nvPr/>
        </p:nvSpPr>
        <p:spPr>
          <a:xfrm>
            <a:off x="8202168" y="2624328"/>
            <a:ext cx="3044952" cy="393192"/>
          </a:xfrm>
          <a:prstGeom prst="rect">
            <a:avLst/>
          </a:prstGeom>
          <a:noFill/>
          <a:ln/>
        </p:spPr>
        <p:txBody>
          <a:bodyPr wrap="square" lIns="0" tIns="0" rIns="0" bIns="0" rtlCol="0" anchor="ctr">
            <a:normAutofit/>
          </a:bodyPr>
          <a:lstStyle/>
          <a:p>
            <a:pPr marL="0" indent="0">
              <a:buNone/>
            </a:pPr>
            <a:r>
              <a:rPr lang="en-US" sz="970" dirty="0">
                <a:solidFill>
                  <a:srgbClr val="5B616E"/>
                </a:solidFill>
                <a:latin typeface="Arial" pitchFamily="34" charset="0"/>
                <a:ea typeface="Arial" pitchFamily="34" charset="-122"/>
                <a:cs typeface="Arial" pitchFamily="34" charset="-120"/>
              </a:rPr>
              <a:t>Tạo giao dịch tự thuê</a:t>
            </a:r>
            <a:endParaRPr lang="en-US" sz="970" dirty="0"/>
          </a:p>
        </p:txBody>
      </p:sp>
      <p:sp>
        <p:nvSpPr>
          <p:cNvPr id="18" name="Text 15"/>
          <p:cNvSpPr/>
          <p:nvPr/>
        </p:nvSpPr>
        <p:spPr>
          <a:xfrm>
            <a:off x="7726680" y="3236976"/>
            <a:ext cx="384048" cy="384048"/>
          </a:xfrm>
          <a:prstGeom prst="rect">
            <a:avLst/>
          </a:prstGeom>
          <a:solidFill>
            <a:srgbClr val="B50915"/>
          </a:solidFill>
          <a:ln>
            <a:solidFill>
              <a:srgbClr val="B50915"/>
            </a:solid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Text 16"/>
          <p:cNvSpPr/>
          <p:nvPr/>
        </p:nvSpPr>
        <p:spPr>
          <a:xfrm>
            <a:off x="8202168" y="3218688"/>
            <a:ext cx="3044952" cy="228600"/>
          </a:xfrm>
          <a:prstGeom prst="rect">
            <a:avLst/>
          </a:prstGeom>
          <a:noFill/>
          <a:ln/>
        </p:spPr>
        <p:txBody>
          <a:bodyPr wrap="square" lIns="0" tIns="0" rIns="0" bIns="0" rtlCol="0" anchor="ctr">
            <a:normAutofit/>
          </a:bodyPr>
          <a:lstStyle/>
          <a:p>
            <a:pPr marL="0" indent="0">
              <a:buNone/>
            </a:pPr>
            <a:r>
              <a:rPr lang="en-US" sz="1250" b="1" dirty="0">
                <a:solidFill>
                  <a:srgbClr val="1F2328"/>
                </a:solidFill>
                <a:latin typeface="Arial" pitchFamily="34" charset="0"/>
                <a:ea typeface="Arial" pitchFamily="34" charset="-122"/>
                <a:cs typeface="Arial" pitchFamily="34" charset="-120"/>
              </a:rPr>
              <a:t>Mở tủ &amp; cất đồ</a:t>
            </a:r>
            <a:endParaRPr lang="en-US" sz="1250" dirty="0"/>
          </a:p>
        </p:txBody>
      </p:sp>
      <p:sp>
        <p:nvSpPr>
          <p:cNvPr id="20" name="Text 17"/>
          <p:cNvSpPr/>
          <p:nvPr/>
        </p:nvSpPr>
        <p:spPr>
          <a:xfrm>
            <a:off x="8202168" y="3465576"/>
            <a:ext cx="3044952" cy="393192"/>
          </a:xfrm>
          <a:prstGeom prst="rect">
            <a:avLst/>
          </a:prstGeom>
          <a:noFill/>
          <a:ln/>
        </p:spPr>
        <p:txBody>
          <a:bodyPr wrap="square" lIns="0" tIns="0" rIns="0" bIns="0" rtlCol="0" anchor="ctr">
            <a:normAutofit/>
          </a:bodyPr>
          <a:lstStyle/>
          <a:p>
            <a:pPr marL="0" indent="0">
              <a:buNone/>
            </a:pPr>
            <a:r>
              <a:rPr lang="en-US" sz="970" dirty="0">
                <a:solidFill>
                  <a:srgbClr val="5B616E"/>
                </a:solidFill>
                <a:latin typeface="Arial" pitchFamily="34" charset="0"/>
                <a:ea typeface="Arial" pitchFamily="34" charset="-122"/>
                <a:cs typeface="Arial" pitchFamily="34" charset="-120"/>
              </a:rPr>
              <a:t>Cư dân đóng cửa xác nhận</a:t>
            </a:r>
            <a:endParaRPr lang="en-US" sz="970" dirty="0"/>
          </a:p>
        </p:txBody>
      </p:sp>
      <p:sp>
        <p:nvSpPr>
          <p:cNvPr id="21" name="Text 18"/>
          <p:cNvSpPr/>
          <p:nvPr/>
        </p:nvSpPr>
        <p:spPr>
          <a:xfrm>
            <a:off x="7726680" y="4078224"/>
            <a:ext cx="384048" cy="384048"/>
          </a:xfrm>
          <a:prstGeom prst="rect">
            <a:avLst/>
          </a:prstGeom>
          <a:solidFill>
            <a:srgbClr val="B50915"/>
          </a:solidFill>
          <a:ln>
            <a:solidFill>
              <a:srgbClr val="B50915"/>
            </a:solid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2" name="Text 19"/>
          <p:cNvSpPr/>
          <p:nvPr/>
        </p:nvSpPr>
        <p:spPr>
          <a:xfrm>
            <a:off x="8202168" y="4059936"/>
            <a:ext cx="3044952" cy="228600"/>
          </a:xfrm>
          <a:prstGeom prst="rect">
            <a:avLst/>
          </a:prstGeom>
          <a:noFill/>
          <a:ln/>
        </p:spPr>
        <p:txBody>
          <a:bodyPr wrap="square" lIns="0" tIns="0" rIns="0" bIns="0" rtlCol="0" anchor="ctr">
            <a:normAutofit/>
          </a:bodyPr>
          <a:lstStyle/>
          <a:p>
            <a:pPr marL="0" indent="0">
              <a:buNone/>
            </a:pPr>
            <a:r>
              <a:rPr lang="en-US" sz="1250" b="1" dirty="0">
                <a:solidFill>
                  <a:srgbClr val="1F2328"/>
                </a:solidFill>
                <a:latin typeface="Arial" pitchFamily="34" charset="0"/>
                <a:ea typeface="Arial" pitchFamily="34" charset="-122"/>
                <a:cs typeface="Arial" pitchFamily="34" charset="-120"/>
              </a:rPr>
              <a:t>Sinh OTP/QR</a:t>
            </a:r>
            <a:endParaRPr lang="en-US" sz="1250" dirty="0"/>
          </a:p>
        </p:txBody>
      </p:sp>
      <p:sp>
        <p:nvSpPr>
          <p:cNvPr id="23" name="Text 20"/>
          <p:cNvSpPr/>
          <p:nvPr/>
        </p:nvSpPr>
        <p:spPr>
          <a:xfrm>
            <a:off x="8202168" y="4306824"/>
            <a:ext cx="3044952" cy="393192"/>
          </a:xfrm>
          <a:prstGeom prst="rect">
            <a:avLst/>
          </a:prstGeom>
          <a:noFill/>
          <a:ln/>
        </p:spPr>
        <p:txBody>
          <a:bodyPr wrap="square" lIns="0" tIns="0" rIns="0" bIns="0" rtlCol="0" anchor="ctr">
            <a:normAutofit/>
          </a:bodyPr>
          <a:lstStyle/>
          <a:p>
            <a:pPr marL="0" indent="0">
              <a:buNone/>
            </a:pPr>
            <a:r>
              <a:rPr lang="en-US" sz="970" dirty="0">
                <a:solidFill>
                  <a:srgbClr val="5B616E"/>
                </a:solidFill>
                <a:latin typeface="Arial" pitchFamily="34" charset="0"/>
                <a:ea typeface="Arial" pitchFamily="34" charset="-122"/>
                <a:cs typeface="Arial" pitchFamily="34" charset="-120"/>
              </a:rPr>
              <a:t>Gửi mã cho người nhận</a:t>
            </a:r>
            <a:endParaRPr lang="en-US" sz="970" dirty="0"/>
          </a:p>
        </p:txBody>
      </p:sp>
      <p:sp>
        <p:nvSpPr>
          <p:cNvPr id="24" name="Text 21"/>
          <p:cNvSpPr/>
          <p:nvPr/>
        </p:nvSpPr>
        <p:spPr>
          <a:xfrm>
            <a:off x="7726680" y="5102352"/>
            <a:ext cx="3520440" cy="566928"/>
          </a:xfrm>
          <a:prstGeom prst="rect">
            <a:avLst/>
          </a:prstGeom>
          <a:noFill/>
          <a:ln/>
        </p:spPr>
        <p:txBody>
          <a:bodyPr wrap="square" lIns="762" tIns="762" rIns="762" bIns="762" rtlCol="0" anchor="t">
            <a:normAutofit lnSpcReduction="10000"/>
          </a:bodyPr>
          <a:lstStyle/>
          <a:p>
            <a:pPr marL="0" indent="0" algn="ctr">
              <a:buNone/>
            </a:pPr>
            <a:r>
              <a:rPr lang="en-US" sz="1330" b="1" dirty="0">
                <a:solidFill>
                  <a:srgbClr val="B50915"/>
                </a:solidFill>
                <a:latin typeface="Arial" pitchFamily="34" charset="0"/>
                <a:ea typeface="Arial" pitchFamily="34" charset="-122"/>
                <a:cs typeface="Arial" pitchFamily="34" charset="-120"/>
              </a:rPr>
              <a:t>Ý nghĩa: mở rộng Smartbox từ giao nhận TMĐT sang dịch vụ lưu trữ/gửi đồ cá nhân tại khu đô thị.</a:t>
            </a:r>
            <a:endParaRPr lang="en-US" sz="1330" dirty="0"/>
          </a:p>
        </p:txBody>
      </p:sp>
      <p:sp>
        <p:nvSpPr>
          <p:cNvPr id="25" name="Shape 22"/>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26" name="Text 23"/>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27" name="Text 24"/>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11</a:t>
            </a:r>
            <a:endParaRPr lang="en-US" sz="1000" dirty="0"/>
          </a:p>
        </p:txBody>
      </p:sp>
      <p:sp>
        <p:nvSpPr>
          <p:cNvPr id="28" name="Text 5">
            <a:extLst>
              <a:ext uri="{FF2B5EF4-FFF2-40B4-BE49-F238E27FC236}">
                <a16:creationId xmlns:a16="http://schemas.microsoft.com/office/drawing/2014/main" id="{1D8DC182-555A-749E-9A29-3792755DA80F}"/>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 KHẢO SÁT HIỆN TRẠNG VÀ MÔ TẢ NGHIỆP VỤ</a:t>
            </a:r>
          </a:p>
          <a:p>
            <a:pPr marL="0" indent="0">
              <a:buNone/>
            </a:pPr>
            <a:r>
              <a:rPr lang="en-US" sz="1200" b="1">
                <a:solidFill>
                  <a:srgbClr val="B50915"/>
                </a:solidFill>
                <a:latin typeface="Arial" pitchFamily="34" charset="0"/>
                <a:cs typeface="Arial" pitchFamily="34" charset="-120"/>
              </a:rPr>
              <a:t>1.2 Mô tả nghiệp vụ</a:t>
            </a:r>
            <a:endParaRPr lang="en-US" sz="1200" dirty="0"/>
          </a:p>
        </p:txBody>
      </p:sp>
      <p:pic>
        <p:nvPicPr>
          <p:cNvPr id="29" name="Hình ảnh 28" descr="Ảnh có chứa văn bản, ảnh chụp màn hình, biểu đồ, Song song">
            <a:extLst>
              <a:ext uri="{FF2B5EF4-FFF2-40B4-BE49-F238E27FC236}">
                <a16:creationId xmlns:a16="http://schemas.microsoft.com/office/drawing/2014/main" id="{0AC059E3-4194-B965-ED3B-A7A18A56EF14}"/>
              </a:ext>
            </a:extLst>
          </p:cNvPr>
          <p:cNvPicPr>
            <a:picLocks noChangeAspect="1"/>
          </p:cNvPicPr>
          <p:nvPr/>
        </p:nvPicPr>
        <p:blipFill>
          <a:blip r:embed="rId3"/>
          <a:stretch>
            <a:fillRect/>
          </a:stretch>
        </p:blipFill>
        <p:spPr>
          <a:xfrm>
            <a:off x="1300192" y="1172050"/>
            <a:ext cx="5112478" cy="533847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a:t>
            </a:r>
            <a:endParaRPr lang="en-US" sz="750" dirty="0"/>
          </a:p>
        </p:txBody>
      </p:sp>
      <p:sp>
        <p:nvSpPr>
          <p:cNvPr id="8" name="Text 6"/>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dirty="0">
                <a:solidFill>
                  <a:srgbClr val="1F2328"/>
                </a:solidFill>
                <a:latin typeface="Arial" pitchFamily="34" charset="0"/>
                <a:ea typeface="Arial" pitchFamily="34" charset="-122"/>
                <a:cs typeface="Arial" pitchFamily="34" charset="-120"/>
              </a:rPr>
              <a:t>Nghiệp vụ 5</a:t>
            </a:r>
            <a:r>
              <a:rPr lang="en-US" sz="2400" b="1">
                <a:solidFill>
                  <a:srgbClr val="1F2328"/>
                </a:solidFill>
                <a:latin typeface="Arial" pitchFamily="34" charset="0"/>
                <a:ea typeface="Arial" pitchFamily="34" charset="-122"/>
                <a:cs typeface="Arial" pitchFamily="34" charset="-120"/>
              </a:rPr>
              <a:t>: Quản trị viên (Admin) Cấu hình Biểu phí</a:t>
            </a:r>
            <a:endParaRPr lang="en-US" sz="2400" dirty="0"/>
          </a:p>
        </p:txBody>
      </p:sp>
      <p:sp>
        <p:nvSpPr>
          <p:cNvPr id="9" name="Shape 7"/>
          <p:cNvSpPr/>
          <p:nvPr/>
        </p:nvSpPr>
        <p:spPr>
          <a:xfrm>
            <a:off x="502920" y="1133856"/>
            <a:ext cx="1188720" cy="0"/>
          </a:xfrm>
          <a:prstGeom prst="line">
            <a:avLst/>
          </a:prstGeom>
          <a:noFill/>
          <a:ln w="27940">
            <a:solidFill>
              <a:srgbClr val="B50915"/>
            </a:solidFill>
            <a:prstDash val="solid"/>
          </a:ln>
        </p:spPr>
        <p:txBody>
          <a:bodyPr/>
          <a:lstStyle/>
          <a:p>
            <a:endParaRPr lang="vi-VN"/>
          </a:p>
        </p:txBody>
      </p:sp>
      <p:sp>
        <p:nvSpPr>
          <p:cNvPr id="12" name="Text 9"/>
          <p:cNvSpPr/>
          <p:nvPr/>
        </p:nvSpPr>
        <p:spPr>
          <a:xfrm>
            <a:off x="7543800" y="1572768"/>
            <a:ext cx="3794760" cy="2468880"/>
          </a:xfrm>
          <a:prstGeom prst="rect">
            <a:avLst/>
          </a:prstGeom>
          <a:noFill/>
          <a:ln/>
        </p:spPr>
        <p:txBody>
          <a:bodyPr wrap="square" lIns="635" tIns="635" rIns="635" bIns="635" rtlCol="0" anchor="t">
            <a:normAutofit/>
          </a:bodyPr>
          <a:lstStyle/>
          <a:p>
            <a:r>
              <a:rPr lang="en-US" sz="1400" dirty="0">
                <a:solidFill>
                  <a:srgbClr val="1F2328"/>
                </a:solidFill>
                <a:latin typeface="Arial" pitchFamily="34" charset="0"/>
                <a:ea typeface="Arial" pitchFamily="34" charset="-122"/>
                <a:cs typeface="Arial" pitchFamily="34" charset="-120"/>
              </a:rPr>
              <a:t>Admin truy cập chức năng quản lý loại ngăn tủ và biểu phí.
</a:t>
            </a:r>
            <a:endParaRPr lang="en-US" sz="1400" dirty="0"/>
          </a:p>
          <a:p>
            <a:r>
              <a:rPr lang="en-US" sz="1400" dirty="0">
                <a:solidFill>
                  <a:srgbClr val="1F2328"/>
                </a:solidFill>
                <a:latin typeface="Arial" pitchFamily="34" charset="0"/>
                <a:ea typeface="Arial" pitchFamily="34" charset="-122"/>
                <a:cs typeface="Arial" pitchFamily="34" charset="-120"/>
              </a:rPr>
              <a:t>Hệ thống hiển thị phí dịch vụ ban đầu và phí lưu bãi quá hạn theo S/M/L.
</a:t>
            </a:r>
            <a:endParaRPr lang="en-US" sz="1400" dirty="0"/>
          </a:p>
          <a:p>
            <a:r>
              <a:rPr lang="en-US" sz="1400" dirty="0">
                <a:solidFill>
                  <a:srgbClr val="1F2328"/>
                </a:solidFill>
                <a:latin typeface="Arial" pitchFamily="34" charset="0"/>
                <a:ea typeface="Arial" pitchFamily="34" charset="-122"/>
                <a:cs typeface="Arial" pitchFamily="34" charset="-120"/>
              </a:rPr>
              <a:t>Dữ liệu nhập mới phải là số hợp lệ, không bỏ trống.
</a:t>
            </a:r>
            <a:endParaRPr lang="en-US" sz="1400" dirty="0"/>
          </a:p>
          <a:p>
            <a:r>
              <a:rPr lang="en-US" sz="1400" dirty="0">
                <a:solidFill>
                  <a:srgbClr val="1F2328"/>
                </a:solidFill>
                <a:latin typeface="Arial" pitchFamily="34" charset="0"/>
                <a:ea typeface="Arial" pitchFamily="34" charset="-122"/>
                <a:cs typeface="Arial" pitchFamily="34" charset="-120"/>
              </a:rPr>
              <a:t>Biểu phí mới được đồng bộ realtime lên toàn bộ trạm tủ.</a:t>
            </a:r>
            <a:endParaRPr lang="en-US" sz="1400" dirty="0"/>
          </a:p>
        </p:txBody>
      </p:sp>
      <p:sp>
        <p:nvSpPr>
          <p:cNvPr id="13" name="Text 10"/>
          <p:cNvSpPr/>
          <p:nvPr/>
        </p:nvSpPr>
        <p:spPr>
          <a:xfrm>
            <a:off x="7543800" y="4572000"/>
            <a:ext cx="643738"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Xem phí</a:t>
            </a:r>
            <a:endParaRPr lang="en-US" sz="1050" dirty="0"/>
          </a:p>
        </p:txBody>
      </p:sp>
      <p:sp>
        <p:nvSpPr>
          <p:cNvPr id="14" name="Shape 11"/>
          <p:cNvSpPr/>
          <p:nvPr/>
        </p:nvSpPr>
        <p:spPr>
          <a:xfrm>
            <a:off x="8205826" y="4855464"/>
            <a:ext cx="73152" cy="0"/>
          </a:xfrm>
          <a:prstGeom prst="line">
            <a:avLst/>
          </a:prstGeom>
          <a:noFill/>
          <a:ln w="17780">
            <a:solidFill>
              <a:srgbClr val="B50915"/>
            </a:solidFill>
            <a:prstDash val="solid"/>
            <a:headEnd type="none"/>
            <a:tailEnd type="triangle"/>
          </a:ln>
        </p:spPr>
        <p:txBody>
          <a:bodyPr/>
          <a:lstStyle/>
          <a:p>
            <a:endParaRPr lang="vi-VN"/>
          </a:p>
        </p:txBody>
      </p:sp>
      <p:sp>
        <p:nvSpPr>
          <p:cNvPr id="15" name="Text 12"/>
          <p:cNvSpPr/>
          <p:nvPr/>
        </p:nvSpPr>
        <p:spPr>
          <a:xfrm>
            <a:off x="8297266" y="4572000"/>
            <a:ext cx="643738"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Sửa phí</a:t>
            </a:r>
            <a:endParaRPr lang="en-US" sz="1050" dirty="0"/>
          </a:p>
        </p:txBody>
      </p:sp>
      <p:sp>
        <p:nvSpPr>
          <p:cNvPr id="16" name="Shape 13"/>
          <p:cNvSpPr/>
          <p:nvPr/>
        </p:nvSpPr>
        <p:spPr>
          <a:xfrm>
            <a:off x="8959291" y="4855464"/>
            <a:ext cx="73152" cy="0"/>
          </a:xfrm>
          <a:prstGeom prst="line">
            <a:avLst/>
          </a:prstGeom>
          <a:noFill/>
          <a:ln w="17780">
            <a:solidFill>
              <a:srgbClr val="B50915"/>
            </a:solidFill>
            <a:prstDash val="solid"/>
            <a:headEnd type="none"/>
            <a:tailEnd type="triangle"/>
          </a:ln>
        </p:spPr>
        <p:txBody>
          <a:bodyPr/>
          <a:lstStyle/>
          <a:p>
            <a:endParaRPr lang="vi-VN"/>
          </a:p>
        </p:txBody>
      </p:sp>
      <p:sp>
        <p:nvSpPr>
          <p:cNvPr id="17" name="Text 14"/>
          <p:cNvSpPr/>
          <p:nvPr/>
        </p:nvSpPr>
        <p:spPr>
          <a:xfrm>
            <a:off x="9050731" y="4572000"/>
            <a:ext cx="643738"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Validate</a:t>
            </a:r>
            <a:endParaRPr lang="en-US" sz="1050" dirty="0"/>
          </a:p>
        </p:txBody>
      </p:sp>
      <p:sp>
        <p:nvSpPr>
          <p:cNvPr id="18" name="Shape 15"/>
          <p:cNvSpPr/>
          <p:nvPr/>
        </p:nvSpPr>
        <p:spPr>
          <a:xfrm>
            <a:off x="9712757" y="4855464"/>
            <a:ext cx="73152" cy="0"/>
          </a:xfrm>
          <a:prstGeom prst="line">
            <a:avLst/>
          </a:prstGeom>
          <a:noFill/>
          <a:ln w="17780">
            <a:solidFill>
              <a:srgbClr val="B50915"/>
            </a:solidFill>
            <a:prstDash val="solid"/>
            <a:headEnd type="none"/>
            <a:tailEnd type="triangle"/>
          </a:ln>
        </p:spPr>
        <p:txBody>
          <a:bodyPr/>
          <a:lstStyle/>
          <a:p>
            <a:endParaRPr lang="vi-VN"/>
          </a:p>
        </p:txBody>
      </p:sp>
      <p:sp>
        <p:nvSpPr>
          <p:cNvPr id="19" name="Text 16"/>
          <p:cNvSpPr/>
          <p:nvPr/>
        </p:nvSpPr>
        <p:spPr>
          <a:xfrm>
            <a:off x="9804197" y="4572000"/>
            <a:ext cx="643738"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Cập nhật CSDL</a:t>
            </a:r>
            <a:endParaRPr lang="en-US" sz="1050" dirty="0"/>
          </a:p>
        </p:txBody>
      </p:sp>
      <p:sp>
        <p:nvSpPr>
          <p:cNvPr id="20" name="Shape 17"/>
          <p:cNvSpPr/>
          <p:nvPr/>
        </p:nvSpPr>
        <p:spPr>
          <a:xfrm>
            <a:off x="10466222" y="4855464"/>
            <a:ext cx="73152" cy="0"/>
          </a:xfrm>
          <a:prstGeom prst="line">
            <a:avLst/>
          </a:prstGeom>
          <a:noFill/>
          <a:ln w="17780">
            <a:solidFill>
              <a:srgbClr val="B50915"/>
            </a:solidFill>
            <a:prstDash val="solid"/>
            <a:headEnd type="none"/>
            <a:tailEnd type="triangle"/>
          </a:ln>
        </p:spPr>
        <p:txBody>
          <a:bodyPr/>
          <a:lstStyle/>
          <a:p>
            <a:endParaRPr lang="vi-VN"/>
          </a:p>
        </p:txBody>
      </p:sp>
      <p:sp>
        <p:nvSpPr>
          <p:cNvPr id="21" name="Text 18"/>
          <p:cNvSpPr/>
          <p:nvPr/>
        </p:nvSpPr>
        <p:spPr>
          <a:xfrm>
            <a:off x="10557662" y="4572000"/>
            <a:ext cx="643738"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Đồng bộ</a:t>
            </a:r>
            <a:endParaRPr lang="en-US" sz="1050" dirty="0"/>
          </a:p>
        </p:txBody>
      </p:sp>
      <p:sp>
        <p:nvSpPr>
          <p:cNvPr id="22" name="Shape 19"/>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23" name="Text 20"/>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24" name="Text 21"/>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12</a:t>
            </a:r>
            <a:endParaRPr lang="en-US" sz="1000" dirty="0"/>
          </a:p>
        </p:txBody>
      </p:sp>
      <p:sp>
        <p:nvSpPr>
          <p:cNvPr id="25" name="Text 5">
            <a:extLst>
              <a:ext uri="{FF2B5EF4-FFF2-40B4-BE49-F238E27FC236}">
                <a16:creationId xmlns:a16="http://schemas.microsoft.com/office/drawing/2014/main" id="{880B8360-10F1-082E-3945-5C13344C8E6B}"/>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 KHẢO SÁT HIỆN TRẠNG VÀ MÔ TẢ NGHIỆP VỤ</a:t>
            </a:r>
          </a:p>
          <a:p>
            <a:pPr marL="0" indent="0">
              <a:buNone/>
            </a:pPr>
            <a:r>
              <a:rPr lang="en-US" sz="1200" b="1">
                <a:solidFill>
                  <a:srgbClr val="B50915"/>
                </a:solidFill>
                <a:latin typeface="Arial" pitchFamily="34" charset="0"/>
                <a:cs typeface="Arial" pitchFamily="34" charset="-120"/>
              </a:rPr>
              <a:t>1.2 Mô tả nghiệp vụ</a:t>
            </a:r>
            <a:endParaRPr lang="en-US" sz="1200" dirty="0"/>
          </a:p>
        </p:txBody>
      </p:sp>
      <p:pic>
        <p:nvPicPr>
          <p:cNvPr id="26" name="Hình ảnh 25" descr="Ảnh có chứa văn bản, ảnh chụp màn hình, biểu đồ, Song song">
            <a:extLst>
              <a:ext uri="{FF2B5EF4-FFF2-40B4-BE49-F238E27FC236}">
                <a16:creationId xmlns:a16="http://schemas.microsoft.com/office/drawing/2014/main" id="{E4EC1812-4B65-7581-8D8E-D5B9DAFB8FF6}"/>
              </a:ext>
            </a:extLst>
          </p:cNvPr>
          <p:cNvPicPr>
            <a:picLocks noChangeAspect="1"/>
          </p:cNvPicPr>
          <p:nvPr/>
        </p:nvPicPr>
        <p:blipFill>
          <a:blip r:embed="rId3"/>
          <a:stretch>
            <a:fillRect/>
          </a:stretch>
        </p:blipFill>
        <p:spPr>
          <a:xfrm>
            <a:off x="1373039" y="1170867"/>
            <a:ext cx="4784077" cy="533112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a:t>
            </a:r>
            <a:endParaRPr lang="en-US" sz="750" dirty="0"/>
          </a:p>
        </p:txBody>
      </p:sp>
      <p:sp>
        <p:nvSpPr>
          <p:cNvPr id="8" name="Text 6"/>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dirty="0">
                <a:solidFill>
                  <a:srgbClr val="1F2328"/>
                </a:solidFill>
                <a:latin typeface="Arial" pitchFamily="34" charset="0"/>
                <a:ea typeface="Arial" pitchFamily="34" charset="-122"/>
                <a:cs typeface="Arial" pitchFamily="34" charset="-120"/>
              </a:rPr>
              <a:t>Mô hình Use Case tổng quát</a:t>
            </a:r>
            <a:endParaRPr lang="en-US" sz="2400" dirty="0"/>
          </a:p>
        </p:txBody>
      </p:sp>
      <p:sp>
        <p:nvSpPr>
          <p:cNvPr id="9" name="Shape 7"/>
          <p:cNvSpPr/>
          <p:nvPr/>
        </p:nvSpPr>
        <p:spPr>
          <a:xfrm>
            <a:off x="502920" y="1035882"/>
            <a:ext cx="1188720" cy="0"/>
          </a:xfrm>
          <a:prstGeom prst="line">
            <a:avLst/>
          </a:prstGeom>
          <a:noFill/>
          <a:ln w="27940">
            <a:solidFill>
              <a:srgbClr val="B50915"/>
            </a:solidFill>
            <a:prstDash val="solid"/>
          </a:ln>
        </p:spPr>
        <p:txBody>
          <a:bodyPr/>
          <a:lstStyle/>
          <a:p>
            <a:endParaRPr lang="vi-VN"/>
          </a:p>
        </p:txBody>
      </p:sp>
      <p:sp>
        <p:nvSpPr>
          <p:cNvPr id="12" name="Text 9"/>
          <p:cNvSpPr/>
          <p:nvPr/>
        </p:nvSpPr>
        <p:spPr>
          <a:xfrm>
            <a:off x="7178040" y="1417319"/>
            <a:ext cx="1463040" cy="301753"/>
          </a:xfrm>
          <a:prstGeom prst="rect">
            <a:avLst/>
          </a:prstGeom>
          <a:noFill/>
          <a:ln/>
        </p:spPr>
        <p:txBody>
          <a:bodyPr wrap="square" lIns="762" tIns="762" rIns="762" bIns="762" rtlCol="0" anchor="t">
            <a:normAutofit/>
          </a:bodyPr>
          <a:lstStyle/>
          <a:p>
            <a:pPr marL="0" indent="0" algn="l">
              <a:buNone/>
            </a:pPr>
            <a:r>
              <a:rPr lang="en-US" sz="1600" b="1" dirty="0">
                <a:solidFill>
                  <a:srgbClr val="B50915"/>
                </a:solidFill>
                <a:latin typeface="Arial" pitchFamily="34" charset="0"/>
                <a:ea typeface="Arial" pitchFamily="34" charset="-122"/>
                <a:cs typeface="Arial" pitchFamily="34" charset="-120"/>
              </a:rPr>
              <a:t>Tác nhân</a:t>
            </a:r>
            <a:endParaRPr lang="en-US" sz="1600" dirty="0"/>
          </a:p>
        </p:txBody>
      </p:sp>
      <p:sp>
        <p:nvSpPr>
          <p:cNvPr id="13" name="Text 10"/>
          <p:cNvSpPr/>
          <p:nvPr/>
        </p:nvSpPr>
        <p:spPr>
          <a:xfrm>
            <a:off x="7178040" y="1783080"/>
            <a:ext cx="4069080" cy="1492544"/>
          </a:xfrm>
          <a:prstGeom prst="rect">
            <a:avLst/>
          </a:prstGeom>
          <a:noFill/>
          <a:ln/>
        </p:spPr>
        <p:txBody>
          <a:bodyPr wrap="square" lIns="635" tIns="635" rIns="635" bIns="635" rtlCol="0" anchor="t">
            <a:noAutofit/>
          </a:bodyPr>
          <a:lstStyle/>
          <a:p>
            <a:r>
              <a:rPr lang="en-US" sz="1600" b="1" dirty="0">
                <a:solidFill>
                  <a:srgbClr val="1F2328"/>
                </a:solidFill>
                <a:latin typeface="Arial" pitchFamily="34" charset="0"/>
                <a:ea typeface="Arial" pitchFamily="34" charset="-122"/>
                <a:cs typeface="Arial" pitchFamily="34" charset="-120"/>
              </a:rPr>
              <a:t>Bưu tá:</a:t>
            </a:r>
            <a:r>
              <a:rPr lang="en-US" sz="1600" dirty="0">
                <a:solidFill>
                  <a:srgbClr val="1F2328"/>
                </a:solidFill>
                <a:latin typeface="Arial" pitchFamily="34" charset="0"/>
                <a:ea typeface="Arial" pitchFamily="34" charset="-122"/>
                <a:cs typeface="Arial" pitchFamily="34" charset="-120"/>
              </a:rPr>
              <a:t> giao hàng TMĐT
</a:t>
            </a:r>
            <a:endParaRPr lang="en-US" sz="1600" dirty="0"/>
          </a:p>
          <a:p>
            <a:r>
              <a:rPr lang="en-US" sz="1600" b="1" dirty="0">
                <a:solidFill>
                  <a:srgbClr val="1F2328"/>
                </a:solidFill>
                <a:latin typeface="Arial" pitchFamily="34" charset="0"/>
                <a:ea typeface="Arial" pitchFamily="34" charset="-122"/>
                <a:cs typeface="Arial" pitchFamily="34" charset="-120"/>
              </a:rPr>
              <a:t>Cư dân:</a:t>
            </a:r>
            <a:r>
              <a:rPr lang="en-US" sz="1600" dirty="0">
                <a:solidFill>
                  <a:srgbClr val="1F2328"/>
                </a:solidFill>
                <a:latin typeface="Arial" pitchFamily="34" charset="0"/>
                <a:ea typeface="Arial" pitchFamily="34" charset="-122"/>
                <a:cs typeface="Arial" pitchFamily="34" charset="-120"/>
              </a:rPr>
              <a:t> nhận hàng, thanh toán, thuê tủ
</a:t>
            </a:r>
            <a:endParaRPr lang="en-US" sz="1600" dirty="0"/>
          </a:p>
          <a:p>
            <a:r>
              <a:rPr lang="en-US" sz="1600" b="1" dirty="0">
                <a:solidFill>
                  <a:srgbClr val="1F2328"/>
                </a:solidFill>
                <a:latin typeface="Arial" pitchFamily="34" charset="0"/>
                <a:ea typeface="Arial" pitchFamily="34" charset="-122"/>
                <a:cs typeface="Arial" pitchFamily="34" charset="-120"/>
              </a:rPr>
              <a:t>Admin:</a:t>
            </a:r>
            <a:r>
              <a:rPr lang="en-US" sz="1600" dirty="0">
                <a:solidFill>
                  <a:srgbClr val="1F2328"/>
                </a:solidFill>
                <a:latin typeface="Arial" pitchFamily="34" charset="0"/>
                <a:ea typeface="Arial" pitchFamily="34" charset="-122"/>
                <a:cs typeface="Arial" pitchFamily="34" charset="-120"/>
              </a:rPr>
              <a:t> quản lý trạm tủ, biểu phí, doanh thu</a:t>
            </a:r>
            <a:endParaRPr lang="en-US" sz="1600" dirty="0"/>
          </a:p>
        </p:txBody>
      </p:sp>
      <p:sp>
        <p:nvSpPr>
          <p:cNvPr id="14" name="Text 11"/>
          <p:cNvSpPr/>
          <p:nvPr/>
        </p:nvSpPr>
        <p:spPr>
          <a:xfrm>
            <a:off x="7178040" y="3518275"/>
            <a:ext cx="1828800" cy="356617"/>
          </a:xfrm>
          <a:prstGeom prst="rect">
            <a:avLst/>
          </a:prstGeom>
          <a:noFill/>
          <a:ln/>
        </p:spPr>
        <p:txBody>
          <a:bodyPr wrap="square" lIns="762" tIns="762" rIns="762" bIns="762" rtlCol="0" anchor="t">
            <a:normAutofit/>
          </a:bodyPr>
          <a:lstStyle/>
          <a:p>
            <a:pPr marL="0" indent="0" algn="l">
              <a:buNone/>
            </a:pPr>
            <a:r>
              <a:rPr lang="en-US" sz="1600" b="1" dirty="0">
                <a:solidFill>
                  <a:srgbClr val="B50915"/>
                </a:solidFill>
                <a:latin typeface="Arial" pitchFamily="34" charset="0"/>
                <a:ea typeface="Arial" pitchFamily="34" charset="-122"/>
                <a:cs typeface="Arial" pitchFamily="34" charset="-120"/>
              </a:rPr>
              <a:t>Use case chính</a:t>
            </a:r>
            <a:endParaRPr lang="en-US" sz="1600" dirty="0"/>
          </a:p>
        </p:txBody>
      </p:sp>
      <p:sp>
        <p:nvSpPr>
          <p:cNvPr id="15" name="Text 12"/>
          <p:cNvSpPr/>
          <p:nvPr/>
        </p:nvSpPr>
        <p:spPr>
          <a:xfrm>
            <a:off x="7178040" y="3884036"/>
            <a:ext cx="4069080" cy="2386584"/>
          </a:xfrm>
          <a:prstGeom prst="rect">
            <a:avLst/>
          </a:prstGeom>
          <a:noFill/>
          <a:ln/>
        </p:spPr>
        <p:txBody>
          <a:bodyPr wrap="square" lIns="635" tIns="635" rIns="635" bIns="635" rtlCol="0" anchor="t">
            <a:noAutofit/>
          </a:bodyPr>
          <a:lstStyle/>
          <a:p>
            <a:r>
              <a:rPr lang="en-US" sz="1600" dirty="0">
                <a:solidFill>
                  <a:srgbClr val="1F2328"/>
                </a:solidFill>
                <a:latin typeface="Arial" pitchFamily="34" charset="0"/>
                <a:ea typeface="Arial" pitchFamily="34" charset="-122"/>
                <a:cs typeface="Arial" pitchFamily="34" charset="-120"/>
              </a:rPr>
              <a:t>Đăng nhập
</a:t>
            </a:r>
            <a:endParaRPr lang="en-US" sz="1600" dirty="0"/>
          </a:p>
          <a:p>
            <a:r>
              <a:rPr lang="en-US" sz="1600" dirty="0">
                <a:solidFill>
                  <a:srgbClr val="1F2328"/>
                </a:solidFill>
                <a:latin typeface="Arial" pitchFamily="34" charset="0"/>
                <a:ea typeface="Arial" pitchFamily="34" charset="-122"/>
                <a:cs typeface="Arial" pitchFamily="34" charset="-120"/>
              </a:rPr>
              <a:t>Quản lý giao hàng TMĐT
</a:t>
            </a:r>
            <a:endParaRPr lang="en-US" sz="1600" dirty="0"/>
          </a:p>
          <a:p>
            <a:r>
              <a:rPr lang="en-US" sz="1600" dirty="0">
                <a:solidFill>
                  <a:srgbClr val="1F2328"/>
                </a:solidFill>
                <a:latin typeface="Arial" pitchFamily="34" charset="0"/>
                <a:ea typeface="Arial" pitchFamily="34" charset="-122"/>
                <a:cs typeface="Arial" pitchFamily="34" charset="-120"/>
              </a:rPr>
              <a:t>Quản lý nhận hàng &amp; thanh toán
</a:t>
            </a:r>
            <a:endParaRPr lang="en-US" sz="1600" dirty="0"/>
          </a:p>
          <a:p>
            <a:r>
              <a:rPr lang="en-US" sz="1600" dirty="0">
                <a:solidFill>
                  <a:srgbClr val="1F2328"/>
                </a:solidFill>
                <a:latin typeface="Arial" pitchFamily="34" charset="0"/>
                <a:ea typeface="Arial" pitchFamily="34" charset="-122"/>
                <a:cs typeface="Arial" pitchFamily="34" charset="-120"/>
              </a:rPr>
              <a:t>Quản lý thuê tủ cá nhân
</a:t>
            </a:r>
            <a:endParaRPr lang="en-US" sz="1600" dirty="0"/>
          </a:p>
          <a:p>
            <a:r>
              <a:rPr lang="en-US" sz="1600" dirty="0">
                <a:solidFill>
                  <a:srgbClr val="1F2328"/>
                </a:solidFill>
                <a:latin typeface="Arial" pitchFamily="34" charset="0"/>
                <a:ea typeface="Arial" pitchFamily="34" charset="-122"/>
                <a:cs typeface="Arial" pitchFamily="34" charset="-120"/>
              </a:rPr>
              <a:t>Quản lý trạm tủ &amp; biểu phí</a:t>
            </a:r>
            <a:endParaRPr lang="en-US" sz="1600" dirty="0"/>
          </a:p>
        </p:txBody>
      </p:sp>
      <p:sp>
        <p:nvSpPr>
          <p:cNvPr id="16" name="Shape 13"/>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17" name="Text 14"/>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18" name="Text 15"/>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13</a:t>
            </a:r>
            <a:endParaRPr lang="en-US" sz="1000" dirty="0"/>
          </a:p>
        </p:txBody>
      </p:sp>
      <p:sp>
        <p:nvSpPr>
          <p:cNvPr id="19" name="Text 5">
            <a:extLst>
              <a:ext uri="{FF2B5EF4-FFF2-40B4-BE49-F238E27FC236}">
                <a16:creationId xmlns:a16="http://schemas.microsoft.com/office/drawing/2014/main" id="{530DB6A6-8CB1-D7EF-8913-B16D197A88F6}"/>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 PHÂN TÍCH HỆ THỐNG</a:t>
            </a:r>
          </a:p>
          <a:p>
            <a:pPr marL="0" indent="0">
              <a:buNone/>
            </a:pPr>
            <a:r>
              <a:rPr lang="en-US" sz="1200" b="1">
                <a:solidFill>
                  <a:srgbClr val="B50915"/>
                </a:solidFill>
                <a:latin typeface="Arial" pitchFamily="34" charset="0"/>
                <a:cs typeface="Arial" pitchFamily="34" charset="-120"/>
              </a:rPr>
              <a:t>2.1 Phân tích chức năng (Mô hình hóa Use Case)</a:t>
            </a:r>
            <a:endParaRPr lang="en-US" sz="1200" dirty="0"/>
          </a:p>
        </p:txBody>
      </p:sp>
      <p:pic>
        <p:nvPicPr>
          <p:cNvPr id="20" name="Hình ảnh 19" descr="Ảnh có chứa văn bản, biểu đồ, hàng, Sơ đồ">
            <a:extLst>
              <a:ext uri="{FF2B5EF4-FFF2-40B4-BE49-F238E27FC236}">
                <a16:creationId xmlns:a16="http://schemas.microsoft.com/office/drawing/2014/main" id="{42FCE445-D08F-D298-2663-3664A51B138C}"/>
              </a:ext>
            </a:extLst>
          </p:cNvPr>
          <p:cNvPicPr>
            <a:picLocks noChangeAspect="1"/>
          </p:cNvPicPr>
          <p:nvPr/>
        </p:nvPicPr>
        <p:blipFill>
          <a:blip r:embed="rId3"/>
          <a:stretch>
            <a:fillRect/>
          </a:stretch>
        </p:blipFill>
        <p:spPr>
          <a:xfrm>
            <a:off x="944880" y="1083027"/>
            <a:ext cx="5731510" cy="529526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a:t>
            </a:r>
            <a:endParaRPr lang="en-US" sz="750" dirty="0"/>
          </a:p>
        </p:txBody>
      </p:sp>
      <p:sp>
        <p:nvSpPr>
          <p:cNvPr id="8" name="Text 6"/>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dirty="0">
                <a:solidFill>
                  <a:srgbClr val="1F2328"/>
                </a:solidFill>
                <a:latin typeface="Arial" pitchFamily="34" charset="0"/>
                <a:ea typeface="Arial" pitchFamily="34" charset="-122"/>
                <a:cs typeface="Arial" pitchFamily="34" charset="-120"/>
              </a:rPr>
              <a:t>Đặc tả Use Case</a:t>
            </a:r>
            <a:r>
              <a:rPr lang="en-US" sz="2400" b="1">
                <a:solidFill>
                  <a:srgbClr val="1F2328"/>
                </a:solidFill>
                <a:latin typeface="Arial" pitchFamily="34" charset="0"/>
                <a:ea typeface="Arial" pitchFamily="34" charset="-122"/>
                <a:cs typeface="Arial" pitchFamily="34" charset="-120"/>
              </a:rPr>
              <a:t>: Đăng nhập</a:t>
            </a:r>
            <a:endParaRPr lang="en-US" sz="2400" dirty="0"/>
          </a:p>
        </p:txBody>
      </p:sp>
      <p:sp>
        <p:nvSpPr>
          <p:cNvPr id="9" name="Shape 7"/>
          <p:cNvSpPr/>
          <p:nvPr/>
        </p:nvSpPr>
        <p:spPr>
          <a:xfrm>
            <a:off x="502920" y="1042848"/>
            <a:ext cx="1188720" cy="0"/>
          </a:xfrm>
          <a:prstGeom prst="line">
            <a:avLst/>
          </a:prstGeom>
          <a:noFill/>
          <a:ln w="27940">
            <a:solidFill>
              <a:srgbClr val="B50915"/>
            </a:solidFill>
            <a:prstDash val="solid"/>
          </a:ln>
        </p:spPr>
        <p:txBody>
          <a:bodyPr/>
          <a:lstStyle/>
          <a:p>
            <a:endParaRPr lang="vi-VN"/>
          </a:p>
        </p:txBody>
      </p:sp>
      <p:sp>
        <p:nvSpPr>
          <p:cNvPr id="35" name="Shape 33"/>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36" name="Text 34"/>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37" name="Text 35"/>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14</a:t>
            </a:r>
            <a:endParaRPr lang="en-US" sz="1000" dirty="0"/>
          </a:p>
        </p:txBody>
      </p:sp>
      <p:sp>
        <p:nvSpPr>
          <p:cNvPr id="38" name="Text 5">
            <a:extLst>
              <a:ext uri="{FF2B5EF4-FFF2-40B4-BE49-F238E27FC236}">
                <a16:creationId xmlns:a16="http://schemas.microsoft.com/office/drawing/2014/main" id="{84D33360-BE50-D1EE-1973-D96F73BDDCF3}"/>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 PHÂN TÍCH HỆ THỐNG</a:t>
            </a:r>
          </a:p>
          <a:p>
            <a:pPr marL="0" indent="0">
              <a:buNone/>
            </a:pPr>
            <a:r>
              <a:rPr lang="en-US" sz="1200" b="1">
                <a:solidFill>
                  <a:srgbClr val="B50915"/>
                </a:solidFill>
                <a:latin typeface="Arial" pitchFamily="34" charset="0"/>
                <a:cs typeface="Arial" pitchFamily="34" charset="-120"/>
              </a:rPr>
              <a:t>2.1 Phân tích chức năng (Mô hình hóa Use Case)</a:t>
            </a:r>
            <a:endParaRPr lang="en-US" sz="1200" dirty="0"/>
          </a:p>
        </p:txBody>
      </p:sp>
      <p:graphicFrame>
        <p:nvGraphicFramePr>
          <p:cNvPr id="42" name="Bảng 41">
            <a:extLst>
              <a:ext uri="{FF2B5EF4-FFF2-40B4-BE49-F238E27FC236}">
                <a16:creationId xmlns:a16="http://schemas.microsoft.com/office/drawing/2014/main" id="{30A354A3-DFAB-22BD-AE6C-710BF44B3A48}"/>
              </a:ext>
            </a:extLst>
          </p:cNvPr>
          <p:cNvGraphicFramePr>
            <a:graphicFrameLocks noGrp="1"/>
          </p:cNvGraphicFramePr>
          <p:nvPr>
            <p:extLst>
              <p:ext uri="{D42A27DB-BD31-4B8C-83A1-F6EECF244321}">
                <p14:modId xmlns:p14="http://schemas.microsoft.com/office/powerpoint/2010/main" val="3680327764"/>
              </p:ext>
            </p:extLst>
          </p:nvPr>
        </p:nvGraphicFramePr>
        <p:xfrm>
          <a:off x="1924593" y="1202221"/>
          <a:ext cx="9178835" cy="5110149"/>
        </p:xfrm>
        <a:graphic>
          <a:graphicData uri="http://schemas.openxmlformats.org/drawingml/2006/table">
            <a:tbl>
              <a:tblPr firstRow="1" firstCol="1" bandRow="1"/>
              <a:tblGrid>
                <a:gridCol w="2964464">
                  <a:extLst>
                    <a:ext uri="{9D8B030D-6E8A-4147-A177-3AD203B41FA5}">
                      <a16:colId xmlns:a16="http://schemas.microsoft.com/office/drawing/2014/main" val="1952528081"/>
                    </a:ext>
                  </a:extLst>
                </a:gridCol>
                <a:gridCol w="6214371">
                  <a:extLst>
                    <a:ext uri="{9D8B030D-6E8A-4147-A177-3AD203B41FA5}">
                      <a16:colId xmlns:a16="http://schemas.microsoft.com/office/drawing/2014/main" val="659555495"/>
                    </a:ext>
                  </a:extLst>
                </a:gridCol>
              </a:tblGrid>
              <a:tr h="430684">
                <a:tc>
                  <a:txBody>
                    <a:bodyPr/>
                    <a:lstStyle/>
                    <a:p>
                      <a:pPr algn="ctr"/>
                      <a:r>
                        <a:rPr lang="vi-VN" sz="18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Thành phần đặc tả</a:t>
                      </a:r>
                      <a:endParaRPr lang="vi-VN"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C9EB"/>
                    </a:solidFill>
                  </a:tcPr>
                </a:tc>
                <a:tc>
                  <a:txBody>
                    <a:bodyPr/>
                    <a:lstStyle/>
                    <a:p>
                      <a:pPr algn="ctr"/>
                      <a:r>
                        <a:rPr lang="vi-VN" sz="18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Nội dung chi tiết</a:t>
                      </a:r>
                      <a:endParaRPr lang="vi-VN"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C9EB"/>
                    </a:solidFill>
                  </a:tcPr>
                </a:tc>
                <a:extLst>
                  <a:ext uri="{0D108BD9-81ED-4DB2-BD59-A6C34878D82A}">
                    <a16:rowId xmlns:a16="http://schemas.microsoft.com/office/drawing/2014/main" val="1757859121"/>
                  </a:ext>
                </a:extLst>
              </a:tr>
              <a:tr h="242989">
                <a:tc>
                  <a:txBody>
                    <a:bodyPr/>
                    <a:lstStyle/>
                    <a:p>
                      <a:pPr algn="just">
                        <a:tabLst>
                          <a:tab pos="1750695" algn="l"/>
                        </a:tabLst>
                      </a:pPr>
                      <a:r>
                        <a:rPr lang="vi-VN"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Tên Usecase</a:t>
                      </a:r>
                      <a:endParaRPr lang="vi-VN"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vi-VN"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Đăng nhập hệ thống</a:t>
                      </a:r>
                      <a:endParaRPr lang="vi-VN"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21676002"/>
                  </a:ext>
                </a:extLst>
              </a:tr>
              <a:tr h="242989">
                <a:tc>
                  <a:txBody>
                    <a:bodyPr/>
                    <a:lstStyle/>
                    <a:p>
                      <a:pPr algn="just"/>
                      <a:r>
                        <a:rPr lang="vi-VN"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Tác nhân chính</a:t>
                      </a:r>
                      <a:endParaRPr lang="vi-VN"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vi-VN"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Bưu tá, Cư dân, Quản trị viên.</a:t>
                      </a:r>
                      <a:endParaRPr lang="vi-VN"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90537713"/>
                  </a:ext>
                </a:extLst>
              </a:tr>
              <a:tr h="728969">
                <a:tc>
                  <a:txBody>
                    <a:bodyPr/>
                    <a:lstStyle/>
                    <a:p>
                      <a:pPr algn="just"/>
                      <a:r>
                        <a:rPr lang="vi-VN"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Mô tả tóm tắt</a:t>
                      </a:r>
                      <a:endParaRPr lang="vi-VN"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vi-VN"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Xác thực danh tính người dùng qua số điện thoại để cấp quyền truy cập vào các tính năng tương ứng.</a:t>
                      </a:r>
                      <a:endParaRPr lang="vi-VN"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40267158"/>
                  </a:ext>
                </a:extLst>
              </a:tr>
              <a:tr h="485980">
                <a:tc>
                  <a:txBody>
                    <a:bodyPr/>
                    <a:lstStyle/>
                    <a:p>
                      <a:pPr algn="just"/>
                      <a:r>
                        <a:rPr lang="en-US"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Điều kiện tiên quyết</a:t>
                      </a:r>
                      <a:endParaRPr lang="vi-VN"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vi-VN"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Số điện thoại đã được đăng ký và tồn tại trong bảng KhachHang.</a:t>
                      </a:r>
                      <a:endParaRPr lang="vi-VN"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30899736"/>
                  </a:ext>
                </a:extLst>
              </a:tr>
              <a:tr h="2186907">
                <a:tc>
                  <a:txBody>
                    <a:bodyPr/>
                    <a:lstStyle/>
                    <a:p>
                      <a:pPr algn="just"/>
                      <a:r>
                        <a:rPr lang="vi-VN"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Thao tác chính</a:t>
                      </a:r>
                      <a:endParaRPr lang="vi-VN"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vi-VN"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 Người dùng nhập Số điện thoại và Mật khẩu.</a:t>
                      </a:r>
                      <a:endParaRPr lang="vi-VN" sz="1800">
                        <a:effectLst/>
                        <a:latin typeface="Arial" panose="020B0604020202020204" pitchFamily="34" charset="0"/>
                        <a:ea typeface="Times New Roman" panose="02020603050405020304" pitchFamily="18" charset="0"/>
                        <a:cs typeface="Arial" panose="020B0604020202020204" pitchFamily="34" charset="0"/>
                      </a:endParaRPr>
                    </a:p>
                    <a:p>
                      <a:pPr algn="just"/>
                      <a:r>
                        <a:rPr lang="vi-VN"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 Hệ thống kiểm tra tính hợp lệ trong cơ sở dữ liệu.</a:t>
                      </a:r>
                      <a:endParaRPr lang="vi-VN" sz="1800">
                        <a:effectLst/>
                        <a:latin typeface="Arial" panose="020B0604020202020204" pitchFamily="34" charset="0"/>
                        <a:ea typeface="Times New Roman" panose="02020603050405020304" pitchFamily="18" charset="0"/>
                        <a:cs typeface="Arial" panose="020B0604020202020204" pitchFamily="34" charset="0"/>
                      </a:endParaRPr>
                    </a:p>
                    <a:p>
                      <a:pPr algn="just"/>
                      <a:r>
                        <a:rPr lang="vi-VN"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 Hệ thống xác định LoaiTaiKhoan (Admin/Bưu tá/Cư dân).</a:t>
                      </a:r>
                      <a:endParaRPr lang="vi-VN" sz="1800">
                        <a:effectLst/>
                        <a:latin typeface="Arial" panose="020B0604020202020204" pitchFamily="34" charset="0"/>
                        <a:ea typeface="Times New Roman" panose="02020603050405020304" pitchFamily="18" charset="0"/>
                        <a:cs typeface="Arial" panose="020B0604020202020204" pitchFamily="34" charset="0"/>
                      </a:endParaRPr>
                    </a:p>
                    <a:p>
                      <a:pPr algn="just"/>
                      <a:r>
                        <a:rPr lang="vi-VN"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 Điều hướng người dùng đến giao diện làm việc phù hợp với phân quyền.</a:t>
                      </a:r>
                      <a:endParaRPr lang="vi-VN"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60172782"/>
                  </a:ext>
                </a:extLst>
              </a:tr>
              <a:tr h="728969">
                <a:tc>
                  <a:txBody>
                    <a:bodyPr/>
                    <a:lstStyle/>
                    <a:p>
                      <a:pPr algn="just"/>
                      <a:r>
                        <a:rPr lang="vi-VN"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Ngoại lệ</a:t>
                      </a:r>
                      <a:endParaRPr lang="vi-VN"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vi-VN"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Nếu nhập sai thông tin, hệ thống báo lỗi "Số điện thoại hoặc mật khẩu không chính xác" và yêu cầu nhập lại.</a:t>
                      </a:r>
                      <a:endParaRPr lang="vi-VN"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0101478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a:extLst>
            <a:ext uri="{FF2B5EF4-FFF2-40B4-BE49-F238E27FC236}">
              <a16:creationId xmlns:a16="http://schemas.microsoft.com/office/drawing/2014/main" id="{2534B001-06F7-7506-7246-A8B29D96F18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73527C9-06FB-34D7-4037-2DD8151257F4}"/>
              </a:ext>
            </a:extLst>
          </p:cNvPr>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a:extLst>
              <a:ext uri="{FF2B5EF4-FFF2-40B4-BE49-F238E27FC236}">
                <a16:creationId xmlns:a16="http://schemas.microsoft.com/office/drawing/2014/main" id="{F90A1922-3B2C-03E9-0D0C-5BADAEFA8937}"/>
              </a:ext>
            </a:extLst>
          </p:cNvPr>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a:extLst>
              <a:ext uri="{FF2B5EF4-FFF2-40B4-BE49-F238E27FC236}">
                <a16:creationId xmlns:a16="http://schemas.microsoft.com/office/drawing/2014/main" id="{F9F1A779-6B12-7819-0868-43EF64FF1E16}"/>
              </a:ext>
            </a:extLst>
          </p:cNvPr>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a:extLst>
              <a:ext uri="{FF2B5EF4-FFF2-40B4-BE49-F238E27FC236}">
                <a16:creationId xmlns:a16="http://schemas.microsoft.com/office/drawing/2014/main" id="{98A9FE57-0CDF-D742-5C97-256047548D05}"/>
              </a:ext>
            </a:extLst>
          </p:cNvPr>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a:extLst>
              <a:ext uri="{FF2B5EF4-FFF2-40B4-BE49-F238E27FC236}">
                <a16:creationId xmlns:a16="http://schemas.microsoft.com/office/drawing/2014/main" id="{5135F7CC-3DD2-C4AD-1C6A-E900BB3B3F70}"/>
              </a:ext>
            </a:extLst>
          </p:cNvPr>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a:t>
            </a:r>
            <a:endParaRPr lang="en-US" sz="750" dirty="0"/>
          </a:p>
        </p:txBody>
      </p:sp>
      <p:sp>
        <p:nvSpPr>
          <p:cNvPr id="8" name="Text 6">
            <a:extLst>
              <a:ext uri="{FF2B5EF4-FFF2-40B4-BE49-F238E27FC236}">
                <a16:creationId xmlns:a16="http://schemas.microsoft.com/office/drawing/2014/main" id="{4D9CABE0-6B42-DF92-08F5-061726042EBD}"/>
              </a:ext>
            </a:extLst>
          </p:cNvPr>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dirty="0">
                <a:solidFill>
                  <a:srgbClr val="1F2328"/>
                </a:solidFill>
                <a:latin typeface="Arial" pitchFamily="34" charset="0"/>
                <a:ea typeface="Arial" pitchFamily="34" charset="-122"/>
                <a:cs typeface="Arial" pitchFamily="34" charset="-120"/>
              </a:rPr>
              <a:t>Đặc tả Use Case</a:t>
            </a:r>
            <a:r>
              <a:rPr lang="en-US" sz="2400" b="1">
                <a:solidFill>
                  <a:srgbClr val="1F2328"/>
                </a:solidFill>
                <a:latin typeface="Arial" pitchFamily="34" charset="0"/>
                <a:ea typeface="Arial" pitchFamily="34" charset="-122"/>
                <a:cs typeface="Arial" pitchFamily="34" charset="-120"/>
              </a:rPr>
              <a:t>: QUẢN LÝ GIAO HÀNG TMĐT</a:t>
            </a:r>
            <a:endParaRPr lang="en-US" sz="2400" dirty="0"/>
          </a:p>
        </p:txBody>
      </p:sp>
      <p:sp>
        <p:nvSpPr>
          <p:cNvPr id="9" name="Shape 7">
            <a:extLst>
              <a:ext uri="{FF2B5EF4-FFF2-40B4-BE49-F238E27FC236}">
                <a16:creationId xmlns:a16="http://schemas.microsoft.com/office/drawing/2014/main" id="{58BBB687-4564-32B7-9CF7-ABC2CE0BD67D}"/>
              </a:ext>
            </a:extLst>
          </p:cNvPr>
          <p:cNvSpPr/>
          <p:nvPr/>
        </p:nvSpPr>
        <p:spPr>
          <a:xfrm>
            <a:off x="502920" y="1035882"/>
            <a:ext cx="1188720" cy="0"/>
          </a:xfrm>
          <a:prstGeom prst="line">
            <a:avLst/>
          </a:prstGeom>
          <a:noFill/>
          <a:ln w="27940">
            <a:solidFill>
              <a:srgbClr val="B50915"/>
            </a:solidFill>
            <a:prstDash val="solid"/>
          </a:ln>
        </p:spPr>
        <p:txBody>
          <a:bodyPr/>
          <a:lstStyle/>
          <a:p>
            <a:endParaRPr lang="vi-VN"/>
          </a:p>
        </p:txBody>
      </p:sp>
      <p:sp>
        <p:nvSpPr>
          <p:cNvPr id="35" name="Shape 33">
            <a:extLst>
              <a:ext uri="{FF2B5EF4-FFF2-40B4-BE49-F238E27FC236}">
                <a16:creationId xmlns:a16="http://schemas.microsoft.com/office/drawing/2014/main" id="{674D5DEE-6E25-B331-E9D2-0784C4F4C4E0}"/>
              </a:ext>
            </a:extLst>
          </p:cNvPr>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36" name="Text 34">
            <a:extLst>
              <a:ext uri="{FF2B5EF4-FFF2-40B4-BE49-F238E27FC236}">
                <a16:creationId xmlns:a16="http://schemas.microsoft.com/office/drawing/2014/main" id="{1163B8A9-9DEA-7C5C-3654-91456D2179EF}"/>
              </a:ext>
            </a:extLst>
          </p:cNvPr>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37" name="Text 35">
            <a:extLst>
              <a:ext uri="{FF2B5EF4-FFF2-40B4-BE49-F238E27FC236}">
                <a16:creationId xmlns:a16="http://schemas.microsoft.com/office/drawing/2014/main" id="{D2D5813D-2B27-7833-A3FF-3BB1C1A15123}"/>
              </a:ext>
            </a:extLst>
          </p:cNvPr>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14</a:t>
            </a:r>
            <a:endParaRPr lang="en-US" sz="1000" dirty="0"/>
          </a:p>
        </p:txBody>
      </p:sp>
      <p:sp>
        <p:nvSpPr>
          <p:cNvPr id="38" name="Text 5">
            <a:extLst>
              <a:ext uri="{FF2B5EF4-FFF2-40B4-BE49-F238E27FC236}">
                <a16:creationId xmlns:a16="http://schemas.microsoft.com/office/drawing/2014/main" id="{B8745D5E-47B9-B634-C62D-53209EB929E7}"/>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 PHÂN TÍCH HỆ THỐNG</a:t>
            </a:r>
          </a:p>
          <a:p>
            <a:pPr marL="0" indent="0">
              <a:buNone/>
            </a:pPr>
            <a:r>
              <a:rPr lang="en-US" sz="1200" b="1">
                <a:solidFill>
                  <a:srgbClr val="B50915"/>
                </a:solidFill>
                <a:latin typeface="Arial" pitchFamily="34" charset="0"/>
                <a:cs typeface="Arial" pitchFamily="34" charset="-120"/>
              </a:rPr>
              <a:t>2.1 Phân tích chức năng (Mô hình hóa Use Case)</a:t>
            </a:r>
            <a:endParaRPr lang="en-US" sz="1200" dirty="0"/>
          </a:p>
        </p:txBody>
      </p:sp>
      <p:graphicFrame>
        <p:nvGraphicFramePr>
          <p:cNvPr id="7" name="Bảng 6">
            <a:extLst>
              <a:ext uri="{FF2B5EF4-FFF2-40B4-BE49-F238E27FC236}">
                <a16:creationId xmlns:a16="http://schemas.microsoft.com/office/drawing/2014/main" id="{1069A82A-482B-404E-A058-3427D955C8A9}"/>
              </a:ext>
            </a:extLst>
          </p:cNvPr>
          <p:cNvGraphicFramePr>
            <a:graphicFrameLocks noGrp="1"/>
          </p:cNvGraphicFramePr>
          <p:nvPr>
            <p:extLst>
              <p:ext uri="{D42A27DB-BD31-4B8C-83A1-F6EECF244321}">
                <p14:modId xmlns:p14="http://schemas.microsoft.com/office/powerpoint/2010/main" val="1307857258"/>
              </p:ext>
            </p:extLst>
          </p:nvPr>
        </p:nvGraphicFramePr>
        <p:xfrm>
          <a:off x="2280557" y="1133857"/>
          <a:ext cx="8488332" cy="5281630"/>
        </p:xfrm>
        <a:graphic>
          <a:graphicData uri="http://schemas.openxmlformats.org/drawingml/2006/table">
            <a:tbl>
              <a:tblPr firstRow="1" firstCol="1" bandRow="1"/>
              <a:tblGrid>
                <a:gridCol w="2438400">
                  <a:extLst>
                    <a:ext uri="{9D8B030D-6E8A-4147-A177-3AD203B41FA5}">
                      <a16:colId xmlns:a16="http://schemas.microsoft.com/office/drawing/2014/main" val="3578458521"/>
                    </a:ext>
                  </a:extLst>
                </a:gridCol>
                <a:gridCol w="6049932">
                  <a:extLst>
                    <a:ext uri="{9D8B030D-6E8A-4147-A177-3AD203B41FA5}">
                      <a16:colId xmlns:a16="http://schemas.microsoft.com/office/drawing/2014/main" val="236726625"/>
                    </a:ext>
                  </a:extLst>
                </a:gridCol>
              </a:tblGrid>
              <a:tr h="300124">
                <a:tc>
                  <a:txBody>
                    <a:bodyPr/>
                    <a:lstStyle/>
                    <a:p>
                      <a:pPr algn="ctr"/>
                      <a:r>
                        <a:rPr lang="vi-VN" sz="16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Thành phần đặc tả</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50456" marR="504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C9EB"/>
                    </a:solidFill>
                  </a:tcPr>
                </a:tc>
                <a:tc>
                  <a:txBody>
                    <a:bodyPr/>
                    <a:lstStyle/>
                    <a:p>
                      <a:pPr algn="ctr"/>
                      <a:r>
                        <a:rPr lang="vi-VN" sz="16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Nội dung chi tiết</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50456" marR="504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C9EB"/>
                    </a:solidFill>
                  </a:tcPr>
                </a:tc>
                <a:extLst>
                  <a:ext uri="{0D108BD9-81ED-4DB2-BD59-A6C34878D82A}">
                    <a16:rowId xmlns:a16="http://schemas.microsoft.com/office/drawing/2014/main" val="1560199226"/>
                  </a:ext>
                </a:extLst>
              </a:tr>
              <a:tr h="324062">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Tên Usecase</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50456" marR="504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Giao hàng TMĐT (Cất hàng).</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50456" marR="504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5362272"/>
                  </a:ext>
                </a:extLst>
              </a:tr>
              <a:tr h="273887">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Tác nhân chính</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50456" marR="504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Bưu tá (Shipper).</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50456" marR="504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6003856"/>
                  </a:ext>
                </a:extLst>
              </a:tr>
              <a:tr h="575199">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Mô tả tóm tắt</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50456" marR="504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Bưu tá lựa chọn ngăn tủ trống, nhập thông tin đơn hàng và cất kiện hàng vào tủ.</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50456" marR="504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6101510"/>
                  </a:ext>
                </a:extLst>
              </a:tr>
              <a:tr h="571500">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Điều kiện tiên quyết</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50456" marR="504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Bưu tá đã đăng nhập thành công. Trạm tủ phải có ít nhất 1 ngăn đang ở trạng thái "Trống".</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50456" marR="504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93090237"/>
                  </a:ext>
                </a:extLst>
              </a:tr>
              <a:tr h="2559323">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Thao tác chính</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50456" marR="504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 Bưu tá quét mã trạm tủ để truy vấn danh sách ngăn trống.</a:t>
                      </a:r>
                      <a:endParaRPr lang="vi-VN" sz="1600">
                        <a:effectLst/>
                        <a:latin typeface="Arial" panose="020B0604020202020204" pitchFamily="34" charset="0"/>
                        <a:ea typeface="Times New Roman" panose="02020603050405020304" pitchFamily="18" charset="0"/>
                        <a:cs typeface="Arial" panose="020B0604020202020204" pitchFamily="34" charset="0"/>
                      </a:endParaRPr>
                    </a:p>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 Bưu tá chọn loại kích thước ngăn (S, M, L).</a:t>
                      </a:r>
                      <a:endParaRPr lang="vi-VN" sz="1600">
                        <a:effectLst/>
                        <a:latin typeface="Arial" panose="020B0604020202020204" pitchFamily="34" charset="0"/>
                        <a:ea typeface="Times New Roman" panose="02020603050405020304" pitchFamily="18" charset="0"/>
                        <a:cs typeface="Arial" panose="020B0604020202020204" pitchFamily="34" charset="0"/>
                      </a:endParaRPr>
                    </a:p>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 Bưu tá nhập Số điện thoại người nhận.</a:t>
                      </a:r>
                      <a:endParaRPr lang="vi-VN" sz="1600">
                        <a:effectLst/>
                        <a:latin typeface="Arial" panose="020B0604020202020204" pitchFamily="34" charset="0"/>
                        <a:ea typeface="Times New Roman" panose="02020603050405020304" pitchFamily="18" charset="0"/>
                        <a:cs typeface="Arial" panose="020B0604020202020204" pitchFamily="34" charset="0"/>
                      </a:endParaRPr>
                    </a:p>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 Bưu tá nhập Số tiền COD (Nhập 0 nếu không có).</a:t>
                      </a:r>
                      <a:endParaRPr lang="vi-VN" sz="1600">
                        <a:effectLst/>
                        <a:latin typeface="Arial" panose="020B0604020202020204" pitchFamily="34" charset="0"/>
                        <a:ea typeface="Times New Roman" panose="02020603050405020304" pitchFamily="18" charset="0"/>
                        <a:cs typeface="Arial" panose="020B0604020202020204" pitchFamily="34" charset="0"/>
                      </a:endParaRPr>
                    </a:p>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 Hệ thống khởi tạo bản ghi trong bảng GiaoDich (LoaiGD = 'Giao hàng TMĐT'), bật chốt cửa tủ vật lý.</a:t>
                      </a:r>
                      <a:endParaRPr lang="vi-VN" sz="1600">
                        <a:effectLst/>
                        <a:latin typeface="Arial" panose="020B0604020202020204" pitchFamily="34" charset="0"/>
                        <a:ea typeface="Times New Roman" panose="02020603050405020304" pitchFamily="18" charset="0"/>
                        <a:cs typeface="Arial" panose="020B0604020202020204" pitchFamily="34" charset="0"/>
                      </a:endParaRPr>
                    </a:p>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6. Bưu tá đặt hàng, đóng cửa tủ.</a:t>
                      </a:r>
                      <a:endParaRPr lang="vi-VN" sz="1600">
                        <a:effectLst/>
                        <a:latin typeface="Arial" panose="020B0604020202020204" pitchFamily="34" charset="0"/>
                        <a:ea typeface="Times New Roman" panose="02020603050405020304" pitchFamily="18" charset="0"/>
                        <a:cs typeface="Arial" panose="020B0604020202020204" pitchFamily="34" charset="0"/>
                      </a:endParaRPr>
                    </a:p>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7. Hệ thống ghi nhận ThoiGianGui, sinh mã MaOTP_QR và gửi SMS/Zalo cho người nhận. Cập nhật TrangThaiNT thành "Đang dùng".</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50456" marR="504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30389346"/>
                  </a:ext>
                </a:extLst>
              </a:tr>
              <a:tr h="677535">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Ngoại lệ</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50456" marR="504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Trạm tủ đang mất kết nối mạng hoặc không còn ngăn tủ trống với kích thước yêu cầu (Hệ thống thông báo từ chối giao dịch).</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50456" marR="504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2034491"/>
                  </a:ext>
                </a:extLst>
              </a:tr>
            </a:tbl>
          </a:graphicData>
        </a:graphic>
      </p:graphicFrame>
    </p:spTree>
    <p:extLst>
      <p:ext uri="{BB962C8B-B14F-4D97-AF65-F5344CB8AC3E}">
        <p14:creationId xmlns:p14="http://schemas.microsoft.com/office/powerpoint/2010/main" val="2540245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a:extLst>
            <a:ext uri="{FF2B5EF4-FFF2-40B4-BE49-F238E27FC236}">
              <a16:creationId xmlns:a16="http://schemas.microsoft.com/office/drawing/2014/main" id="{7E0ADFAF-3789-C22F-DA82-4887A64B8A7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E425CB2-9DF7-4919-11FD-D6B9BC0C34C2}"/>
              </a:ext>
            </a:extLst>
          </p:cNvPr>
          <p:cNvSpPr/>
          <p:nvPr/>
        </p:nvSpPr>
        <p:spPr>
          <a:xfrm>
            <a:off x="7772"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a:extLst>
              <a:ext uri="{FF2B5EF4-FFF2-40B4-BE49-F238E27FC236}">
                <a16:creationId xmlns:a16="http://schemas.microsoft.com/office/drawing/2014/main" id="{E6275E66-B31C-BABB-0BA7-B7EA92111781}"/>
              </a:ext>
            </a:extLst>
          </p:cNvPr>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a:extLst>
              <a:ext uri="{FF2B5EF4-FFF2-40B4-BE49-F238E27FC236}">
                <a16:creationId xmlns:a16="http://schemas.microsoft.com/office/drawing/2014/main" id="{3D257F90-D54D-BA9F-17CC-4B91D47BBE44}"/>
              </a:ext>
            </a:extLst>
          </p:cNvPr>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a:extLst>
              <a:ext uri="{FF2B5EF4-FFF2-40B4-BE49-F238E27FC236}">
                <a16:creationId xmlns:a16="http://schemas.microsoft.com/office/drawing/2014/main" id="{74C457D9-A54C-F962-E304-A65B4521EF6E}"/>
              </a:ext>
            </a:extLst>
          </p:cNvPr>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a:extLst>
              <a:ext uri="{FF2B5EF4-FFF2-40B4-BE49-F238E27FC236}">
                <a16:creationId xmlns:a16="http://schemas.microsoft.com/office/drawing/2014/main" id="{1016EDAD-4BC3-F182-6A41-4A61FD5133A9}"/>
              </a:ext>
            </a:extLst>
          </p:cNvPr>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a:t>
            </a:r>
            <a:endParaRPr lang="en-US" sz="750" dirty="0"/>
          </a:p>
        </p:txBody>
      </p:sp>
      <p:sp>
        <p:nvSpPr>
          <p:cNvPr id="8" name="Text 6">
            <a:extLst>
              <a:ext uri="{FF2B5EF4-FFF2-40B4-BE49-F238E27FC236}">
                <a16:creationId xmlns:a16="http://schemas.microsoft.com/office/drawing/2014/main" id="{BA88E56B-A4EE-CBA7-69F7-222D1E7739B8}"/>
              </a:ext>
            </a:extLst>
          </p:cNvPr>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dirty="0">
                <a:solidFill>
                  <a:srgbClr val="1F2328"/>
                </a:solidFill>
                <a:latin typeface="Arial" pitchFamily="34" charset="0"/>
                <a:ea typeface="Arial" pitchFamily="34" charset="-122"/>
                <a:cs typeface="Arial" pitchFamily="34" charset="-120"/>
              </a:rPr>
              <a:t>Đặc tả Use Case</a:t>
            </a:r>
            <a:r>
              <a:rPr lang="en-US" sz="2400" b="1">
                <a:solidFill>
                  <a:srgbClr val="1F2328"/>
                </a:solidFill>
                <a:latin typeface="Arial" pitchFamily="34" charset="0"/>
                <a:ea typeface="Arial" pitchFamily="34" charset="-122"/>
                <a:cs typeface="Arial" pitchFamily="34" charset="-120"/>
              </a:rPr>
              <a:t>: QUẢN LÝ NHẬN HÀNG VÀ THANH TOÁN </a:t>
            </a:r>
            <a:endParaRPr lang="en-US" sz="2400" dirty="0"/>
          </a:p>
        </p:txBody>
      </p:sp>
      <p:sp>
        <p:nvSpPr>
          <p:cNvPr id="9" name="Shape 7">
            <a:extLst>
              <a:ext uri="{FF2B5EF4-FFF2-40B4-BE49-F238E27FC236}">
                <a16:creationId xmlns:a16="http://schemas.microsoft.com/office/drawing/2014/main" id="{87027991-6BF0-359C-27EF-E44FC78BB38E}"/>
              </a:ext>
            </a:extLst>
          </p:cNvPr>
          <p:cNvSpPr/>
          <p:nvPr/>
        </p:nvSpPr>
        <p:spPr>
          <a:xfrm>
            <a:off x="502920" y="1073983"/>
            <a:ext cx="1188720" cy="0"/>
          </a:xfrm>
          <a:prstGeom prst="line">
            <a:avLst/>
          </a:prstGeom>
          <a:noFill/>
          <a:ln w="27940">
            <a:solidFill>
              <a:srgbClr val="B50915"/>
            </a:solidFill>
            <a:prstDash val="solid"/>
          </a:ln>
        </p:spPr>
        <p:txBody>
          <a:bodyPr/>
          <a:lstStyle/>
          <a:p>
            <a:endParaRPr lang="vi-VN"/>
          </a:p>
        </p:txBody>
      </p:sp>
      <p:sp>
        <p:nvSpPr>
          <p:cNvPr id="35" name="Shape 33">
            <a:extLst>
              <a:ext uri="{FF2B5EF4-FFF2-40B4-BE49-F238E27FC236}">
                <a16:creationId xmlns:a16="http://schemas.microsoft.com/office/drawing/2014/main" id="{46F88B24-4D15-655F-81AE-E46DC18D3281}"/>
              </a:ext>
            </a:extLst>
          </p:cNvPr>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36" name="Text 34">
            <a:extLst>
              <a:ext uri="{FF2B5EF4-FFF2-40B4-BE49-F238E27FC236}">
                <a16:creationId xmlns:a16="http://schemas.microsoft.com/office/drawing/2014/main" id="{0D696E6C-2143-86C8-9082-80F86E6BC716}"/>
              </a:ext>
            </a:extLst>
          </p:cNvPr>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37" name="Text 35">
            <a:extLst>
              <a:ext uri="{FF2B5EF4-FFF2-40B4-BE49-F238E27FC236}">
                <a16:creationId xmlns:a16="http://schemas.microsoft.com/office/drawing/2014/main" id="{4B535DDF-8483-2427-AEE3-B20BB001391A}"/>
              </a:ext>
            </a:extLst>
          </p:cNvPr>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14</a:t>
            </a:r>
            <a:endParaRPr lang="en-US" sz="1000" dirty="0"/>
          </a:p>
        </p:txBody>
      </p:sp>
      <p:sp>
        <p:nvSpPr>
          <p:cNvPr id="38" name="Text 5">
            <a:extLst>
              <a:ext uri="{FF2B5EF4-FFF2-40B4-BE49-F238E27FC236}">
                <a16:creationId xmlns:a16="http://schemas.microsoft.com/office/drawing/2014/main" id="{EDFBABB1-23F0-8C59-CFD6-603526010E81}"/>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 PHÂN TÍCH HỆ THỐNG</a:t>
            </a:r>
          </a:p>
          <a:p>
            <a:pPr marL="0" indent="0">
              <a:buNone/>
            </a:pPr>
            <a:r>
              <a:rPr lang="en-US" sz="1200" b="1">
                <a:solidFill>
                  <a:srgbClr val="B50915"/>
                </a:solidFill>
                <a:latin typeface="Arial" pitchFamily="34" charset="0"/>
                <a:cs typeface="Arial" pitchFamily="34" charset="-120"/>
              </a:rPr>
              <a:t>2.1 Phân tích chức năng (Mô hình hóa Use Case)</a:t>
            </a:r>
            <a:endParaRPr lang="en-US" sz="1200" dirty="0"/>
          </a:p>
        </p:txBody>
      </p:sp>
      <p:graphicFrame>
        <p:nvGraphicFramePr>
          <p:cNvPr id="10" name="Bảng 9">
            <a:extLst>
              <a:ext uri="{FF2B5EF4-FFF2-40B4-BE49-F238E27FC236}">
                <a16:creationId xmlns:a16="http://schemas.microsoft.com/office/drawing/2014/main" id="{0999619D-7AB5-F3C1-4D54-78DE0BBFBED1}"/>
              </a:ext>
            </a:extLst>
          </p:cNvPr>
          <p:cNvGraphicFramePr>
            <a:graphicFrameLocks noGrp="1"/>
          </p:cNvGraphicFramePr>
          <p:nvPr>
            <p:extLst>
              <p:ext uri="{D42A27DB-BD31-4B8C-83A1-F6EECF244321}">
                <p14:modId xmlns:p14="http://schemas.microsoft.com/office/powerpoint/2010/main" val="202644127"/>
              </p:ext>
            </p:extLst>
          </p:nvPr>
        </p:nvGraphicFramePr>
        <p:xfrm>
          <a:off x="1747156" y="1126671"/>
          <a:ext cx="9138558" cy="5254170"/>
        </p:xfrm>
        <a:graphic>
          <a:graphicData uri="http://schemas.openxmlformats.org/drawingml/2006/table">
            <a:tbl>
              <a:tblPr firstRow="1" firstCol="1" bandRow="1"/>
              <a:tblGrid>
                <a:gridCol w="2345873">
                  <a:extLst>
                    <a:ext uri="{9D8B030D-6E8A-4147-A177-3AD203B41FA5}">
                      <a16:colId xmlns:a16="http://schemas.microsoft.com/office/drawing/2014/main" val="557907532"/>
                    </a:ext>
                  </a:extLst>
                </a:gridCol>
                <a:gridCol w="6792685">
                  <a:extLst>
                    <a:ext uri="{9D8B030D-6E8A-4147-A177-3AD203B41FA5}">
                      <a16:colId xmlns:a16="http://schemas.microsoft.com/office/drawing/2014/main" val="1233387002"/>
                    </a:ext>
                  </a:extLst>
                </a:gridCol>
              </a:tblGrid>
              <a:tr h="295671">
                <a:tc>
                  <a:txBody>
                    <a:bodyPr/>
                    <a:lstStyle/>
                    <a:p>
                      <a:pPr algn="ctr"/>
                      <a:r>
                        <a:rPr lang="vi-VN" sz="16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Thành phần đặc tả</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46096" marR="460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C9EB"/>
                    </a:solidFill>
                  </a:tcPr>
                </a:tc>
                <a:tc>
                  <a:txBody>
                    <a:bodyPr/>
                    <a:lstStyle/>
                    <a:p>
                      <a:pPr algn="ctr"/>
                      <a:r>
                        <a:rPr lang="vi-VN" sz="16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Nội dung chi tiết</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46096" marR="460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C9EB"/>
                    </a:solidFill>
                  </a:tcPr>
                </a:tc>
                <a:extLst>
                  <a:ext uri="{0D108BD9-81ED-4DB2-BD59-A6C34878D82A}">
                    <a16:rowId xmlns:a16="http://schemas.microsoft.com/office/drawing/2014/main" val="607381765"/>
                  </a:ext>
                </a:extLst>
              </a:tr>
              <a:tr h="294032">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Tên Usecase</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46096" marR="460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Mở tủ lấy hàng.</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46096" marR="460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0580307"/>
                  </a:ext>
                </a:extLst>
              </a:tr>
              <a:tr h="299239">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Tác nhân chính</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46096" marR="460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Cư dân (Người nhận).</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46096" marR="460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63336591"/>
                  </a:ext>
                </a:extLst>
              </a:tr>
              <a:tr h="538174">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Mô tả tóm tắt</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46096" marR="460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Cư dân nhập mã xác thực, tiến hành thanh toán các khoản phí phát sinh (nếu có) và lấy hàng khỏi tủ.</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46096" marR="460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11697353"/>
                  </a:ext>
                </a:extLst>
              </a:tr>
              <a:tr h="390800">
                <a:tc>
                  <a:txBody>
                    <a:bodyPr/>
                    <a:lstStyle/>
                    <a:p>
                      <a:pPr algn="just"/>
                      <a:r>
                        <a:rPr lang="en-US"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Điều kiện tiên quyết</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46096" marR="460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Cư dân có mã OTP/QR hợp lệ chưa hết hạn (HanSuDungOTP).</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46096" marR="460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89257691"/>
                  </a:ext>
                </a:extLst>
              </a:tr>
              <a:tr h="2667000">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Thao tác chính</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46096" marR="460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 Cư dân nhập OTP hoặc quét mã QR tại màn hình tủ. </a:t>
                      </a:r>
                      <a:endParaRPr lang="vi-VN" sz="1600">
                        <a:effectLst/>
                        <a:latin typeface="Arial" panose="020B0604020202020204" pitchFamily="34" charset="0"/>
                        <a:ea typeface="Times New Roman" panose="02020603050405020304" pitchFamily="18" charset="0"/>
                        <a:cs typeface="Arial" panose="020B0604020202020204" pitchFamily="34" charset="0"/>
                      </a:endParaRPr>
                    </a:p>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 Hệ thống đối chiếu mã và tính toán thời gian lưu bãi (Thời gian hiện tại - ThoiGianGui). </a:t>
                      </a:r>
                      <a:endParaRPr lang="vi-VN" sz="1600">
                        <a:effectLst/>
                        <a:latin typeface="Arial" panose="020B0604020202020204" pitchFamily="34" charset="0"/>
                        <a:ea typeface="Times New Roman" panose="02020603050405020304" pitchFamily="18" charset="0"/>
                        <a:cs typeface="Arial" panose="020B0604020202020204" pitchFamily="34" charset="0"/>
                      </a:endParaRPr>
                    </a:p>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 Hệ thống tính tổng tiền = Tiền COD + Phí lưu bãi quá hạn (dựa trên PhiLuuBaiQuaHan của bảng LoaiNganTu). </a:t>
                      </a:r>
                      <a:endParaRPr lang="vi-VN" sz="1600">
                        <a:effectLst/>
                        <a:latin typeface="Arial" panose="020B0604020202020204" pitchFamily="34" charset="0"/>
                        <a:ea typeface="Times New Roman" panose="02020603050405020304" pitchFamily="18" charset="0"/>
                        <a:cs typeface="Arial" panose="020B0604020202020204" pitchFamily="34" charset="0"/>
                      </a:endParaRPr>
                    </a:p>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 Nếu Tổng tiền &gt; 0: Hệ thống sinh mã QR thanh toán động. Cư dân quét mã qua ví điện tử. Hệ thống nhận webhook xác nhận thanh toán thành công. </a:t>
                      </a:r>
                      <a:endParaRPr lang="vi-VN" sz="1600">
                        <a:effectLst/>
                        <a:latin typeface="Arial" panose="020B0604020202020204" pitchFamily="34" charset="0"/>
                        <a:ea typeface="Times New Roman" panose="02020603050405020304" pitchFamily="18" charset="0"/>
                        <a:cs typeface="Arial" panose="020B0604020202020204" pitchFamily="34" charset="0"/>
                      </a:endParaRPr>
                    </a:p>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 Hệ thống gửi lệnh bật chốt cửa tủ. Cư dân lấy hàng và đóng cửa. </a:t>
                      </a:r>
                      <a:endParaRPr lang="vi-VN" sz="1600">
                        <a:effectLst/>
                        <a:latin typeface="Arial" panose="020B0604020202020204" pitchFamily="34" charset="0"/>
                        <a:ea typeface="Times New Roman" panose="02020603050405020304" pitchFamily="18" charset="0"/>
                        <a:cs typeface="Arial" panose="020B0604020202020204" pitchFamily="34" charset="0"/>
                      </a:endParaRPr>
                    </a:p>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6. Hệ thống cập nhật ThoiGianNhan, đổi trạng thái giao dịch thành "Đã nhận", đổi trạng thái ngăn tủ về "Trống". </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46096" marR="460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78707743"/>
                  </a:ext>
                </a:extLst>
              </a:tr>
              <a:tr h="769254">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Ngoại lệ</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46096" marR="460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Mã OTP sai hoặc quá hạn: Báo lỗi, yêu cầu cấp lại mã. </a:t>
                      </a:r>
                      <a:endParaRPr lang="vi-VN" sz="1600">
                        <a:effectLst/>
                        <a:latin typeface="Arial" panose="020B0604020202020204" pitchFamily="34" charset="0"/>
                        <a:ea typeface="Times New Roman" panose="02020603050405020304" pitchFamily="18" charset="0"/>
                        <a:cs typeface="Arial" panose="020B0604020202020204" pitchFamily="34" charset="0"/>
                      </a:endParaRPr>
                    </a:p>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Thanh toán thất bại: Báo lỗi thanh toán, không mở tủ. </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46096" marR="460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4715597"/>
                  </a:ext>
                </a:extLst>
              </a:tr>
            </a:tbl>
          </a:graphicData>
        </a:graphic>
      </p:graphicFrame>
    </p:spTree>
    <p:extLst>
      <p:ext uri="{BB962C8B-B14F-4D97-AF65-F5344CB8AC3E}">
        <p14:creationId xmlns:p14="http://schemas.microsoft.com/office/powerpoint/2010/main" val="1985390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a:extLst>
            <a:ext uri="{FF2B5EF4-FFF2-40B4-BE49-F238E27FC236}">
              <a16:creationId xmlns:a16="http://schemas.microsoft.com/office/drawing/2014/main" id="{0016F1D6-C82F-FA92-9926-A01D542C15A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867787E-6D3D-6ECD-637D-CBA189AAA021}"/>
              </a:ext>
            </a:extLst>
          </p:cNvPr>
          <p:cNvSpPr/>
          <p:nvPr/>
        </p:nvSpPr>
        <p:spPr>
          <a:xfrm>
            <a:off x="7772"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a:extLst>
              <a:ext uri="{FF2B5EF4-FFF2-40B4-BE49-F238E27FC236}">
                <a16:creationId xmlns:a16="http://schemas.microsoft.com/office/drawing/2014/main" id="{BE5BF81C-AD5E-5351-EF02-5A2EF96A684E}"/>
              </a:ext>
            </a:extLst>
          </p:cNvPr>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a:extLst>
              <a:ext uri="{FF2B5EF4-FFF2-40B4-BE49-F238E27FC236}">
                <a16:creationId xmlns:a16="http://schemas.microsoft.com/office/drawing/2014/main" id="{3A7FB817-C4C1-D9C6-D7C5-82A148CBB17E}"/>
              </a:ext>
            </a:extLst>
          </p:cNvPr>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a:extLst>
              <a:ext uri="{FF2B5EF4-FFF2-40B4-BE49-F238E27FC236}">
                <a16:creationId xmlns:a16="http://schemas.microsoft.com/office/drawing/2014/main" id="{F6E170A0-FD93-6A9B-832D-44E01A935620}"/>
              </a:ext>
            </a:extLst>
          </p:cNvPr>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a:extLst>
              <a:ext uri="{FF2B5EF4-FFF2-40B4-BE49-F238E27FC236}">
                <a16:creationId xmlns:a16="http://schemas.microsoft.com/office/drawing/2014/main" id="{5E558472-6765-4AC6-0931-FF1507E9F9DA}"/>
              </a:ext>
            </a:extLst>
          </p:cNvPr>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a:t>
            </a:r>
            <a:endParaRPr lang="en-US" sz="750" dirty="0"/>
          </a:p>
        </p:txBody>
      </p:sp>
      <p:sp>
        <p:nvSpPr>
          <p:cNvPr id="8" name="Text 6">
            <a:extLst>
              <a:ext uri="{FF2B5EF4-FFF2-40B4-BE49-F238E27FC236}">
                <a16:creationId xmlns:a16="http://schemas.microsoft.com/office/drawing/2014/main" id="{554DB93B-CA06-A4C3-DBE6-69CFF93FED46}"/>
              </a:ext>
            </a:extLst>
          </p:cNvPr>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dirty="0">
                <a:solidFill>
                  <a:srgbClr val="1F2328"/>
                </a:solidFill>
                <a:latin typeface="Arial" pitchFamily="34" charset="0"/>
                <a:ea typeface="Arial" pitchFamily="34" charset="-122"/>
                <a:cs typeface="Arial" pitchFamily="34" charset="-120"/>
              </a:rPr>
              <a:t>Đặc tả Use Case</a:t>
            </a:r>
            <a:r>
              <a:rPr lang="en-US" sz="2400" b="1">
                <a:solidFill>
                  <a:srgbClr val="1F2328"/>
                </a:solidFill>
                <a:latin typeface="Arial" pitchFamily="34" charset="0"/>
                <a:ea typeface="Arial" pitchFamily="34" charset="-122"/>
                <a:cs typeface="Arial" pitchFamily="34" charset="-120"/>
              </a:rPr>
              <a:t>: QUẢN LÝ THUÊ TỦ CÁ NHÂN </a:t>
            </a:r>
            <a:endParaRPr lang="en-US" sz="2400" dirty="0"/>
          </a:p>
        </p:txBody>
      </p:sp>
      <p:sp>
        <p:nvSpPr>
          <p:cNvPr id="9" name="Shape 7">
            <a:extLst>
              <a:ext uri="{FF2B5EF4-FFF2-40B4-BE49-F238E27FC236}">
                <a16:creationId xmlns:a16="http://schemas.microsoft.com/office/drawing/2014/main" id="{69B7D4E0-FECD-BB43-42CB-5951E490E944}"/>
              </a:ext>
            </a:extLst>
          </p:cNvPr>
          <p:cNvSpPr/>
          <p:nvPr/>
        </p:nvSpPr>
        <p:spPr>
          <a:xfrm>
            <a:off x="502920" y="1041325"/>
            <a:ext cx="1188720" cy="0"/>
          </a:xfrm>
          <a:prstGeom prst="line">
            <a:avLst/>
          </a:prstGeom>
          <a:noFill/>
          <a:ln w="27940">
            <a:solidFill>
              <a:srgbClr val="B50915"/>
            </a:solidFill>
            <a:prstDash val="solid"/>
          </a:ln>
        </p:spPr>
        <p:txBody>
          <a:bodyPr/>
          <a:lstStyle/>
          <a:p>
            <a:endParaRPr lang="vi-VN"/>
          </a:p>
        </p:txBody>
      </p:sp>
      <p:sp>
        <p:nvSpPr>
          <p:cNvPr id="35" name="Shape 33">
            <a:extLst>
              <a:ext uri="{FF2B5EF4-FFF2-40B4-BE49-F238E27FC236}">
                <a16:creationId xmlns:a16="http://schemas.microsoft.com/office/drawing/2014/main" id="{DC3EDE73-8B60-7B80-0710-1185A21EA2A4}"/>
              </a:ext>
            </a:extLst>
          </p:cNvPr>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36" name="Text 34">
            <a:extLst>
              <a:ext uri="{FF2B5EF4-FFF2-40B4-BE49-F238E27FC236}">
                <a16:creationId xmlns:a16="http://schemas.microsoft.com/office/drawing/2014/main" id="{C1189A46-9B0D-294E-E9D4-BC8F517B5E1C}"/>
              </a:ext>
            </a:extLst>
          </p:cNvPr>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37" name="Text 35">
            <a:extLst>
              <a:ext uri="{FF2B5EF4-FFF2-40B4-BE49-F238E27FC236}">
                <a16:creationId xmlns:a16="http://schemas.microsoft.com/office/drawing/2014/main" id="{CCCD848B-AFE9-2480-2667-9D69FC01FA69}"/>
              </a:ext>
            </a:extLst>
          </p:cNvPr>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14</a:t>
            </a:r>
            <a:endParaRPr lang="en-US" sz="1000" dirty="0"/>
          </a:p>
        </p:txBody>
      </p:sp>
      <p:sp>
        <p:nvSpPr>
          <p:cNvPr id="38" name="Text 5">
            <a:extLst>
              <a:ext uri="{FF2B5EF4-FFF2-40B4-BE49-F238E27FC236}">
                <a16:creationId xmlns:a16="http://schemas.microsoft.com/office/drawing/2014/main" id="{9EB96A98-E1DA-B232-BF0C-066BEB5B42C5}"/>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 PHÂN TÍCH HỆ THỐNG</a:t>
            </a:r>
          </a:p>
          <a:p>
            <a:pPr marL="0" indent="0">
              <a:buNone/>
            </a:pPr>
            <a:r>
              <a:rPr lang="en-US" sz="1200" b="1">
                <a:solidFill>
                  <a:srgbClr val="B50915"/>
                </a:solidFill>
                <a:latin typeface="Arial" pitchFamily="34" charset="0"/>
                <a:cs typeface="Arial" pitchFamily="34" charset="-120"/>
              </a:rPr>
              <a:t>2.1 Phân tích chức năng (Mô hình hóa Use Case)</a:t>
            </a:r>
            <a:endParaRPr lang="en-US" sz="1200" dirty="0"/>
          </a:p>
        </p:txBody>
      </p:sp>
      <p:graphicFrame>
        <p:nvGraphicFramePr>
          <p:cNvPr id="7" name="Bảng 6">
            <a:extLst>
              <a:ext uri="{FF2B5EF4-FFF2-40B4-BE49-F238E27FC236}">
                <a16:creationId xmlns:a16="http://schemas.microsoft.com/office/drawing/2014/main" id="{E2798659-C46E-3B61-DF86-59615077E2E4}"/>
              </a:ext>
            </a:extLst>
          </p:cNvPr>
          <p:cNvGraphicFramePr>
            <a:graphicFrameLocks noGrp="1"/>
          </p:cNvGraphicFramePr>
          <p:nvPr>
            <p:extLst>
              <p:ext uri="{D42A27DB-BD31-4B8C-83A1-F6EECF244321}">
                <p14:modId xmlns:p14="http://schemas.microsoft.com/office/powerpoint/2010/main" val="3364445454"/>
              </p:ext>
            </p:extLst>
          </p:nvPr>
        </p:nvGraphicFramePr>
        <p:xfrm>
          <a:off x="1921326" y="1389674"/>
          <a:ext cx="8802624" cy="4675761"/>
        </p:xfrm>
        <a:graphic>
          <a:graphicData uri="http://schemas.openxmlformats.org/drawingml/2006/table">
            <a:tbl>
              <a:tblPr firstRow="1" firstCol="1" bandRow="1"/>
              <a:tblGrid>
                <a:gridCol w="2438400">
                  <a:extLst>
                    <a:ext uri="{9D8B030D-6E8A-4147-A177-3AD203B41FA5}">
                      <a16:colId xmlns:a16="http://schemas.microsoft.com/office/drawing/2014/main" val="4054042599"/>
                    </a:ext>
                  </a:extLst>
                </a:gridCol>
                <a:gridCol w="6364224">
                  <a:extLst>
                    <a:ext uri="{9D8B030D-6E8A-4147-A177-3AD203B41FA5}">
                      <a16:colId xmlns:a16="http://schemas.microsoft.com/office/drawing/2014/main" val="1403984262"/>
                    </a:ext>
                  </a:extLst>
                </a:gridCol>
              </a:tblGrid>
              <a:tr h="366610">
                <a:tc>
                  <a:txBody>
                    <a:bodyPr/>
                    <a:lstStyle/>
                    <a:p>
                      <a:pPr algn="ctr"/>
                      <a:r>
                        <a:rPr lang="vi-VN" sz="16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Thành phần đặc tả</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66423" marR="66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C9EB"/>
                    </a:solidFill>
                  </a:tcPr>
                </a:tc>
                <a:tc>
                  <a:txBody>
                    <a:bodyPr/>
                    <a:lstStyle/>
                    <a:p>
                      <a:pPr algn="ctr"/>
                      <a:r>
                        <a:rPr lang="vi-VN" sz="16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Nội dung chi tiết</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66423" marR="66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C9EB"/>
                    </a:solidFill>
                  </a:tcPr>
                </a:tc>
                <a:extLst>
                  <a:ext uri="{0D108BD9-81ED-4DB2-BD59-A6C34878D82A}">
                    <a16:rowId xmlns:a16="http://schemas.microsoft.com/office/drawing/2014/main" val="1568155196"/>
                  </a:ext>
                </a:extLst>
              </a:tr>
              <a:tr h="299414">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Tên Usecase</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66423" marR="66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Tự thuê tủ cá nhân.</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66423" marR="66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52337420"/>
                  </a:ext>
                </a:extLst>
              </a:tr>
              <a:tr h="321129">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Tác nhân chính</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66423" marR="66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en-US"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Cư dân.</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66423" marR="66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41590607"/>
                  </a:ext>
                </a:extLst>
              </a:tr>
              <a:tr h="451611">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Mô tả tóm tắt</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66423" marR="66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Cư dân chủ động trả phí dịch vụ để thuê một ngăn tủ trống gửi đồ cá nhân.</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66423" marR="66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48969836"/>
                  </a:ext>
                </a:extLst>
              </a:tr>
              <a:tr h="451611">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Điều kiện tiên quyết</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66423" marR="66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Cư dân đăng nhập thành công. Trạm tủ có ngăn "Trống".</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66423" marR="66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0213158"/>
                  </a:ext>
                </a:extLst>
              </a:tr>
              <a:tr h="2333775">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Thao tác chính</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66423" marR="66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 Cư dân chọn chức năng thuê tủ, chọn kích thước ngăn (S, M, L).</a:t>
                      </a:r>
                      <a:endParaRPr lang="vi-VN" sz="1600">
                        <a:effectLst/>
                        <a:latin typeface="Arial" panose="020B0604020202020204" pitchFamily="34" charset="0"/>
                        <a:ea typeface="Times New Roman" panose="02020603050405020304" pitchFamily="18" charset="0"/>
                        <a:cs typeface="Arial" panose="020B0604020202020204" pitchFamily="34" charset="0"/>
                      </a:endParaRPr>
                    </a:p>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 Hệ thống hiển thị PhiDichVu ban đầu tương ứng.</a:t>
                      </a:r>
                      <a:endParaRPr lang="vi-VN" sz="1600">
                        <a:effectLst/>
                        <a:latin typeface="Arial" panose="020B0604020202020204" pitchFamily="34" charset="0"/>
                        <a:ea typeface="Times New Roman" panose="02020603050405020304" pitchFamily="18" charset="0"/>
                        <a:cs typeface="Arial" panose="020B0604020202020204" pitchFamily="34" charset="0"/>
                      </a:endParaRPr>
                    </a:p>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 Cư dân nhập SĐT người nhận (nếu gửi cho người khác) và tiến hành thanh toán phí dịch vụ.</a:t>
                      </a:r>
                      <a:endParaRPr lang="vi-VN" sz="1600">
                        <a:effectLst/>
                        <a:latin typeface="Arial" panose="020B0604020202020204" pitchFamily="34" charset="0"/>
                        <a:ea typeface="Times New Roman" panose="02020603050405020304" pitchFamily="18" charset="0"/>
                        <a:cs typeface="Arial" panose="020B0604020202020204" pitchFamily="34" charset="0"/>
                      </a:endParaRPr>
                    </a:p>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 Thanh toán thành công, hệ thống khởi tạo bản ghi GiaoDich (LoaiGD = 'Tự thuê') và mở chốt tủ.</a:t>
                      </a:r>
                      <a:endParaRPr lang="vi-VN" sz="1600">
                        <a:effectLst/>
                        <a:latin typeface="Arial" panose="020B0604020202020204" pitchFamily="34" charset="0"/>
                        <a:ea typeface="Times New Roman" panose="02020603050405020304" pitchFamily="18" charset="0"/>
                        <a:cs typeface="Arial" panose="020B0604020202020204" pitchFamily="34" charset="0"/>
                      </a:endParaRPr>
                    </a:p>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 Cư dân cất đồ, đóng cửa. Hệ thống sinh mã OTP gửi đến SĐT người nhận.</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66423" marR="66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73678107"/>
                  </a:ext>
                </a:extLst>
              </a:tr>
              <a:tr h="451611">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Ngoại lệ</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66423" marR="66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Hủy thanh toán hoặc thanh toán lỗi (Giao dịch bị hủy bỏ, tủ không mở).</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66423" marR="66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55292975"/>
                  </a:ext>
                </a:extLst>
              </a:tr>
            </a:tbl>
          </a:graphicData>
        </a:graphic>
      </p:graphicFrame>
    </p:spTree>
    <p:extLst>
      <p:ext uri="{BB962C8B-B14F-4D97-AF65-F5344CB8AC3E}">
        <p14:creationId xmlns:p14="http://schemas.microsoft.com/office/powerpoint/2010/main" val="8945017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a:extLst>
            <a:ext uri="{FF2B5EF4-FFF2-40B4-BE49-F238E27FC236}">
              <a16:creationId xmlns:a16="http://schemas.microsoft.com/office/drawing/2014/main" id="{AFBAC931-CC72-21CA-A63C-D530C451FF4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567143B-9898-BBC1-D886-BF06494E0C50}"/>
              </a:ext>
            </a:extLst>
          </p:cNvPr>
          <p:cNvSpPr/>
          <p:nvPr/>
        </p:nvSpPr>
        <p:spPr>
          <a:xfrm>
            <a:off x="7772"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a:extLst>
              <a:ext uri="{FF2B5EF4-FFF2-40B4-BE49-F238E27FC236}">
                <a16:creationId xmlns:a16="http://schemas.microsoft.com/office/drawing/2014/main" id="{8637BB85-8605-8651-ED21-D5C852823C90}"/>
              </a:ext>
            </a:extLst>
          </p:cNvPr>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a:extLst>
              <a:ext uri="{FF2B5EF4-FFF2-40B4-BE49-F238E27FC236}">
                <a16:creationId xmlns:a16="http://schemas.microsoft.com/office/drawing/2014/main" id="{EDC67828-3A4C-0AFC-8711-8718D0EBB572}"/>
              </a:ext>
            </a:extLst>
          </p:cNvPr>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a:extLst>
              <a:ext uri="{FF2B5EF4-FFF2-40B4-BE49-F238E27FC236}">
                <a16:creationId xmlns:a16="http://schemas.microsoft.com/office/drawing/2014/main" id="{070A0BBE-78BD-496F-34D8-5EB6A8241D51}"/>
              </a:ext>
            </a:extLst>
          </p:cNvPr>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a:extLst>
              <a:ext uri="{FF2B5EF4-FFF2-40B4-BE49-F238E27FC236}">
                <a16:creationId xmlns:a16="http://schemas.microsoft.com/office/drawing/2014/main" id="{9A3CC1B9-28BC-4C3E-0539-687B94ADE438}"/>
              </a:ext>
            </a:extLst>
          </p:cNvPr>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a:t>
            </a:r>
            <a:endParaRPr lang="en-US" sz="750" dirty="0"/>
          </a:p>
        </p:txBody>
      </p:sp>
      <p:sp>
        <p:nvSpPr>
          <p:cNvPr id="8" name="Text 6">
            <a:extLst>
              <a:ext uri="{FF2B5EF4-FFF2-40B4-BE49-F238E27FC236}">
                <a16:creationId xmlns:a16="http://schemas.microsoft.com/office/drawing/2014/main" id="{E46FBA49-4907-50D3-1503-9F3C91B6256A}"/>
              </a:ext>
            </a:extLst>
          </p:cNvPr>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dirty="0">
                <a:solidFill>
                  <a:srgbClr val="1F2328"/>
                </a:solidFill>
                <a:latin typeface="Arial" pitchFamily="34" charset="0"/>
                <a:ea typeface="Arial" pitchFamily="34" charset="-122"/>
                <a:cs typeface="Arial" pitchFamily="34" charset="-120"/>
              </a:rPr>
              <a:t>Đặc tả Use Case</a:t>
            </a:r>
            <a:r>
              <a:rPr lang="en-US" sz="2400" b="1">
                <a:solidFill>
                  <a:srgbClr val="1F2328"/>
                </a:solidFill>
                <a:latin typeface="Arial" pitchFamily="34" charset="0"/>
                <a:ea typeface="Arial" pitchFamily="34" charset="-122"/>
                <a:cs typeface="Arial" pitchFamily="34" charset="-120"/>
              </a:rPr>
              <a:t>: QUẢN LÝ TRẠM TỦ VÀ BIỂU PHÍ </a:t>
            </a:r>
            <a:endParaRPr lang="en-US" sz="2400" dirty="0"/>
          </a:p>
        </p:txBody>
      </p:sp>
      <p:sp>
        <p:nvSpPr>
          <p:cNvPr id="9" name="Shape 7">
            <a:extLst>
              <a:ext uri="{FF2B5EF4-FFF2-40B4-BE49-F238E27FC236}">
                <a16:creationId xmlns:a16="http://schemas.microsoft.com/office/drawing/2014/main" id="{F040C069-A009-38FD-DC08-47F9BF3911F2}"/>
              </a:ext>
            </a:extLst>
          </p:cNvPr>
          <p:cNvSpPr/>
          <p:nvPr/>
        </p:nvSpPr>
        <p:spPr>
          <a:xfrm>
            <a:off x="502920" y="1008668"/>
            <a:ext cx="1188720" cy="0"/>
          </a:xfrm>
          <a:prstGeom prst="line">
            <a:avLst/>
          </a:prstGeom>
          <a:noFill/>
          <a:ln w="27940">
            <a:solidFill>
              <a:srgbClr val="B50915"/>
            </a:solidFill>
            <a:prstDash val="solid"/>
          </a:ln>
        </p:spPr>
        <p:txBody>
          <a:bodyPr/>
          <a:lstStyle/>
          <a:p>
            <a:endParaRPr lang="vi-VN"/>
          </a:p>
        </p:txBody>
      </p:sp>
      <p:sp>
        <p:nvSpPr>
          <p:cNvPr id="35" name="Shape 33">
            <a:extLst>
              <a:ext uri="{FF2B5EF4-FFF2-40B4-BE49-F238E27FC236}">
                <a16:creationId xmlns:a16="http://schemas.microsoft.com/office/drawing/2014/main" id="{5AF04C0A-BF02-9D07-6747-8E24C6D69ABF}"/>
              </a:ext>
            </a:extLst>
          </p:cNvPr>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36" name="Text 34">
            <a:extLst>
              <a:ext uri="{FF2B5EF4-FFF2-40B4-BE49-F238E27FC236}">
                <a16:creationId xmlns:a16="http://schemas.microsoft.com/office/drawing/2014/main" id="{20741CD7-1726-1E03-35B2-69539FC07706}"/>
              </a:ext>
            </a:extLst>
          </p:cNvPr>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37" name="Text 35">
            <a:extLst>
              <a:ext uri="{FF2B5EF4-FFF2-40B4-BE49-F238E27FC236}">
                <a16:creationId xmlns:a16="http://schemas.microsoft.com/office/drawing/2014/main" id="{78DD6F9E-CD7B-8594-6C87-EDFA24909B92}"/>
              </a:ext>
            </a:extLst>
          </p:cNvPr>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14</a:t>
            </a:r>
            <a:endParaRPr lang="en-US" sz="1000" dirty="0"/>
          </a:p>
        </p:txBody>
      </p:sp>
      <p:sp>
        <p:nvSpPr>
          <p:cNvPr id="38" name="Text 5">
            <a:extLst>
              <a:ext uri="{FF2B5EF4-FFF2-40B4-BE49-F238E27FC236}">
                <a16:creationId xmlns:a16="http://schemas.microsoft.com/office/drawing/2014/main" id="{80D76627-F447-EDAC-5D09-2A68905E790F}"/>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 PHÂN TÍCH HỆ THỐNG</a:t>
            </a:r>
          </a:p>
          <a:p>
            <a:pPr marL="0" indent="0">
              <a:buNone/>
            </a:pPr>
            <a:r>
              <a:rPr lang="en-US" sz="1200" b="1">
                <a:solidFill>
                  <a:srgbClr val="B50915"/>
                </a:solidFill>
                <a:latin typeface="Arial" pitchFamily="34" charset="0"/>
                <a:cs typeface="Arial" pitchFamily="34" charset="-120"/>
              </a:rPr>
              <a:t>2.1 Phân tích chức năng (Mô hình hóa Use Case)</a:t>
            </a:r>
            <a:endParaRPr lang="en-US" sz="1200" dirty="0"/>
          </a:p>
        </p:txBody>
      </p:sp>
      <p:graphicFrame>
        <p:nvGraphicFramePr>
          <p:cNvPr id="10" name="Bảng 9">
            <a:extLst>
              <a:ext uri="{FF2B5EF4-FFF2-40B4-BE49-F238E27FC236}">
                <a16:creationId xmlns:a16="http://schemas.microsoft.com/office/drawing/2014/main" id="{40586457-FE3C-BF58-0C01-18416BA46852}"/>
              </a:ext>
            </a:extLst>
          </p:cNvPr>
          <p:cNvGraphicFramePr>
            <a:graphicFrameLocks noGrp="1"/>
          </p:cNvGraphicFramePr>
          <p:nvPr>
            <p:extLst>
              <p:ext uri="{D42A27DB-BD31-4B8C-83A1-F6EECF244321}">
                <p14:modId xmlns:p14="http://schemas.microsoft.com/office/powerpoint/2010/main" val="4281022442"/>
              </p:ext>
            </p:extLst>
          </p:nvPr>
        </p:nvGraphicFramePr>
        <p:xfrm>
          <a:off x="1796143" y="1209249"/>
          <a:ext cx="9307286" cy="5044593"/>
        </p:xfrm>
        <a:graphic>
          <a:graphicData uri="http://schemas.openxmlformats.org/drawingml/2006/table">
            <a:tbl>
              <a:tblPr firstRow="1" firstCol="1" bandRow="1"/>
              <a:tblGrid>
                <a:gridCol w="2901043">
                  <a:extLst>
                    <a:ext uri="{9D8B030D-6E8A-4147-A177-3AD203B41FA5}">
                      <a16:colId xmlns:a16="http://schemas.microsoft.com/office/drawing/2014/main" val="1896181551"/>
                    </a:ext>
                  </a:extLst>
                </a:gridCol>
                <a:gridCol w="6406243">
                  <a:extLst>
                    <a:ext uri="{9D8B030D-6E8A-4147-A177-3AD203B41FA5}">
                      <a16:colId xmlns:a16="http://schemas.microsoft.com/office/drawing/2014/main" val="2821389374"/>
                    </a:ext>
                  </a:extLst>
                </a:gridCol>
              </a:tblGrid>
              <a:tr h="357686">
                <a:tc>
                  <a:txBody>
                    <a:bodyPr/>
                    <a:lstStyle/>
                    <a:p>
                      <a:pPr algn="ctr"/>
                      <a:r>
                        <a:rPr lang="vi-VN" sz="16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Thành phần đặc tả</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63609" marR="636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C9EB"/>
                    </a:solidFill>
                  </a:tcPr>
                </a:tc>
                <a:tc>
                  <a:txBody>
                    <a:bodyPr/>
                    <a:lstStyle/>
                    <a:p>
                      <a:pPr algn="ctr"/>
                      <a:r>
                        <a:rPr lang="vi-VN" sz="16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Nội dung chi tiết</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63609" marR="636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C9EB"/>
                    </a:solidFill>
                  </a:tcPr>
                </a:tc>
                <a:extLst>
                  <a:ext uri="{0D108BD9-81ED-4DB2-BD59-A6C34878D82A}">
                    <a16:rowId xmlns:a16="http://schemas.microsoft.com/office/drawing/2014/main" val="3448663974"/>
                  </a:ext>
                </a:extLst>
              </a:tr>
              <a:tr h="320929">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Tên Usecase</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63609" marR="636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en-US"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Cập nhật biểu phí tủ đồ.</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63609" marR="636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29548554"/>
                  </a:ext>
                </a:extLst>
              </a:tr>
              <a:tr h="359229">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Tác nhân chính</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63609" marR="636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Quản trị viên (Admin).</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63609" marR="636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30156816"/>
                  </a:ext>
                </a:extLst>
              </a:tr>
              <a:tr h="638920">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Mô tả tóm tắt</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63609" marR="636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Admin thay đổi bảng giá cước dịch vụ và phí phạt quá hạn áp dụng cho toàn hệ thống.</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63609" marR="636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39362544"/>
                  </a:ext>
                </a:extLst>
              </a:tr>
              <a:tr h="425948">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Điều kiện tiên quyết</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63609" marR="636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Người dùng đăng nhập bằng tài khoản Quản trị viên.</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63609" marR="636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45404702"/>
                  </a:ext>
                </a:extLst>
              </a:tr>
              <a:tr h="2342361">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Thao tác chính</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63609" marR="636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 Admin chọn chức năng Quản lý biểu phí.</a:t>
                      </a:r>
                      <a:endParaRPr lang="vi-VN" sz="1600">
                        <a:effectLst/>
                        <a:latin typeface="Arial" panose="020B0604020202020204" pitchFamily="34" charset="0"/>
                        <a:ea typeface="Times New Roman" panose="02020603050405020304" pitchFamily="18" charset="0"/>
                        <a:cs typeface="Arial" panose="020B0604020202020204" pitchFamily="34" charset="0"/>
                      </a:endParaRPr>
                    </a:p>
                    <a:p>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 Hệ thống truy vấn và hiển thị dữ liệu từ bảng LoaiNganTu.</a:t>
                      </a:r>
                      <a:endParaRPr lang="vi-VN" sz="1600">
                        <a:effectLst/>
                        <a:latin typeface="Arial" panose="020B0604020202020204" pitchFamily="34" charset="0"/>
                        <a:ea typeface="Times New Roman" panose="02020603050405020304" pitchFamily="18" charset="0"/>
                        <a:cs typeface="Arial" panose="020B0604020202020204" pitchFamily="34" charset="0"/>
                      </a:endParaRPr>
                    </a:p>
                    <a:p>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 Admin chỉnh sửa PhiDichVu hoặc PhiLuuBaiQuaHan cho một kích thước cụ thể.</a:t>
                      </a:r>
                      <a:endParaRPr lang="vi-VN" sz="1600">
                        <a:effectLst/>
                        <a:latin typeface="Arial" panose="020B0604020202020204" pitchFamily="34" charset="0"/>
                        <a:ea typeface="Times New Roman" panose="02020603050405020304" pitchFamily="18" charset="0"/>
                        <a:cs typeface="Arial" panose="020B0604020202020204" pitchFamily="34" charset="0"/>
                      </a:endParaRPr>
                    </a:p>
                    <a:p>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 Hệ thống kiểm tra tính hợp lệ (phải là số nguyên dương).</a:t>
                      </a:r>
                      <a:endParaRPr lang="vi-VN" sz="1600">
                        <a:effectLst/>
                        <a:latin typeface="Arial" panose="020B0604020202020204" pitchFamily="34" charset="0"/>
                        <a:ea typeface="Times New Roman" panose="02020603050405020304" pitchFamily="18" charset="0"/>
                        <a:cs typeface="Arial" panose="020B0604020202020204" pitchFamily="34" charset="0"/>
                      </a:endParaRPr>
                    </a:p>
                    <a:p>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 Hệ thống cập nhật vào CSDL và đồng bộ chính sách giá mới xuống tất cả các trạm tủ.</a:t>
                      </a:r>
                      <a:r>
                        <a:rPr lang="en-US"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63609" marR="636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44045860"/>
                  </a:ext>
                </a:extLst>
              </a:tr>
              <a:tr h="599520">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Ngoại lệ</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63609" marR="636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vi-VN" sz="16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Nhập dữ liệu trống hoặc sai định dạng (Hệ thống từ chối lưu và báo lỗi).</a:t>
                      </a:r>
                      <a:endParaRPr lang="vi-VN" sz="1600">
                        <a:effectLst/>
                        <a:latin typeface="Arial" panose="020B0604020202020204" pitchFamily="34" charset="0"/>
                        <a:ea typeface="Times New Roman" panose="02020603050405020304" pitchFamily="18" charset="0"/>
                        <a:cs typeface="Arial" panose="020B0604020202020204" pitchFamily="34" charset="0"/>
                      </a:endParaRPr>
                    </a:p>
                  </a:txBody>
                  <a:tcPr marL="63609" marR="6360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9737638"/>
                  </a:ext>
                </a:extLst>
              </a:tr>
            </a:tbl>
          </a:graphicData>
        </a:graphic>
      </p:graphicFrame>
    </p:spTree>
    <p:extLst>
      <p:ext uri="{BB962C8B-B14F-4D97-AF65-F5344CB8AC3E}">
        <p14:creationId xmlns:p14="http://schemas.microsoft.com/office/powerpoint/2010/main" val="23851987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a:t>
            </a:r>
            <a:endParaRPr lang="en-US" sz="750" dirty="0"/>
          </a:p>
        </p:txBody>
      </p:sp>
      <p:sp>
        <p:nvSpPr>
          <p:cNvPr id="8" name="Text 6"/>
          <p:cNvSpPr/>
          <p:nvPr/>
        </p:nvSpPr>
        <p:spPr>
          <a:xfrm>
            <a:off x="502920" y="652657"/>
            <a:ext cx="11104718" cy="512064"/>
          </a:xfrm>
          <a:prstGeom prst="rect">
            <a:avLst/>
          </a:prstGeom>
          <a:noFill/>
          <a:ln/>
        </p:spPr>
        <p:txBody>
          <a:bodyPr wrap="square" lIns="0" tIns="0" rIns="0" bIns="0" rtlCol="0" anchor="ctr">
            <a:normAutofit/>
          </a:bodyPr>
          <a:lstStyle/>
          <a:p>
            <a:pPr marL="0" indent="0">
              <a:buNone/>
            </a:pPr>
            <a:r>
              <a:rPr lang="vi-VN" b="1">
                <a:solidFill>
                  <a:srgbClr val="1F2328"/>
                </a:solidFill>
                <a:latin typeface="Arial" pitchFamily="34" charset="0"/>
                <a:ea typeface="Arial" pitchFamily="34" charset="-122"/>
                <a:cs typeface="Arial" pitchFamily="34" charset="-120"/>
              </a:rPr>
              <a:t>Các lớp phân tích tham gia vào ca sử dụng được phân loại thành ba thành phần kiến trúc cơ bản: </a:t>
            </a:r>
            <a:endParaRPr lang="en-US" dirty="0"/>
          </a:p>
        </p:txBody>
      </p:sp>
      <p:sp>
        <p:nvSpPr>
          <p:cNvPr id="9" name="Shape 7"/>
          <p:cNvSpPr/>
          <p:nvPr/>
        </p:nvSpPr>
        <p:spPr>
          <a:xfrm>
            <a:off x="502919" y="1123627"/>
            <a:ext cx="10603837" cy="0"/>
          </a:xfrm>
          <a:prstGeom prst="line">
            <a:avLst/>
          </a:prstGeom>
          <a:noFill/>
          <a:ln w="27940">
            <a:solidFill>
              <a:srgbClr val="B50915"/>
            </a:solidFill>
            <a:prstDash val="solid"/>
          </a:ln>
        </p:spPr>
        <p:txBody>
          <a:bodyPr/>
          <a:lstStyle/>
          <a:p>
            <a:endParaRPr lang="vi-VN"/>
          </a:p>
        </p:txBody>
      </p:sp>
      <p:sp>
        <p:nvSpPr>
          <p:cNvPr id="10" name="Text 8"/>
          <p:cNvSpPr/>
          <p:nvPr/>
        </p:nvSpPr>
        <p:spPr>
          <a:xfrm>
            <a:off x="868680" y="1463040"/>
            <a:ext cx="3246120" cy="320040"/>
          </a:xfrm>
          <a:prstGeom prst="rect">
            <a:avLst/>
          </a:prstGeom>
          <a:noFill/>
          <a:ln/>
        </p:spPr>
        <p:txBody>
          <a:bodyPr wrap="square" lIns="0" tIns="0" rIns="0" bIns="0" rtlCol="0" anchor="ctr"/>
          <a:lstStyle/>
          <a:p>
            <a:pPr marL="0" indent="0" algn="ctr">
              <a:buNone/>
            </a:pPr>
            <a:r>
              <a:rPr lang="en-US" sz="1200" b="1" dirty="0">
                <a:solidFill>
                  <a:srgbClr val="B50915"/>
                </a:solidFill>
                <a:latin typeface="Arial" pitchFamily="34" charset="0"/>
                <a:ea typeface="Arial" pitchFamily="34" charset="-122"/>
                <a:cs typeface="Arial" pitchFamily="34" charset="-120"/>
              </a:rPr>
              <a:t>&lt;&lt;boundary&gt;&gt;</a:t>
            </a:r>
            <a:endParaRPr lang="en-US" sz="1200" dirty="0"/>
          </a:p>
        </p:txBody>
      </p:sp>
      <p:sp>
        <p:nvSpPr>
          <p:cNvPr id="11" name="Text 9"/>
          <p:cNvSpPr/>
          <p:nvPr/>
        </p:nvSpPr>
        <p:spPr>
          <a:xfrm>
            <a:off x="868680" y="1847088"/>
            <a:ext cx="3246120" cy="502920"/>
          </a:xfrm>
          <a:prstGeom prst="rect">
            <a:avLst/>
          </a:prstGeom>
          <a:solidFill>
            <a:srgbClr val="FFF7DB"/>
          </a:solidFill>
          <a:ln>
            <a:solidFill>
              <a:srgbClr val="D9DDE3"/>
            </a:solidFill>
          </a:ln>
        </p:spPr>
        <p:txBody>
          <a:bodyPr wrap="square" lIns="0" tIns="0" rIns="0" bIns="0" rtlCol="0" anchor="ctr"/>
          <a:lstStyle/>
          <a:p>
            <a:pPr marL="0" indent="0" algn="ctr">
              <a:buNone/>
            </a:pPr>
            <a:r>
              <a:rPr lang="en-US" sz="1900" b="1" dirty="0">
                <a:solidFill>
                  <a:srgbClr val="1F2328"/>
                </a:solidFill>
                <a:latin typeface="Arial" pitchFamily="34" charset="0"/>
                <a:ea typeface="Arial" pitchFamily="34" charset="-122"/>
                <a:cs typeface="Arial" pitchFamily="34" charset="-120"/>
              </a:rPr>
              <a:t>Lớp biên</a:t>
            </a:r>
            <a:endParaRPr lang="en-US" sz="1900" dirty="0"/>
          </a:p>
        </p:txBody>
      </p:sp>
      <p:sp>
        <p:nvSpPr>
          <p:cNvPr id="12" name="Text 10"/>
          <p:cNvSpPr/>
          <p:nvPr/>
        </p:nvSpPr>
        <p:spPr>
          <a:xfrm>
            <a:off x="868680" y="2606040"/>
            <a:ext cx="3246120" cy="1143000"/>
          </a:xfrm>
          <a:prstGeom prst="rect">
            <a:avLst/>
          </a:prstGeom>
          <a:solidFill>
            <a:srgbClr val="FFFFFF"/>
          </a:solidFill>
          <a:ln>
            <a:solidFill>
              <a:srgbClr val="E0E2E6"/>
            </a:solidFill>
          </a:ln>
        </p:spPr>
        <p:txBody>
          <a:bodyPr wrap="square" lIns="1270" tIns="1270" rIns="1270" bIns="1270" rtlCol="0" anchor="ctr">
            <a:normAutofit/>
          </a:bodyPr>
          <a:lstStyle/>
          <a:p>
            <a:pPr marL="0" indent="0" algn="ctr">
              <a:buNone/>
            </a:pPr>
            <a:r>
              <a:rPr lang="en-US" sz="1320" dirty="0">
                <a:solidFill>
                  <a:srgbClr val="5B616E"/>
                </a:solidFill>
                <a:latin typeface="Arial" pitchFamily="34" charset="0"/>
                <a:ea typeface="Arial" pitchFamily="34" charset="-122"/>
                <a:cs typeface="Arial" pitchFamily="34" charset="-120"/>
              </a:rPr>
              <a:t>Thu thập dữ liệu từ người dùng, hiển thị thông báo, mã QR, danh sách tủ.</a:t>
            </a:r>
            <a:endParaRPr lang="en-US" sz="1320" dirty="0"/>
          </a:p>
        </p:txBody>
      </p:sp>
      <p:sp>
        <p:nvSpPr>
          <p:cNvPr id="13" name="Text 11"/>
          <p:cNvSpPr/>
          <p:nvPr/>
        </p:nvSpPr>
        <p:spPr>
          <a:xfrm>
            <a:off x="4526280" y="1463040"/>
            <a:ext cx="3246120" cy="320040"/>
          </a:xfrm>
          <a:prstGeom prst="rect">
            <a:avLst/>
          </a:prstGeom>
          <a:noFill/>
          <a:ln/>
        </p:spPr>
        <p:txBody>
          <a:bodyPr wrap="square" lIns="0" tIns="0" rIns="0" bIns="0" rtlCol="0" anchor="ctr"/>
          <a:lstStyle/>
          <a:p>
            <a:pPr marL="0" indent="0" algn="ctr">
              <a:buNone/>
            </a:pPr>
            <a:r>
              <a:rPr lang="en-US" sz="1200" b="1" dirty="0">
                <a:solidFill>
                  <a:srgbClr val="B50915"/>
                </a:solidFill>
                <a:latin typeface="Arial" pitchFamily="34" charset="0"/>
                <a:ea typeface="Arial" pitchFamily="34" charset="-122"/>
                <a:cs typeface="Arial" pitchFamily="34" charset="-120"/>
              </a:rPr>
              <a:t>&lt;&lt;control&gt;&gt;</a:t>
            </a:r>
            <a:endParaRPr lang="en-US" sz="1200" dirty="0"/>
          </a:p>
        </p:txBody>
      </p:sp>
      <p:sp>
        <p:nvSpPr>
          <p:cNvPr id="14" name="Text 12"/>
          <p:cNvSpPr/>
          <p:nvPr/>
        </p:nvSpPr>
        <p:spPr>
          <a:xfrm>
            <a:off x="4526280" y="1847088"/>
            <a:ext cx="3246120" cy="502920"/>
          </a:xfrm>
          <a:prstGeom prst="rect">
            <a:avLst/>
          </a:prstGeom>
          <a:solidFill>
            <a:srgbClr val="F3EAFE"/>
          </a:solidFill>
          <a:ln>
            <a:solidFill>
              <a:srgbClr val="D9DDE3"/>
            </a:solidFill>
          </a:ln>
        </p:spPr>
        <p:txBody>
          <a:bodyPr wrap="square" lIns="0" tIns="0" rIns="0" bIns="0" rtlCol="0" anchor="ctr"/>
          <a:lstStyle/>
          <a:p>
            <a:pPr marL="0" indent="0" algn="ctr">
              <a:buNone/>
            </a:pPr>
            <a:r>
              <a:rPr lang="en-US" sz="1900" b="1" dirty="0">
                <a:solidFill>
                  <a:srgbClr val="1F2328"/>
                </a:solidFill>
                <a:latin typeface="Arial" pitchFamily="34" charset="0"/>
                <a:ea typeface="Arial" pitchFamily="34" charset="-122"/>
                <a:cs typeface="Arial" pitchFamily="34" charset="-120"/>
              </a:rPr>
              <a:t>Lớp điều khiển</a:t>
            </a:r>
            <a:endParaRPr lang="en-US" sz="1900" dirty="0"/>
          </a:p>
        </p:txBody>
      </p:sp>
      <p:sp>
        <p:nvSpPr>
          <p:cNvPr id="15" name="Text 13"/>
          <p:cNvSpPr/>
          <p:nvPr/>
        </p:nvSpPr>
        <p:spPr>
          <a:xfrm>
            <a:off x="4526280" y="2606040"/>
            <a:ext cx="3246120" cy="1143000"/>
          </a:xfrm>
          <a:prstGeom prst="rect">
            <a:avLst/>
          </a:prstGeom>
          <a:solidFill>
            <a:srgbClr val="FFFFFF"/>
          </a:solidFill>
          <a:ln>
            <a:solidFill>
              <a:srgbClr val="E0E2E6"/>
            </a:solidFill>
          </a:ln>
        </p:spPr>
        <p:txBody>
          <a:bodyPr wrap="square" lIns="1270" tIns="1270" rIns="1270" bIns="1270" rtlCol="0" anchor="ctr">
            <a:normAutofit/>
          </a:bodyPr>
          <a:lstStyle/>
          <a:p>
            <a:pPr marL="0" indent="0" algn="ctr">
              <a:buNone/>
            </a:pPr>
            <a:r>
              <a:rPr lang="en-US" sz="1320" dirty="0">
                <a:solidFill>
                  <a:srgbClr val="5B616E"/>
                </a:solidFill>
                <a:latin typeface="Arial" pitchFamily="34" charset="0"/>
                <a:ea typeface="Arial" pitchFamily="34" charset="-122"/>
                <a:cs typeface="Arial" pitchFamily="34" charset="-120"/>
              </a:rPr>
              <a:t>Điều phối luồng nghiệp vụ, tính phí, sinh OTP, gọi cập nhật CSDL/phần cứng.</a:t>
            </a:r>
            <a:endParaRPr lang="en-US" sz="1320" dirty="0"/>
          </a:p>
        </p:txBody>
      </p:sp>
      <p:sp>
        <p:nvSpPr>
          <p:cNvPr id="16" name="Text 14"/>
          <p:cNvSpPr/>
          <p:nvPr/>
        </p:nvSpPr>
        <p:spPr>
          <a:xfrm>
            <a:off x="8183880" y="1463040"/>
            <a:ext cx="3246120" cy="320040"/>
          </a:xfrm>
          <a:prstGeom prst="rect">
            <a:avLst/>
          </a:prstGeom>
          <a:noFill/>
          <a:ln/>
        </p:spPr>
        <p:txBody>
          <a:bodyPr wrap="square" lIns="0" tIns="0" rIns="0" bIns="0" rtlCol="0" anchor="ctr"/>
          <a:lstStyle/>
          <a:p>
            <a:pPr marL="0" indent="0" algn="ctr">
              <a:buNone/>
            </a:pPr>
            <a:r>
              <a:rPr lang="en-US" sz="1200" b="1" dirty="0">
                <a:solidFill>
                  <a:srgbClr val="B50915"/>
                </a:solidFill>
                <a:latin typeface="Arial" pitchFamily="34" charset="0"/>
                <a:ea typeface="Arial" pitchFamily="34" charset="-122"/>
                <a:cs typeface="Arial" pitchFamily="34" charset="-120"/>
              </a:rPr>
              <a:t>&lt;&lt;entity&gt;&gt;</a:t>
            </a:r>
            <a:endParaRPr lang="en-US" sz="1200" dirty="0"/>
          </a:p>
        </p:txBody>
      </p:sp>
      <p:sp>
        <p:nvSpPr>
          <p:cNvPr id="17" name="Text 15"/>
          <p:cNvSpPr/>
          <p:nvPr/>
        </p:nvSpPr>
        <p:spPr>
          <a:xfrm>
            <a:off x="8183880" y="1847088"/>
            <a:ext cx="3246120" cy="502920"/>
          </a:xfrm>
          <a:prstGeom prst="rect">
            <a:avLst/>
          </a:prstGeom>
          <a:solidFill>
            <a:srgbClr val="E9F8EF"/>
          </a:solidFill>
          <a:ln>
            <a:solidFill>
              <a:srgbClr val="D9DDE3"/>
            </a:solidFill>
          </a:ln>
        </p:spPr>
        <p:txBody>
          <a:bodyPr wrap="square" lIns="0" tIns="0" rIns="0" bIns="0" rtlCol="0" anchor="ctr"/>
          <a:lstStyle/>
          <a:p>
            <a:pPr marL="0" indent="0" algn="ctr">
              <a:buNone/>
            </a:pPr>
            <a:r>
              <a:rPr lang="en-US" sz="1900" b="1" dirty="0">
                <a:solidFill>
                  <a:srgbClr val="1F2328"/>
                </a:solidFill>
                <a:latin typeface="Arial" pitchFamily="34" charset="0"/>
                <a:ea typeface="Arial" pitchFamily="34" charset="-122"/>
                <a:cs typeface="Arial" pitchFamily="34" charset="-120"/>
              </a:rPr>
              <a:t>Lớp thực thể</a:t>
            </a:r>
            <a:endParaRPr lang="en-US" sz="1900" dirty="0"/>
          </a:p>
        </p:txBody>
      </p:sp>
      <p:sp>
        <p:nvSpPr>
          <p:cNvPr id="18" name="Text 16"/>
          <p:cNvSpPr/>
          <p:nvPr/>
        </p:nvSpPr>
        <p:spPr>
          <a:xfrm>
            <a:off x="8183880" y="2606040"/>
            <a:ext cx="3246120" cy="1143000"/>
          </a:xfrm>
          <a:prstGeom prst="rect">
            <a:avLst/>
          </a:prstGeom>
          <a:solidFill>
            <a:srgbClr val="FFFFFF"/>
          </a:solidFill>
          <a:ln>
            <a:solidFill>
              <a:srgbClr val="E0E2E6"/>
            </a:solidFill>
          </a:ln>
        </p:spPr>
        <p:txBody>
          <a:bodyPr wrap="square" lIns="1270" tIns="1270" rIns="1270" bIns="1270" rtlCol="0" anchor="ctr">
            <a:normAutofit/>
          </a:bodyPr>
          <a:lstStyle/>
          <a:p>
            <a:pPr marL="0" indent="0" algn="ctr">
              <a:buNone/>
            </a:pPr>
            <a:r>
              <a:rPr lang="en-US" sz="1320" dirty="0">
                <a:solidFill>
                  <a:srgbClr val="5B616E"/>
                </a:solidFill>
                <a:latin typeface="Arial" pitchFamily="34" charset="0"/>
                <a:ea typeface="Arial" pitchFamily="34" charset="-122"/>
                <a:cs typeface="Arial" pitchFamily="34" charset="-120"/>
              </a:rPr>
              <a:t>Lưu trữ dữ liệu bền vững: khách hàng, trạm, ngăn tủ, giao dịch, thanh toán.</a:t>
            </a:r>
            <a:endParaRPr lang="en-US" sz="1320" dirty="0"/>
          </a:p>
        </p:txBody>
      </p:sp>
      <p:sp>
        <p:nvSpPr>
          <p:cNvPr id="19" name="Text 17"/>
          <p:cNvSpPr/>
          <p:nvPr/>
        </p:nvSpPr>
        <p:spPr>
          <a:xfrm>
            <a:off x="1280160" y="4800600"/>
            <a:ext cx="2295144"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Giao diện</a:t>
            </a:r>
            <a:endParaRPr lang="en-US" sz="1050" dirty="0"/>
          </a:p>
        </p:txBody>
      </p:sp>
      <p:sp>
        <p:nvSpPr>
          <p:cNvPr id="20" name="Shape 18"/>
          <p:cNvSpPr/>
          <p:nvPr/>
        </p:nvSpPr>
        <p:spPr>
          <a:xfrm>
            <a:off x="3593592" y="5084064"/>
            <a:ext cx="73152" cy="0"/>
          </a:xfrm>
          <a:prstGeom prst="line">
            <a:avLst/>
          </a:prstGeom>
          <a:noFill/>
          <a:ln w="17780">
            <a:solidFill>
              <a:srgbClr val="B50915"/>
            </a:solidFill>
            <a:prstDash val="solid"/>
            <a:headEnd type="none"/>
            <a:tailEnd type="triangle"/>
          </a:ln>
        </p:spPr>
        <p:txBody>
          <a:bodyPr/>
          <a:lstStyle/>
          <a:p>
            <a:endParaRPr lang="vi-VN"/>
          </a:p>
        </p:txBody>
      </p:sp>
      <p:sp>
        <p:nvSpPr>
          <p:cNvPr id="21" name="Text 19"/>
          <p:cNvSpPr/>
          <p:nvPr/>
        </p:nvSpPr>
        <p:spPr>
          <a:xfrm>
            <a:off x="3685032" y="4800600"/>
            <a:ext cx="2295144"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Điều khiển nghiệp vụ</a:t>
            </a:r>
            <a:endParaRPr lang="en-US" sz="1050" dirty="0"/>
          </a:p>
        </p:txBody>
      </p:sp>
      <p:sp>
        <p:nvSpPr>
          <p:cNvPr id="22" name="Shape 20"/>
          <p:cNvSpPr/>
          <p:nvPr/>
        </p:nvSpPr>
        <p:spPr>
          <a:xfrm>
            <a:off x="5998464" y="5084064"/>
            <a:ext cx="73152" cy="0"/>
          </a:xfrm>
          <a:prstGeom prst="line">
            <a:avLst/>
          </a:prstGeom>
          <a:noFill/>
          <a:ln w="17780">
            <a:solidFill>
              <a:srgbClr val="B50915"/>
            </a:solidFill>
            <a:prstDash val="solid"/>
            <a:headEnd type="none"/>
            <a:tailEnd type="triangle"/>
          </a:ln>
        </p:spPr>
        <p:txBody>
          <a:bodyPr/>
          <a:lstStyle/>
          <a:p>
            <a:endParaRPr lang="vi-VN"/>
          </a:p>
        </p:txBody>
      </p:sp>
      <p:sp>
        <p:nvSpPr>
          <p:cNvPr id="23" name="Text 21"/>
          <p:cNvSpPr/>
          <p:nvPr/>
        </p:nvSpPr>
        <p:spPr>
          <a:xfrm>
            <a:off x="6089904" y="4800600"/>
            <a:ext cx="2295144"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Dữ liệu bền vững</a:t>
            </a:r>
            <a:endParaRPr lang="en-US" sz="1050" dirty="0"/>
          </a:p>
        </p:txBody>
      </p:sp>
      <p:sp>
        <p:nvSpPr>
          <p:cNvPr id="24" name="Shape 22"/>
          <p:cNvSpPr/>
          <p:nvPr/>
        </p:nvSpPr>
        <p:spPr>
          <a:xfrm>
            <a:off x="8403336" y="5084064"/>
            <a:ext cx="73152" cy="0"/>
          </a:xfrm>
          <a:prstGeom prst="line">
            <a:avLst/>
          </a:prstGeom>
          <a:noFill/>
          <a:ln w="17780">
            <a:solidFill>
              <a:srgbClr val="B50915"/>
            </a:solidFill>
            <a:prstDash val="solid"/>
            <a:headEnd type="none"/>
            <a:tailEnd type="triangle"/>
          </a:ln>
        </p:spPr>
        <p:txBody>
          <a:bodyPr/>
          <a:lstStyle/>
          <a:p>
            <a:endParaRPr lang="vi-VN"/>
          </a:p>
        </p:txBody>
      </p:sp>
      <p:sp>
        <p:nvSpPr>
          <p:cNvPr id="25" name="Text 23"/>
          <p:cNvSpPr/>
          <p:nvPr/>
        </p:nvSpPr>
        <p:spPr>
          <a:xfrm>
            <a:off x="8494776" y="4800600"/>
            <a:ext cx="2295144"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Phản hồi kết quả</a:t>
            </a:r>
            <a:endParaRPr lang="en-US" sz="1050" dirty="0"/>
          </a:p>
        </p:txBody>
      </p:sp>
      <p:sp>
        <p:nvSpPr>
          <p:cNvPr id="26" name="Shape 24"/>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27" name="Text 25"/>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28" name="Text 26"/>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15</a:t>
            </a:r>
            <a:endParaRPr lang="en-US" sz="1000" dirty="0"/>
          </a:p>
        </p:txBody>
      </p:sp>
      <p:sp>
        <p:nvSpPr>
          <p:cNvPr id="31" name="Text 5">
            <a:extLst>
              <a:ext uri="{FF2B5EF4-FFF2-40B4-BE49-F238E27FC236}">
                <a16:creationId xmlns:a16="http://schemas.microsoft.com/office/drawing/2014/main" id="{6B8FBF3C-EB45-722C-6AFE-E09A0040B202}"/>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 PHÂN TÍCH HỆ THỐNG</a:t>
            </a:r>
          </a:p>
          <a:p>
            <a:pPr marL="0" indent="0">
              <a:buNone/>
            </a:pPr>
            <a:r>
              <a:rPr lang="en-US" sz="1200" b="1">
                <a:solidFill>
                  <a:srgbClr val="B50915"/>
                </a:solidFill>
                <a:latin typeface="Arial" pitchFamily="34" charset="0"/>
                <a:cs typeface="Arial" pitchFamily="34" charset="-120"/>
              </a:rPr>
              <a:t>2.2 Phân tích cấu trúc (Mô hình hóa Lớp)</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7F7F7"/>
        </a:solidFill>
        <a:effectLst/>
      </p:bgPr>
    </p:bg>
    <p:spTree>
      <p:nvGrpSpPr>
        <p:cNvPr id="1" name=""/>
        <p:cNvGrpSpPr/>
        <p:nvPr/>
      </p:nvGrpSpPr>
      <p:grpSpPr>
        <a:xfrm>
          <a:off x="0" y="0"/>
          <a:ext cx="0" cy="0"/>
          <a:chOff x="0" y="0"/>
          <a:chExt cx="0" cy="0"/>
        </a:xfrm>
      </p:grpSpPr>
      <p:sp>
        <p:nvSpPr>
          <p:cNvPr id="28" name="Text 10">
            <a:extLst>
              <a:ext uri="{FF2B5EF4-FFF2-40B4-BE49-F238E27FC236}">
                <a16:creationId xmlns:a16="http://schemas.microsoft.com/office/drawing/2014/main" id="{6B8BEBD5-C0F1-9959-FD10-999484BBFE6D}"/>
              </a:ext>
            </a:extLst>
          </p:cNvPr>
          <p:cNvSpPr/>
          <p:nvPr/>
        </p:nvSpPr>
        <p:spPr>
          <a:xfrm>
            <a:off x="1475639" y="4987303"/>
            <a:ext cx="3167118" cy="695039"/>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NganTu</a:t>
            </a:r>
            <a:endParaRPr lang="en-US" sz="1050" dirty="0"/>
          </a:p>
        </p:txBody>
      </p:sp>
      <p:sp>
        <p:nvSpPr>
          <p:cNvPr id="2" name="Shape 0"/>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a:t>
            </a:r>
            <a:endParaRPr lang="en-US" sz="750" dirty="0"/>
          </a:p>
        </p:txBody>
      </p:sp>
      <p:sp>
        <p:nvSpPr>
          <p:cNvPr id="8" name="Text 6"/>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a:solidFill>
                  <a:srgbClr val="1F2328"/>
                </a:solidFill>
                <a:latin typeface="Arial" pitchFamily="34" charset="0"/>
                <a:ea typeface="Arial" pitchFamily="34" charset="-122"/>
                <a:cs typeface="Arial" pitchFamily="34" charset="-120"/>
              </a:rPr>
              <a:t>Biểu đồ Lớp cho Use Case Đăng nhập</a:t>
            </a:r>
            <a:endParaRPr lang="en-US" sz="2400" dirty="0"/>
          </a:p>
        </p:txBody>
      </p:sp>
      <p:sp>
        <p:nvSpPr>
          <p:cNvPr id="9" name="Shape 7"/>
          <p:cNvSpPr/>
          <p:nvPr/>
        </p:nvSpPr>
        <p:spPr>
          <a:xfrm>
            <a:off x="502920" y="1052319"/>
            <a:ext cx="1188720" cy="0"/>
          </a:xfrm>
          <a:prstGeom prst="line">
            <a:avLst/>
          </a:prstGeom>
          <a:noFill/>
          <a:ln w="27940">
            <a:solidFill>
              <a:srgbClr val="B50915"/>
            </a:solidFill>
            <a:prstDash val="solid"/>
          </a:ln>
        </p:spPr>
        <p:txBody>
          <a:bodyPr/>
          <a:lstStyle/>
          <a:p>
            <a:endParaRPr lang="vi-VN"/>
          </a:p>
        </p:txBody>
      </p:sp>
      <p:sp>
        <p:nvSpPr>
          <p:cNvPr id="21" name="Shape 18"/>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22" name="Text 19"/>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23" name="Text 20"/>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16</a:t>
            </a:r>
            <a:endParaRPr lang="en-US" sz="1000" dirty="0"/>
          </a:p>
        </p:txBody>
      </p:sp>
      <p:sp>
        <p:nvSpPr>
          <p:cNvPr id="24" name="Text 5">
            <a:extLst>
              <a:ext uri="{FF2B5EF4-FFF2-40B4-BE49-F238E27FC236}">
                <a16:creationId xmlns:a16="http://schemas.microsoft.com/office/drawing/2014/main" id="{7BEA5945-5A66-705B-BD27-181A5C393D40}"/>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 PHÂN TÍCH HỆ THỐNG</a:t>
            </a:r>
          </a:p>
          <a:p>
            <a:pPr marL="0" indent="0">
              <a:buNone/>
            </a:pPr>
            <a:r>
              <a:rPr lang="en-US" sz="1200" b="1">
                <a:solidFill>
                  <a:srgbClr val="B50915"/>
                </a:solidFill>
                <a:latin typeface="Arial" pitchFamily="34" charset="0"/>
                <a:cs typeface="Arial" pitchFamily="34" charset="-120"/>
              </a:rPr>
              <a:t>2.2 Phân tích cấu trúc (Mô hình hóa Lớp)</a:t>
            </a:r>
            <a:endParaRPr lang="en-US" sz="1200" dirty="0"/>
          </a:p>
        </p:txBody>
      </p:sp>
      <p:pic>
        <p:nvPicPr>
          <p:cNvPr id="25" name="Hình ảnh 24" descr="Ảnh có chứa văn bản, ảnh chụp màn hình, hàng, biểu đồ">
            <a:extLst>
              <a:ext uri="{FF2B5EF4-FFF2-40B4-BE49-F238E27FC236}">
                <a16:creationId xmlns:a16="http://schemas.microsoft.com/office/drawing/2014/main" id="{F3456D7C-2AFF-1DBD-2E2C-AC829CF6C928}"/>
              </a:ext>
            </a:extLst>
          </p:cNvPr>
          <p:cNvPicPr>
            <a:picLocks noChangeAspect="1"/>
          </p:cNvPicPr>
          <p:nvPr/>
        </p:nvPicPr>
        <p:blipFill>
          <a:blip r:embed="rId3"/>
          <a:stretch>
            <a:fillRect/>
          </a:stretch>
        </p:blipFill>
        <p:spPr>
          <a:xfrm>
            <a:off x="1485791" y="1636698"/>
            <a:ext cx="9562110" cy="3261111"/>
          </a:xfrm>
          <a:prstGeom prst="rect">
            <a:avLst/>
          </a:prstGeom>
        </p:spPr>
      </p:pic>
      <p:sp>
        <p:nvSpPr>
          <p:cNvPr id="7" name="Text 9">
            <a:extLst>
              <a:ext uri="{FF2B5EF4-FFF2-40B4-BE49-F238E27FC236}">
                <a16:creationId xmlns:a16="http://schemas.microsoft.com/office/drawing/2014/main" id="{6CC8D6CB-DD24-360F-890F-232D41157815}"/>
              </a:ext>
            </a:extLst>
          </p:cNvPr>
          <p:cNvSpPr/>
          <p:nvPr/>
        </p:nvSpPr>
        <p:spPr>
          <a:xfrm>
            <a:off x="462573" y="1253505"/>
            <a:ext cx="10725912" cy="319186"/>
          </a:xfrm>
          <a:prstGeom prst="rect">
            <a:avLst/>
          </a:prstGeom>
          <a:noFill/>
          <a:ln/>
        </p:spPr>
        <p:txBody>
          <a:bodyPr wrap="square" lIns="635" tIns="635" rIns="635" bIns="635" rtlCol="0" anchor="t">
            <a:normAutofit/>
          </a:bodyPr>
          <a:lstStyle/>
          <a:p>
            <a:r>
              <a:rPr lang="vi-VN" sz="1330" b="1">
                <a:solidFill>
                  <a:srgbClr val="1F2328"/>
                </a:solidFill>
                <a:latin typeface="Arial" pitchFamily="34" charset="0"/>
                <a:ea typeface="Arial" pitchFamily="34" charset="-122"/>
                <a:cs typeface="Arial" pitchFamily="34" charset="-120"/>
              </a:rPr>
              <a:t>Mô hình hóa cấu trúc logic xử lý tiến trình xác thực tài khoản tập trung cho mọi đối tượng khi truy cập hệ thống. </a:t>
            </a:r>
            <a:endParaRPr lang="en-US" sz="1330" b="1" dirty="0"/>
          </a:p>
        </p:txBody>
      </p:sp>
      <p:sp>
        <p:nvSpPr>
          <p:cNvPr id="29" name="Text 10">
            <a:extLst>
              <a:ext uri="{FF2B5EF4-FFF2-40B4-BE49-F238E27FC236}">
                <a16:creationId xmlns:a16="http://schemas.microsoft.com/office/drawing/2014/main" id="{6DB8F014-3987-E6C3-D5B0-982403F483CF}"/>
              </a:ext>
            </a:extLst>
          </p:cNvPr>
          <p:cNvSpPr/>
          <p:nvPr/>
        </p:nvSpPr>
        <p:spPr>
          <a:xfrm>
            <a:off x="1030885" y="4961815"/>
            <a:ext cx="3655714" cy="1301823"/>
          </a:xfrm>
          <a:prstGeom prst="rect">
            <a:avLst/>
          </a:prstGeom>
          <a:solidFill>
            <a:srgbClr val="FFFFFF"/>
          </a:solidFill>
          <a:ln w="16510">
            <a:solidFill>
              <a:srgbClr val="B50915"/>
            </a:solidFill>
          </a:ln>
        </p:spPr>
        <p:txBody>
          <a:bodyPr wrap="square" lIns="508" tIns="508" rIns="508" bIns="508"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300" b="1" i="0" u="none" strike="noStrike" kern="1200" cap="none" spc="0" normalizeH="0" baseline="0" noProof="0">
                <a:ln>
                  <a:noFill/>
                </a:ln>
                <a:solidFill>
                  <a:srgbClr val="1F2328"/>
                </a:solidFill>
                <a:effectLst/>
                <a:uLnTx/>
                <a:uFillTx/>
                <a:latin typeface="Arial" pitchFamily="34" charset="0"/>
                <a:ea typeface="Arial" pitchFamily="34" charset="-122"/>
                <a:cs typeface="Arial" pitchFamily="34" charset="-120"/>
              </a:rPr>
              <a:t> Lớp Giao diện (&lt;&lt;boundary&gt;&gt;): Form_DangNhap </a:t>
            </a:r>
          </a:p>
          <a:p>
            <a:pPr marL="360363" marR="0" lvl="0" indent="0" defTabSz="914400" rtl="0" eaLnBrk="1" fontAlgn="auto" latinLnBrk="0" hangingPunct="1">
              <a:lnSpc>
                <a:spcPct val="100000"/>
              </a:lnSpc>
              <a:spcBef>
                <a:spcPts val="0"/>
              </a:spcBef>
              <a:spcAft>
                <a:spcPts val="0"/>
              </a:spcAft>
              <a:buClrTx/>
              <a:buSzTx/>
              <a:buFontTx/>
              <a:buNone/>
              <a:tabLst/>
              <a:defRPr/>
            </a:pPr>
            <a:r>
              <a:rPr kumimoji="0" lang="vi-VN" sz="1300" b="0" i="0" u="none" strike="noStrike" kern="1200" cap="none" spc="0" normalizeH="0" baseline="0" noProof="0">
                <a:ln>
                  <a:noFill/>
                </a:ln>
                <a:solidFill>
                  <a:srgbClr val="1F2328"/>
                </a:solidFill>
                <a:effectLst/>
                <a:uLnTx/>
                <a:uFillTx/>
                <a:latin typeface="Arial" pitchFamily="34" charset="0"/>
                <a:ea typeface="Arial" pitchFamily="34" charset="-122"/>
                <a:cs typeface="Arial" pitchFamily="34" charset="-120"/>
              </a:rPr>
              <a:t>o </a:t>
            </a:r>
            <a:r>
              <a:rPr kumimoji="0" lang="vi-VN" sz="1300" b="1" i="0" u="none" strike="noStrike" kern="1200" cap="none" spc="0" normalizeH="0" baseline="0" noProof="0">
                <a:ln>
                  <a:noFill/>
                </a:ln>
                <a:solidFill>
                  <a:srgbClr val="1F2328"/>
                </a:solidFill>
                <a:effectLst/>
                <a:uLnTx/>
                <a:uFillTx/>
                <a:latin typeface="Arial" pitchFamily="34" charset="0"/>
                <a:ea typeface="Arial" pitchFamily="34" charset="-122"/>
                <a:cs typeface="Arial" pitchFamily="34" charset="-120"/>
              </a:rPr>
              <a:t>Thuộc tính:</a:t>
            </a:r>
            <a:r>
              <a:rPr kumimoji="0" lang="vi-VN" sz="1300" b="0" i="0" u="none" strike="noStrike" kern="1200" cap="none" spc="0" normalizeH="0" baseline="0" noProof="0">
                <a:ln>
                  <a:noFill/>
                </a:ln>
                <a:solidFill>
                  <a:srgbClr val="1F2328"/>
                </a:solidFill>
                <a:effectLst/>
                <a:uLnTx/>
                <a:uFillTx/>
                <a:latin typeface="Arial" pitchFamily="34" charset="0"/>
                <a:ea typeface="Arial" pitchFamily="34" charset="-122"/>
                <a:cs typeface="Arial" pitchFamily="34" charset="-120"/>
              </a:rPr>
              <a:t> soDienThoai, matKhau.</a:t>
            </a:r>
          </a:p>
          <a:p>
            <a:pPr marL="360363" marR="0" lvl="0" indent="0" defTabSz="914400" rtl="0" eaLnBrk="1" fontAlgn="auto" latinLnBrk="0" hangingPunct="1">
              <a:lnSpc>
                <a:spcPct val="100000"/>
              </a:lnSpc>
              <a:spcBef>
                <a:spcPts val="0"/>
              </a:spcBef>
              <a:spcAft>
                <a:spcPts val="0"/>
              </a:spcAft>
              <a:buClrTx/>
              <a:buSzTx/>
              <a:buFontTx/>
              <a:buNone/>
              <a:tabLst/>
              <a:defRPr/>
            </a:pPr>
            <a:r>
              <a:rPr kumimoji="0" lang="vi-VN" sz="1300" b="0" i="0" u="none" strike="noStrike" kern="1200" cap="none" spc="0" normalizeH="0" baseline="0" noProof="0">
                <a:ln>
                  <a:noFill/>
                </a:ln>
                <a:solidFill>
                  <a:srgbClr val="1F2328"/>
                </a:solidFill>
                <a:effectLst/>
                <a:uLnTx/>
                <a:uFillTx/>
                <a:latin typeface="Arial" pitchFamily="34" charset="0"/>
                <a:ea typeface="Arial" pitchFamily="34" charset="-122"/>
                <a:cs typeface="Arial" pitchFamily="34" charset="-120"/>
              </a:rPr>
              <a:t>o </a:t>
            </a:r>
            <a:r>
              <a:rPr kumimoji="0" lang="vi-VN" sz="1300" b="1" i="0" u="none" strike="noStrike" kern="1200" cap="none" spc="0" normalizeH="0" baseline="0" noProof="0">
                <a:ln>
                  <a:noFill/>
                </a:ln>
                <a:solidFill>
                  <a:srgbClr val="1F2328"/>
                </a:solidFill>
                <a:effectLst/>
                <a:uLnTx/>
                <a:uFillTx/>
                <a:latin typeface="Arial" pitchFamily="34" charset="0"/>
                <a:ea typeface="Arial" pitchFamily="34" charset="-122"/>
                <a:cs typeface="Arial" pitchFamily="34" charset="-120"/>
              </a:rPr>
              <a:t>Phương thức: </a:t>
            </a:r>
            <a:r>
              <a:rPr kumimoji="0" lang="vi-VN" sz="1300" b="0" i="0" u="none" strike="noStrike" kern="1200" cap="none" spc="0" normalizeH="0" baseline="0" noProof="0">
                <a:ln>
                  <a:noFill/>
                </a:ln>
                <a:solidFill>
                  <a:srgbClr val="1F2328"/>
                </a:solidFill>
                <a:effectLst/>
                <a:uLnTx/>
                <a:uFillTx/>
                <a:latin typeface="Arial" pitchFamily="34" charset="0"/>
                <a:ea typeface="Arial" pitchFamily="34" charset="-122"/>
                <a:cs typeface="Arial" pitchFamily="34" charset="-120"/>
              </a:rPr>
              <a:t>NhapThongTin(),          HienThiThongBaoLoi(). </a:t>
            </a:r>
          </a:p>
        </p:txBody>
      </p:sp>
      <p:sp>
        <p:nvSpPr>
          <p:cNvPr id="30" name="Text 10">
            <a:extLst>
              <a:ext uri="{FF2B5EF4-FFF2-40B4-BE49-F238E27FC236}">
                <a16:creationId xmlns:a16="http://schemas.microsoft.com/office/drawing/2014/main" id="{4F1D26FB-F524-BBAC-F80B-D2F3A58AC10E}"/>
              </a:ext>
            </a:extLst>
          </p:cNvPr>
          <p:cNvSpPr/>
          <p:nvPr/>
        </p:nvSpPr>
        <p:spPr>
          <a:xfrm>
            <a:off x="4905175" y="4971656"/>
            <a:ext cx="3400140" cy="1291979"/>
          </a:xfrm>
          <a:prstGeom prst="rect">
            <a:avLst/>
          </a:prstGeom>
          <a:solidFill>
            <a:srgbClr val="FFFFFF"/>
          </a:solidFill>
          <a:ln w="16510">
            <a:solidFill>
              <a:srgbClr val="B50915"/>
            </a:solidFill>
          </a:ln>
        </p:spPr>
        <p:txBody>
          <a:bodyPr wrap="square" lIns="508" tIns="508" rIns="508" bIns="508"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300" b="0" i="0" u="none" strike="noStrike" kern="1200" cap="none" spc="0" normalizeH="0" baseline="0" noProof="0">
                <a:ln>
                  <a:noFill/>
                </a:ln>
                <a:solidFill>
                  <a:srgbClr val="1F2328"/>
                </a:solidFill>
                <a:effectLst/>
                <a:uLnTx/>
                <a:uFillTx/>
                <a:latin typeface="Arial" pitchFamily="34" charset="0"/>
                <a:ea typeface="Arial" pitchFamily="34" charset="-122"/>
                <a:cs typeface="Arial" pitchFamily="34" charset="-120"/>
              </a:rPr>
              <a:t>• </a:t>
            </a:r>
            <a:r>
              <a:rPr kumimoji="0" lang="vi-VN" sz="1300" b="1" i="0" u="none" strike="noStrike" kern="1200" cap="none" spc="0" normalizeH="0" baseline="0" noProof="0">
                <a:ln>
                  <a:noFill/>
                </a:ln>
                <a:solidFill>
                  <a:srgbClr val="1F2328"/>
                </a:solidFill>
                <a:effectLst/>
                <a:uLnTx/>
                <a:uFillTx/>
                <a:latin typeface="Arial" pitchFamily="34" charset="0"/>
                <a:ea typeface="Arial" pitchFamily="34" charset="-122"/>
                <a:cs typeface="Arial" pitchFamily="34" charset="-120"/>
              </a:rPr>
              <a:t>Lớp Điều khiển (&lt;&lt;control&gt;&gt;): Ctrl_XacThuc </a:t>
            </a:r>
          </a:p>
          <a:p>
            <a:pPr marL="360363" marR="0" lvl="0" indent="-360363" algn="l" defTabSz="914400" rtl="0" eaLnBrk="1" fontAlgn="auto" latinLnBrk="0" hangingPunct="1">
              <a:lnSpc>
                <a:spcPct val="100000"/>
              </a:lnSpc>
              <a:spcBef>
                <a:spcPts val="0"/>
              </a:spcBef>
              <a:spcAft>
                <a:spcPts val="0"/>
              </a:spcAft>
              <a:buClrTx/>
              <a:buSzTx/>
              <a:buFontTx/>
              <a:buNone/>
              <a:tabLst/>
              <a:defRPr/>
            </a:pPr>
            <a:r>
              <a:rPr kumimoji="0" lang="vi-VN" sz="1300" b="0" i="0" u="none" strike="noStrike" kern="1200" cap="none" spc="0" normalizeH="0" baseline="0" noProof="0">
                <a:ln>
                  <a:noFill/>
                </a:ln>
                <a:solidFill>
                  <a:srgbClr val="1F2328"/>
                </a:solidFill>
                <a:effectLst/>
                <a:uLnTx/>
                <a:uFillTx/>
                <a:latin typeface="Arial" pitchFamily="34" charset="0"/>
                <a:ea typeface="Arial" pitchFamily="34" charset="-122"/>
                <a:cs typeface="Arial" pitchFamily="34" charset="-120"/>
              </a:rPr>
              <a:t>        o </a:t>
            </a:r>
            <a:r>
              <a:rPr kumimoji="0" lang="vi-VN" sz="1300" b="1" i="0" u="none" strike="noStrike" kern="1200" cap="none" spc="0" normalizeH="0" baseline="0" noProof="0">
                <a:ln>
                  <a:noFill/>
                </a:ln>
                <a:solidFill>
                  <a:srgbClr val="1F2328"/>
                </a:solidFill>
                <a:effectLst/>
                <a:uLnTx/>
                <a:uFillTx/>
                <a:latin typeface="Arial" pitchFamily="34" charset="0"/>
                <a:ea typeface="Arial" pitchFamily="34" charset="-122"/>
                <a:cs typeface="Arial" pitchFamily="34" charset="-120"/>
              </a:rPr>
              <a:t>Phương thức: </a:t>
            </a:r>
            <a:r>
              <a:rPr kumimoji="0" lang="vi-VN" sz="1300" b="0" i="0" u="none" strike="noStrike" kern="1200" cap="none" spc="0" normalizeH="0" baseline="0" noProof="0">
                <a:ln>
                  <a:noFill/>
                </a:ln>
                <a:solidFill>
                  <a:srgbClr val="1F2328"/>
                </a:solidFill>
                <a:effectLst/>
                <a:uLnTx/>
                <a:uFillTx/>
                <a:latin typeface="Arial" pitchFamily="34" charset="0"/>
                <a:ea typeface="Arial" pitchFamily="34" charset="-122"/>
                <a:cs typeface="Arial" pitchFamily="34" charset="-120"/>
              </a:rPr>
              <a:t>KiemTraThongTin(), PhanQuyen(). </a:t>
            </a:r>
          </a:p>
        </p:txBody>
      </p:sp>
      <p:sp>
        <p:nvSpPr>
          <p:cNvPr id="31" name="Text 10">
            <a:extLst>
              <a:ext uri="{FF2B5EF4-FFF2-40B4-BE49-F238E27FC236}">
                <a16:creationId xmlns:a16="http://schemas.microsoft.com/office/drawing/2014/main" id="{550EEEBF-8E37-C747-42EE-E121932120A0}"/>
              </a:ext>
            </a:extLst>
          </p:cNvPr>
          <p:cNvSpPr/>
          <p:nvPr/>
        </p:nvSpPr>
        <p:spPr>
          <a:xfrm>
            <a:off x="8506563" y="4950567"/>
            <a:ext cx="3445517" cy="1301819"/>
          </a:xfrm>
          <a:prstGeom prst="rect">
            <a:avLst/>
          </a:prstGeom>
          <a:solidFill>
            <a:srgbClr val="FFFFFF"/>
          </a:solidFill>
          <a:ln w="16510">
            <a:solidFill>
              <a:srgbClr val="B50915"/>
            </a:solidFill>
          </a:ln>
        </p:spPr>
        <p:txBody>
          <a:bodyPr wrap="square" lIns="508" tIns="508" rIns="508" bIns="508"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300" b="0" i="0" u="none" strike="noStrike" kern="1200" cap="none" spc="0" normalizeH="0" baseline="0" noProof="0">
                <a:ln>
                  <a:noFill/>
                </a:ln>
                <a:solidFill>
                  <a:srgbClr val="1F2328"/>
                </a:solidFill>
                <a:effectLst/>
                <a:uLnTx/>
                <a:uFillTx/>
                <a:latin typeface="Arial" pitchFamily="34" charset="0"/>
                <a:ea typeface="Arial" pitchFamily="34" charset="-122"/>
                <a:cs typeface="Arial" pitchFamily="34" charset="-120"/>
              </a:rPr>
              <a:t>• </a:t>
            </a:r>
            <a:r>
              <a:rPr kumimoji="0" lang="vi-VN" sz="1300" b="1" i="0" u="none" strike="noStrike" kern="1200" cap="none" spc="0" normalizeH="0" baseline="0" noProof="0">
                <a:ln>
                  <a:noFill/>
                </a:ln>
                <a:solidFill>
                  <a:srgbClr val="1F2328"/>
                </a:solidFill>
                <a:effectLst/>
                <a:uLnTx/>
                <a:uFillTx/>
                <a:latin typeface="Arial" pitchFamily="34" charset="0"/>
                <a:ea typeface="Arial" pitchFamily="34" charset="-122"/>
                <a:cs typeface="Arial" pitchFamily="34" charset="-120"/>
              </a:rPr>
              <a:t>Lớp Thực thể (&lt;&lt;entity&gt;&gt;): KhachHang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1300" b="0" i="0" u="none" strike="noStrike" kern="1200" cap="none" spc="0" normalizeH="0" baseline="0" noProof="0">
                <a:ln>
                  <a:noFill/>
                </a:ln>
                <a:solidFill>
                  <a:srgbClr val="1F2328"/>
                </a:solidFill>
                <a:effectLst/>
                <a:uLnTx/>
                <a:uFillTx/>
                <a:latin typeface="Arial" pitchFamily="34" charset="0"/>
                <a:ea typeface="Arial" pitchFamily="34" charset="-122"/>
                <a:cs typeface="Arial" pitchFamily="34" charset="-120"/>
              </a:rPr>
              <a:t>         o </a:t>
            </a:r>
            <a:r>
              <a:rPr kumimoji="0" lang="vi-VN" sz="1300" b="1" i="0" u="none" strike="noStrike" kern="1200" cap="none" spc="0" normalizeH="0" baseline="0" noProof="0">
                <a:ln>
                  <a:noFill/>
                </a:ln>
                <a:solidFill>
                  <a:srgbClr val="1F2328"/>
                </a:solidFill>
                <a:effectLst/>
                <a:uLnTx/>
                <a:uFillTx/>
                <a:latin typeface="Arial" pitchFamily="34" charset="0"/>
                <a:ea typeface="Arial" pitchFamily="34" charset="-122"/>
                <a:cs typeface="Arial" pitchFamily="34" charset="-120"/>
              </a:rPr>
              <a:t>Thuộc tính: </a:t>
            </a:r>
            <a:r>
              <a:rPr kumimoji="0" lang="vi-VN" sz="1300" b="0" i="0" u="none" strike="noStrike" kern="1200" cap="none" spc="0" normalizeH="0" baseline="0" noProof="0">
                <a:ln>
                  <a:noFill/>
                </a:ln>
                <a:solidFill>
                  <a:srgbClr val="1F2328"/>
                </a:solidFill>
                <a:effectLst/>
                <a:uLnTx/>
                <a:uFillTx/>
                <a:latin typeface="Arial" pitchFamily="34" charset="0"/>
                <a:ea typeface="Arial" pitchFamily="34" charset="-122"/>
                <a:cs typeface="Arial" pitchFamily="34" charset="-120"/>
              </a:rPr>
              <a:t>maKH, tenKH, soDienThoai, email, matKhau, loaiTaiKhoan.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1300" b="0" i="0" u="none" strike="noStrike" kern="1200" cap="none" spc="0" normalizeH="0" baseline="0" noProof="0">
                <a:ln>
                  <a:noFill/>
                </a:ln>
                <a:solidFill>
                  <a:srgbClr val="1F2328"/>
                </a:solidFill>
                <a:effectLst/>
                <a:uLnTx/>
                <a:uFillTx/>
                <a:latin typeface="Arial" pitchFamily="34" charset="0"/>
                <a:ea typeface="Arial" pitchFamily="34" charset="-122"/>
                <a:cs typeface="Arial" pitchFamily="34" charset="-120"/>
              </a:rPr>
              <a:t>         o </a:t>
            </a:r>
            <a:r>
              <a:rPr kumimoji="0" lang="vi-VN" sz="1300" b="1" i="0" u="none" strike="noStrike" kern="1200" cap="none" spc="0" normalizeH="0" baseline="0" noProof="0">
                <a:ln>
                  <a:noFill/>
                </a:ln>
                <a:solidFill>
                  <a:srgbClr val="1F2328"/>
                </a:solidFill>
                <a:effectLst/>
                <a:uLnTx/>
                <a:uFillTx/>
                <a:latin typeface="Arial" pitchFamily="34" charset="0"/>
                <a:ea typeface="Arial" pitchFamily="34" charset="-122"/>
                <a:cs typeface="Arial" pitchFamily="34" charset="-120"/>
              </a:rPr>
              <a:t>Phương thức: </a:t>
            </a:r>
            <a:r>
              <a:rPr kumimoji="0" lang="vi-VN" sz="1300" b="0" i="0" u="none" strike="noStrike" kern="1200" cap="none" spc="0" normalizeH="0" baseline="0" noProof="0">
                <a:ln>
                  <a:noFill/>
                </a:ln>
                <a:solidFill>
                  <a:srgbClr val="1F2328"/>
                </a:solidFill>
                <a:effectLst/>
                <a:uLnTx/>
                <a:uFillTx/>
                <a:latin typeface="Arial" pitchFamily="34" charset="0"/>
                <a:ea typeface="Arial" pitchFamily="34" charset="-122"/>
                <a:cs typeface="Arial" pitchFamily="34" charset="-120"/>
              </a:rPr>
              <a:t>GetThongTinKhachHang(). </a:t>
            </a:r>
            <a:endParaRPr kumimoji="0" lang="vi-VN" sz="1300" b="0" i="0" u="none" strike="noStrike" kern="1200" cap="none" spc="0" normalizeH="0" baseline="0" noProof="0" dirty="0">
              <a:ln>
                <a:noFill/>
              </a:ln>
              <a:solidFill>
                <a:srgbClr val="1F2328"/>
              </a:solidFill>
              <a:effectLst/>
              <a:uLnTx/>
              <a:uFillTx/>
              <a:latin typeface="Arial" pitchFamily="34" charset="0"/>
              <a:ea typeface="Arial" pitchFamily="34" charset="-122"/>
              <a:cs typeface="Arial" pitchFamily="34" charset="-120"/>
            </a:endParaRPr>
          </a:p>
        </p:txBody>
      </p:sp>
      <p:sp>
        <p:nvSpPr>
          <p:cNvPr id="10" name="Shape 18">
            <a:extLst>
              <a:ext uri="{FF2B5EF4-FFF2-40B4-BE49-F238E27FC236}">
                <a16:creationId xmlns:a16="http://schemas.microsoft.com/office/drawing/2014/main" id="{1B898CD8-3AB5-5BC6-3CA2-16A81EB55F14}"/>
              </a:ext>
            </a:extLst>
          </p:cNvPr>
          <p:cNvSpPr/>
          <p:nvPr/>
        </p:nvSpPr>
        <p:spPr>
          <a:xfrm>
            <a:off x="4758433" y="5596591"/>
            <a:ext cx="73152" cy="0"/>
          </a:xfrm>
          <a:prstGeom prst="line">
            <a:avLst/>
          </a:prstGeom>
          <a:noFill/>
          <a:ln w="17780">
            <a:solidFill>
              <a:srgbClr val="B50915"/>
            </a:solidFill>
            <a:prstDash val="solid"/>
            <a:headEnd type="none"/>
            <a:tailEnd type="triangle"/>
          </a:ln>
        </p:spPr>
        <p:txBody>
          <a:bodyPr/>
          <a:lstStyle/>
          <a:p>
            <a:endParaRPr lang="vi-VN"/>
          </a:p>
        </p:txBody>
      </p:sp>
      <p:sp>
        <p:nvSpPr>
          <p:cNvPr id="11" name="Shape 18">
            <a:extLst>
              <a:ext uri="{FF2B5EF4-FFF2-40B4-BE49-F238E27FC236}">
                <a16:creationId xmlns:a16="http://schemas.microsoft.com/office/drawing/2014/main" id="{EA276F92-452A-F862-DD99-65247DAA9504}"/>
              </a:ext>
            </a:extLst>
          </p:cNvPr>
          <p:cNvSpPr/>
          <p:nvPr/>
        </p:nvSpPr>
        <p:spPr>
          <a:xfrm>
            <a:off x="8375258" y="5608243"/>
            <a:ext cx="73152" cy="0"/>
          </a:xfrm>
          <a:prstGeom prst="line">
            <a:avLst/>
          </a:prstGeom>
          <a:noFill/>
          <a:ln w="17780">
            <a:solidFill>
              <a:srgbClr val="B50915"/>
            </a:solidFill>
            <a:prstDash val="solid"/>
            <a:headEnd type="none"/>
            <a:tailEnd type="triangle"/>
          </a:ln>
        </p:spPr>
        <p:txBody>
          <a:bodyPr/>
          <a:lstStyle/>
          <a:p>
            <a:endParaRPr lang="vi-V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a:extLst>
            <a:ext uri="{FF2B5EF4-FFF2-40B4-BE49-F238E27FC236}">
              <a16:creationId xmlns:a16="http://schemas.microsoft.com/office/drawing/2014/main" id="{D89B3D8C-B187-7CED-92C6-9E568816FE3D}"/>
            </a:ext>
          </a:extLst>
        </p:cNvPr>
        <p:cNvGrpSpPr/>
        <p:nvPr/>
      </p:nvGrpSpPr>
      <p:grpSpPr>
        <a:xfrm>
          <a:off x="0" y="0"/>
          <a:ext cx="0" cy="0"/>
          <a:chOff x="0" y="0"/>
          <a:chExt cx="0" cy="0"/>
        </a:xfrm>
      </p:grpSpPr>
      <p:sp>
        <p:nvSpPr>
          <p:cNvPr id="28" name="Text 10">
            <a:extLst>
              <a:ext uri="{FF2B5EF4-FFF2-40B4-BE49-F238E27FC236}">
                <a16:creationId xmlns:a16="http://schemas.microsoft.com/office/drawing/2014/main" id="{96E086F1-B3AF-4F67-4A50-C26646622752}"/>
              </a:ext>
            </a:extLst>
          </p:cNvPr>
          <p:cNvSpPr/>
          <p:nvPr/>
        </p:nvSpPr>
        <p:spPr>
          <a:xfrm>
            <a:off x="1475639" y="4987303"/>
            <a:ext cx="3167118" cy="695039"/>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NganTu</a:t>
            </a:r>
            <a:endParaRPr lang="en-US" sz="1050" dirty="0"/>
          </a:p>
        </p:txBody>
      </p:sp>
      <p:sp>
        <p:nvSpPr>
          <p:cNvPr id="2" name="Shape 0">
            <a:extLst>
              <a:ext uri="{FF2B5EF4-FFF2-40B4-BE49-F238E27FC236}">
                <a16:creationId xmlns:a16="http://schemas.microsoft.com/office/drawing/2014/main" id="{1167CF66-BA44-D4C1-C8A2-2C34F80F1E80}"/>
              </a:ext>
            </a:extLst>
          </p:cNvPr>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a:extLst>
              <a:ext uri="{FF2B5EF4-FFF2-40B4-BE49-F238E27FC236}">
                <a16:creationId xmlns:a16="http://schemas.microsoft.com/office/drawing/2014/main" id="{DB13872A-45A4-9AC3-8711-843D1F186AAA}"/>
              </a:ext>
            </a:extLst>
          </p:cNvPr>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a:extLst>
              <a:ext uri="{FF2B5EF4-FFF2-40B4-BE49-F238E27FC236}">
                <a16:creationId xmlns:a16="http://schemas.microsoft.com/office/drawing/2014/main" id="{157150A3-64E6-E712-96D8-06296F5D541A}"/>
              </a:ext>
            </a:extLst>
          </p:cNvPr>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a:extLst>
              <a:ext uri="{FF2B5EF4-FFF2-40B4-BE49-F238E27FC236}">
                <a16:creationId xmlns:a16="http://schemas.microsoft.com/office/drawing/2014/main" id="{3F712F98-FD74-7C68-A0FE-BC8F4DFF90B4}"/>
              </a:ext>
            </a:extLst>
          </p:cNvPr>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a:extLst>
              <a:ext uri="{FF2B5EF4-FFF2-40B4-BE49-F238E27FC236}">
                <a16:creationId xmlns:a16="http://schemas.microsoft.com/office/drawing/2014/main" id="{F77B444D-609D-28B4-BD96-374091053231}"/>
              </a:ext>
            </a:extLst>
          </p:cNvPr>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a:t>
            </a:r>
            <a:endParaRPr lang="en-US" sz="750" dirty="0"/>
          </a:p>
        </p:txBody>
      </p:sp>
      <p:sp>
        <p:nvSpPr>
          <p:cNvPr id="8" name="Text 6">
            <a:extLst>
              <a:ext uri="{FF2B5EF4-FFF2-40B4-BE49-F238E27FC236}">
                <a16:creationId xmlns:a16="http://schemas.microsoft.com/office/drawing/2014/main" id="{36C26CDD-244A-B675-1FEF-4AB6E3AB475E}"/>
              </a:ext>
            </a:extLst>
          </p:cNvPr>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a:solidFill>
                  <a:srgbClr val="1F2328"/>
                </a:solidFill>
                <a:latin typeface="Arial" pitchFamily="34" charset="0"/>
                <a:ea typeface="Arial" pitchFamily="34" charset="-122"/>
                <a:cs typeface="Arial" pitchFamily="34" charset="-120"/>
              </a:rPr>
              <a:t>Biểu đồ Lớp cho Use Case Quản lý Giao hàng TMĐT</a:t>
            </a:r>
            <a:endParaRPr lang="en-US" sz="2400" dirty="0"/>
          </a:p>
        </p:txBody>
      </p:sp>
      <p:sp>
        <p:nvSpPr>
          <p:cNvPr id="9" name="Shape 7">
            <a:extLst>
              <a:ext uri="{FF2B5EF4-FFF2-40B4-BE49-F238E27FC236}">
                <a16:creationId xmlns:a16="http://schemas.microsoft.com/office/drawing/2014/main" id="{C471812B-E55E-3705-C889-CF88E8186735}"/>
              </a:ext>
            </a:extLst>
          </p:cNvPr>
          <p:cNvSpPr/>
          <p:nvPr/>
        </p:nvSpPr>
        <p:spPr>
          <a:xfrm>
            <a:off x="502920" y="1058143"/>
            <a:ext cx="1188720" cy="0"/>
          </a:xfrm>
          <a:prstGeom prst="line">
            <a:avLst/>
          </a:prstGeom>
          <a:noFill/>
          <a:ln w="27940">
            <a:solidFill>
              <a:srgbClr val="B50915"/>
            </a:solidFill>
            <a:prstDash val="solid"/>
          </a:ln>
        </p:spPr>
        <p:txBody>
          <a:bodyPr/>
          <a:lstStyle/>
          <a:p>
            <a:endParaRPr lang="vi-VN"/>
          </a:p>
        </p:txBody>
      </p:sp>
      <p:sp>
        <p:nvSpPr>
          <p:cNvPr id="21" name="Shape 18">
            <a:extLst>
              <a:ext uri="{FF2B5EF4-FFF2-40B4-BE49-F238E27FC236}">
                <a16:creationId xmlns:a16="http://schemas.microsoft.com/office/drawing/2014/main" id="{3F967336-D885-5B24-9C8A-2E1E3B6DB4BC}"/>
              </a:ext>
            </a:extLst>
          </p:cNvPr>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22" name="Text 19">
            <a:extLst>
              <a:ext uri="{FF2B5EF4-FFF2-40B4-BE49-F238E27FC236}">
                <a16:creationId xmlns:a16="http://schemas.microsoft.com/office/drawing/2014/main" id="{2AC73ECE-BA18-70A6-4F22-80655115D114}"/>
              </a:ext>
            </a:extLst>
          </p:cNvPr>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23" name="Text 20">
            <a:extLst>
              <a:ext uri="{FF2B5EF4-FFF2-40B4-BE49-F238E27FC236}">
                <a16:creationId xmlns:a16="http://schemas.microsoft.com/office/drawing/2014/main" id="{1FFEC256-A60C-EEFB-C79A-88C5399F350D}"/>
              </a:ext>
            </a:extLst>
          </p:cNvPr>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16</a:t>
            </a:r>
            <a:endParaRPr lang="en-US" sz="1000" dirty="0"/>
          </a:p>
        </p:txBody>
      </p:sp>
      <p:sp>
        <p:nvSpPr>
          <p:cNvPr id="24" name="Text 5">
            <a:extLst>
              <a:ext uri="{FF2B5EF4-FFF2-40B4-BE49-F238E27FC236}">
                <a16:creationId xmlns:a16="http://schemas.microsoft.com/office/drawing/2014/main" id="{38578F53-9DDF-A2F1-14D2-D82B9E4889E1}"/>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 PHÂN TÍCH HỆ THỐNG</a:t>
            </a:r>
          </a:p>
          <a:p>
            <a:pPr marL="0" indent="0">
              <a:buNone/>
            </a:pPr>
            <a:r>
              <a:rPr lang="en-US" sz="1200" b="1">
                <a:solidFill>
                  <a:srgbClr val="B50915"/>
                </a:solidFill>
                <a:latin typeface="Arial" pitchFamily="34" charset="0"/>
                <a:cs typeface="Arial" pitchFamily="34" charset="-120"/>
              </a:rPr>
              <a:t>2.2 Phân tích cấu trúc (Mô hình hóa Lớp)</a:t>
            </a:r>
            <a:endParaRPr lang="en-US" sz="1200" dirty="0"/>
          </a:p>
        </p:txBody>
      </p:sp>
      <p:sp>
        <p:nvSpPr>
          <p:cNvPr id="7" name="Text 9">
            <a:extLst>
              <a:ext uri="{FF2B5EF4-FFF2-40B4-BE49-F238E27FC236}">
                <a16:creationId xmlns:a16="http://schemas.microsoft.com/office/drawing/2014/main" id="{163803FF-0A70-C9F8-EB28-5CB781DC29B5}"/>
              </a:ext>
            </a:extLst>
          </p:cNvPr>
          <p:cNvSpPr/>
          <p:nvPr/>
        </p:nvSpPr>
        <p:spPr>
          <a:xfrm>
            <a:off x="462573" y="1171968"/>
            <a:ext cx="10725912" cy="319186"/>
          </a:xfrm>
          <a:prstGeom prst="rect">
            <a:avLst/>
          </a:prstGeom>
          <a:noFill/>
          <a:ln/>
        </p:spPr>
        <p:txBody>
          <a:bodyPr wrap="square" lIns="635" tIns="635" rIns="635" bIns="635" rtlCol="0" anchor="t">
            <a:normAutofit/>
          </a:bodyPr>
          <a:lstStyle/>
          <a:p>
            <a:r>
              <a:rPr lang="vi-VN" sz="1330" b="1">
                <a:solidFill>
                  <a:srgbClr val="1F2328"/>
                </a:solidFill>
                <a:latin typeface="Arial" pitchFamily="34" charset="0"/>
                <a:ea typeface="Arial" pitchFamily="34" charset="-122"/>
                <a:cs typeface="Arial" pitchFamily="34" charset="-120"/>
              </a:rPr>
              <a:t>Mô tả kiến trúc cấu trúc dữ liệu phục vụ tiến trình Bưu tá tìm kiếm tủ trống và thực hiện cất bưu bưu kiện đơn hàng. </a:t>
            </a:r>
            <a:endParaRPr lang="en-US" sz="1330" b="1" dirty="0"/>
          </a:p>
        </p:txBody>
      </p:sp>
      <p:sp>
        <p:nvSpPr>
          <p:cNvPr id="29" name="Text 10">
            <a:extLst>
              <a:ext uri="{FF2B5EF4-FFF2-40B4-BE49-F238E27FC236}">
                <a16:creationId xmlns:a16="http://schemas.microsoft.com/office/drawing/2014/main" id="{52311103-E114-78D5-6E81-0E6055A9CA90}"/>
              </a:ext>
            </a:extLst>
          </p:cNvPr>
          <p:cNvSpPr/>
          <p:nvPr/>
        </p:nvSpPr>
        <p:spPr>
          <a:xfrm>
            <a:off x="7260772" y="1520731"/>
            <a:ext cx="4400006" cy="1239285"/>
          </a:xfrm>
          <a:prstGeom prst="rect">
            <a:avLst/>
          </a:prstGeom>
          <a:solidFill>
            <a:srgbClr val="FFFFFF"/>
          </a:solidFill>
          <a:ln w="16510">
            <a:solidFill>
              <a:srgbClr val="B50915"/>
            </a:solidFill>
          </a:ln>
        </p:spPr>
        <p:txBody>
          <a:bodyPr wrap="square" lIns="508" tIns="508" rIns="508" bIns="508" rtlCol="0" anchor="ctr">
            <a:normAutofit/>
          </a:bodyPr>
          <a:lstStyle/>
          <a:p>
            <a:pPr marL="342900" lvl="0" indent="-342900">
              <a:lnSpc>
                <a:spcPct val="115000"/>
              </a:lnSpc>
              <a:buSzPts val="1000"/>
              <a:buFont typeface="Symbol" panose="05050102010706020507" pitchFamily="18" charset="2"/>
              <a:buChar char=""/>
              <a:tabLst>
                <a:tab pos="457200" algn="l"/>
              </a:tabLst>
            </a:pPr>
            <a:r>
              <a:rPr lang="vi-VN" sz="13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Lớp Giao diện (</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&lt;&lt;boundary&gt;&gt;</a:t>
            </a:r>
            <a:r>
              <a:rPr lang="vi-VN" sz="13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Form_GiaoHang</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vi-VN" sz="1200">
              <a:solidFill>
                <a:srgbClr val="000000"/>
              </a:solidFill>
              <a:effectLst/>
              <a:latin typeface="Arial" panose="020B0604020202020204" pitchFamily="34" charset="0"/>
              <a:ea typeface="Arial" panose="020B0604020202020204" pitchFamily="34" charset="0"/>
              <a:cs typeface="Arial" panose="020B0604020202020204" pitchFamily="34" charset="0"/>
            </a:endParaRPr>
          </a:p>
          <a:p>
            <a:pPr marL="742950" lvl="1" indent="-285750">
              <a:lnSpc>
                <a:spcPct val="115000"/>
              </a:lnSpc>
              <a:buSzPts val="1000"/>
              <a:buFont typeface="Courier New" panose="02070309020205020404" pitchFamily="49" charset="0"/>
              <a:buChar char="o"/>
              <a:tabLst>
                <a:tab pos="914400" algn="l"/>
              </a:tabLst>
            </a:pPr>
            <a:r>
              <a:rPr lang="vi-VN" sz="1300" i="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Thuộc tính:</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sdtNguoiNhan, kichThuocNgan, tienCOD. </a:t>
            </a:r>
            <a:endParaRPr lang="vi-VN" sz="120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p>
            <a:pPr marL="742950" lvl="1" indent="-285750">
              <a:lnSpc>
                <a:spcPct val="115000"/>
              </a:lnSpc>
              <a:buSzPts val="1000"/>
              <a:buFont typeface="Courier New" panose="02070309020205020404" pitchFamily="49" charset="0"/>
              <a:buChar char="o"/>
              <a:tabLst>
                <a:tab pos="914400" algn="l"/>
              </a:tabLst>
            </a:pPr>
            <a:r>
              <a:rPr lang="vi-VN" sz="1300" i="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Phương thức:</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Chon</a:t>
            </a:r>
            <a:r>
              <a:rPr lang="en-US"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TramVaKichThuoc</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NhapThongTinDonHang(). </a:t>
            </a:r>
            <a:r>
              <a:rPr lang="en-US"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vi-VN" sz="1200">
              <a:effectLst/>
              <a:latin typeface="Arial" panose="020B0604020202020204" pitchFamily="34" charset="0"/>
              <a:ea typeface="Arial" panose="020B0604020202020204" pitchFamily="34" charset="0"/>
              <a:cs typeface="Arial" panose="020B0604020202020204" pitchFamily="34" charset="0"/>
            </a:endParaRPr>
          </a:p>
        </p:txBody>
      </p:sp>
      <p:sp>
        <p:nvSpPr>
          <p:cNvPr id="30" name="Text 10">
            <a:extLst>
              <a:ext uri="{FF2B5EF4-FFF2-40B4-BE49-F238E27FC236}">
                <a16:creationId xmlns:a16="http://schemas.microsoft.com/office/drawing/2014/main" id="{D3D8AAB1-9F16-0621-4492-01E50EE198C5}"/>
              </a:ext>
            </a:extLst>
          </p:cNvPr>
          <p:cNvSpPr/>
          <p:nvPr/>
        </p:nvSpPr>
        <p:spPr>
          <a:xfrm>
            <a:off x="7260769" y="2875230"/>
            <a:ext cx="4400008" cy="796358"/>
          </a:xfrm>
          <a:prstGeom prst="rect">
            <a:avLst/>
          </a:prstGeom>
          <a:solidFill>
            <a:srgbClr val="FFFFFF"/>
          </a:solidFill>
          <a:ln w="16510">
            <a:solidFill>
              <a:srgbClr val="B50915"/>
            </a:solidFill>
          </a:ln>
        </p:spPr>
        <p:txBody>
          <a:bodyPr wrap="square" lIns="508" tIns="508" rIns="508" bIns="508" rtlCol="0" anchor="ctr">
            <a:normAutofit fontScale="92500"/>
          </a:bodyPr>
          <a:lstStyle/>
          <a:p>
            <a:pPr marL="342900" lvl="0" indent="-342900">
              <a:lnSpc>
                <a:spcPct val="115000"/>
              </a:lnSpc>
              <a:buSzPts val="1000"/>
              <a:buFont typeface="Symbol" panose="05050102010706020507" pitchFamily="18" charset="2"/>
              <a:buChar char=""/>
              <a:tabLst>
                <a:tab pos="457200" algn="l"/>
              </a:tabLst>
            </a:pPr>
            <a:r>
              <a:rPr lang="vi-VN" sz="13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Lớp Điều khiển (</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&lt;&lt;control&gt;&gt;</a:t>
            </a:r>
            <a:r>
              <a:rPr lang="vi-VN" sz="13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Ctrl_GiaoHang</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vi-VN" sz="1200">
              <a:solidFill>
                <a:srgbClr val="000000"/>
              </a:solidFill>
              <a:effectLst/>
              <a:latin typeface="Arial" panose="020B0604020202020204" pitchFamily="34" charset="0"/>
              <a:ea typeface="Arial" panose="020B0604020202020204" pitchFamily="34" charset="0"/>
              <a:cs typeface="Arial" panose="020B0604020202020204" pitchFamily="34" charset="0"/>
            </a:endParaRPr>
          </a:p>
          <a:p>
            <a:pPr marL="742950" lvl="1" indent="-285750">
              <a:lnSpc>
                <a:spcPct val="115000"/>
              </a:lnSpc>
              <a:buSzPts val="1000"/>
              <a:buFont typeface="Courier New" panose="02070309020205020404" pitchFamily="49" charset="0"/>
              <a:buChar char="o"/>
              <a:tabLst>
                <a:tab pos="914400" algn="l"/>
              </a:tabLst>
            </a:pPr>
            <a:r>
              <a:rPr lang="vi-VN" sz="1300" i="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Phương thức:</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TruyVan</a:t>
            </a:r>
            <a:r>
              <a:rPr lang="en-US"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Ngan</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Trong(), TaoGiaoDichMoi(), SinhMaOTP(),  GuiThongBaoSMS(), MoChotTu(). </a:t>
            </a:r>
            <a:endParaRPr lang="vi-VN" sz="120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p:txBody>
      </p:sp>
      <p:sp>
        <p:nvSpPr>
          <p:cNvPr id="31" name="Text 10">
            <a:extLst>
              <a:ext uri="{FF2B5EF4-FFF2-40B4-BE49-F238E27FC236}">
                <a16:creationId xmlns:a16="http://schemas.microsoft.com/office/drawing/2014/main" id="{DD30A3CA-3FB6-FC19-A646-81C99AA1B8E6}"/>
              </a:ext>
            </a:extLst>
          </p:cNvPr>
          <p:cNvSpPr/>
          <p:nvPr/>
        </p:nvSpPr>
        <p:spPr>
          <a:xfrm>
            <a:off x="7260771" y="3799603"/>
            <a:ext cx="4400008" cy="2571206"/>
          </a:xfrm>
          <a:prstGeom prst="rect">
            <a:avLst/>
          </a:prstGeom>
          <a:solidFill>
            <a:srgbClr val="FFFFFF"/>
          </a:solidFill>
          <a:ln w="16510">
            <a:solidFill>
              <a:srgbClr val="B50915"/>
            </a:solidFill>
          </a:ln>
        </p:spPr>
        <p:txBody>
          <a:bodyPr wrap="square" lIns="508" tIns="508" rIns="508" bIns="508" rtlCol="0" anchor="ctr">
            <a:normAutofit fontScale="92500" lnSpcReduction="10000"/>
          </a:bodyPr>
          <a:lstStyle/>
          <a:p>
            <a:pPr marL="342900" lvl="0" indent="-342900">
              <a:lnSpc>
                <a:spcPct val="115000"/>
              </a:lnSpc>
              <a:buSzPts val="1000"/>
              <a:buFont typeface="Symbol" panose="05050102010706020507" pitchFamily="18" charset="2"/>
              <a:buChar char=""/>
              <a:tabLst>
                <a:tab pos="457200" algn="l"/>
              </a:tabLst>
            </a:pPr>
            <a:r>
              <a:rPr lang="vi-VN" sz="13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Lớp Thực thể (</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&lt;&lt;entity&gt;&gt;</a:t>
            </a:r>
            <a:r>
              <a:rPr lang="vi-VN" sz="13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a:t>
            </a:r>
            <a:endParaRPr lang="vi-VN" sz="1200">
              <a:solidFill>
                <a:srgbClr val="000000"/>
              </a:solidFill>
              <a:effectLst/>
              <a:latin typeface="Arial" panose="020B0604020202020204" pitchFamily="34" charset="0"/>
              <a:ea typeface="Arial" panose="020B0604020202020204" pitchFamily="34" charset="0"/>
              <a:cs typeface="Arial" panose="020B0604020202020204" pitchFamily="34" charset="0"/>
            </a:endParaRPr>
          </a:p>
          <a:p>
            <a:pPr marL="742950" lvl="1" indent="-285750">
              <a:lnSpc>
                <a:spcPct val="115000"/>
              </a:lnSpc>
              <a:buSzPts val="1000"/>
              <a:buFont typeface="Courier New" panose="02070309020205020404" pitchFamily="49" charset="0"/>
              <a:buChar char="o"/>
              <a:tabLst>
                <a:tab pos="914400" algn="l"/>
              </a:tabLst>
            </a:pPr>
            <a:r>
              <a:rPr lang="vi-VN" sz="13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NganTu:</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Quản lý trạng thái vật lý của tủ đồ. </a:t>
            </a:r>
            <a:r>
              <a:rPr lang="en-US"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3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Thuộc tính</a:t>
            </a:r>
            <a:r>
              <a:rPr lang="en-US" sz="13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maNT, maTram, maKichThuoc, trangThaiNT; </a:t>
            </a:r>
            <a:r>
              <a:rPr lang="en-US"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3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Phương thức</a:t>
            </a:r>
            <a:r>
              <a:rPr lang="en-US" sz="13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LayDanhSachNganTrong(), </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CapNhatTrangThai(). </a:t>
            </a:r>
            <a:endParaRPr lang="vi-VN" sz="120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p>
            <a:pPr marL="742950" lvl="1" indent="-285750">
              <a:lnSpc>
                <a:spcPct val="115000"/>
              </a:lnSpc>
              <a:buSzPts val="1000"/>
              <a:buFont typeface="Courier New" panose="02070309020205020404" pitchFamily="49" charset="0"/>
              <a:buChar char="o"/>
              <a:tabLst>
                <a:tab pos="914400" algn="l"/>
              </a:tabLst>
            </a:pPr>
            <a:r>
              <a:rPr lang="vi-VN" sz="13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GiaoDich:</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Ghi nhận thông tin bưu kiện và mã số định danh. </a:t>
            </a:r>
            <a:r>
              <a:rPr lang="en-US"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lvl="1">
              <a:lnSpc>
                <a:spcPct val="115000"/>
              </a:lnSpc>
              <a:buSzPts val="1000"/>
              <a:tabLst>
                <a:tab pos="914400" algn="l"/>
              </a:tabLst>
            </a:pPr>
            <a:r>
              <a:rPr lang="vi-VN" sz="13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Thuộc tính</a:t>
            </a:r>
            <a:r>
              <a:rPr lang="en-US" sz="13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maGD, maKH, maNT, loaiGD, sdtNguoiNhan, maOTP_QR,</a:t>
            </a:r>
            <a:r>
              <a:rPr lang="en-US"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hanSuDungOTP,</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thoiGianGui,</a:t>
            </a:r>
            <a:r>
              <a:rPr lang="en-US"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thoiGianNhan,</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tienCOD, </a:t>
            </a:r>
            <a:r>
              <a:rPr lang="en-US"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tongTienThanhToan,</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trangThaiGD; </a:t>
            </a:r>
            <a:r>
              <a:rPr lang="en-US"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vi-VN" sz="120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p>
            <a:pPr marL="914400">
              <a:lnSpc>
                <a:spcPct val="115000"/>
              </a:lnSpc>
            </a:pPr>
            <a:r>
              <a:rPr lang="vi-VN" sz="13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Phương thức</a:t>
            </a:r>
            <a:r>
              <a:rPr lang="en-US" sz="13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a:t>
            </a:r>
            <a:r>
              <a:rPr lang="en-US"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ThemGiaoDich()</a:t>
            </a:r>
            <a:r>
              <a:rPr lang="en-US"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TimGiaoDichTheoMaOTP(), CapNhatMaOTP(), CapNhatGiaoDich().</a:t>
            </a:r>
            <a:endParaRPr lang="vi-VN" sz="1200">
              <a:effectLst/>
              <a:latin typeface="Arial" panose="020B0604020202020204" pitchFamily="34" charset="0"/>
              <a:ea typeface="Arial" panose="020B0604020202020204" pitchFamily="34" charset="0"/>
              <a:cs typeface="Arial" panose="020B0604020202020204" pitchFamily="34" charset="0"/>
            </a:endParaRPr>
          </a:p>
        </p:txBody>
      </p:sp>
      <p:pic>
        <p:nvPicPr>
          <p:cNvPr id="10" name="Hình ảnh 9" descr="Ảnh có chứa văn bản, ảnh chụp màn hình, Phông chữ, biểu đồ">
            <a:extLst>
              <a:ext uri="{FF2B5EF4-FFF2-40B4-BE49-F238E27FC236}">
                <a16:creationId xmlns:a16="http://schemas.microsoft.com/office/drawing/2014/main" id="{EB797E5E-C5A6-6404-8D6E-F5B46960D93F}"/>
              </a:ext>
            </a:extLst>
          </p:cNvPr>
          <p:cNvPicPr>
            <a:picLocks noChangeAspect="1"/>
          </p:cNvPicPr>
          <p:nvPr/>
        </p:nvPicPr>
        <p:blipFill>
          <a:blip r:embed="rId3"/>
          <a:stretch>
            <a:fillRect/>
          </a:stretch>
        </p:blipFill>
        <p:spPr>
          <a:xfrm>
            <a:off x="671894" y="1477264"/>
            <a:ext cx="5839287" cy="4854043"/>
          </a:xfrm>
          <a:prstGeom prst="rect">
            <a:avLst/>
          </a:prstGeom>
        </p:spPr>
      </p:pic>
    </p:spTree>
    <p:extLst>
      <p:ext uri="{BB962C8B-B14F-4D97-AF65-F5344CB8AC3E}">
        <p14:creationId xmlns:p14="http://schemas.microsoft.com/office/powerpoint/2010/main" val="23724971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a:extLst>
            <a:ext uri="{FF2B5EF4-FFF2-40B4-BE49-F238E27FC236}">
              <a16:creationId xmlns:a16="http://schemas.microsoft.com/office/drawing/2014/main" id="{421F371C-8DA1-F0E5-8469-FCDF7053499A}"/>
            </a:ext>
          </a:extLst>
        </p:cNvPr>
        <p:cNvGrpSpPr/>
        <p:nvPr/>
      </p:nvGrpSpPr>
      <p:grpSpPr>
        <a:xfrm>
          <a:off x="0" y="0"/>
          <a:ext cx="0" cy="0"/>
          <a:chOff x="0" y="0"/>
          <a:chExt cx="0" cy="0"/>
        </a:xfrm>
      </p:grpSpPr>
      <p:sp>
        <p:nvSpPr>
          <p:cNvPr id="28" name="Text 10">
            <a:extLst>
              <a:ext uri="{FF2B5EF4-FFF2-40B4-BE49-F238E27FC236}">
                <a16:creationId xmlns:a16="http://schemas.microsoft.com/office/drawing/2014/main" id="{F14419F2-23E5-9965-568C-3912EC542990}"/>
              </a:ext>
            </a:extLst>
          </p:cNvPr>
          <p:cNvSpPr/>
          <p:nvPr/>
        </p:nvSpPr>
        <p:spPr>
          <a:xfrm>
            <a:off x="1475639" y="4987303"/>
            <a:ext cx="3167118" cy="695039"/>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NganTu</a:t>
            </a:r>
            <a:endParaRPr lang="en-US" sz="1050" dirty="0"/>
          </a:p>
        </p:txBody>
      </p:sp>
      <p:sp>
        <p:nvSpPr>
          <p:cNvPr id="2" name="Shape 0">
            <a:extLst>
              <a:ext uri="{FF2B5EF4-FFF2-40B4-BE49-F238E27FC236}">
                <a16:creationId xmlns:a16="http://schemas.microsoft.com/office/drawing/2014/main" id="{890DFC93-1ABA-9AF1-8B75-D872E1BF16EF}"/>
              </a:ext>
            </a:extLst>
          </p:cNvPr>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a:extLst>
              <a:ext uri="{FF2B5EF4-FFF2-40B4-BE49-F238E27FC236}">
                <a16:creationId xmlns:a16="http://schemas.microsoft.com/office/drawing/2014/main" id="{00F7C01F-B47F-EFBB-B3C8-D26D03DEE519}"/>
              </a:ext>
            </a:extLst>
          </p:cNvPr>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a:extLst>
              <a:ext uri="{FF2B5EF4-FFF2-40B4-BE49-F238E27FC236}">
                <a16:creationId xmlns:a16="http://schemas.microsoft.com/office/drawing/2014/main" id="{F538F0EA-E17E-E88E-FFD4-ABA19B6F45C6}"/>
              </a:ext>
            </a:extLst>
          </p:cNvPr>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a:extLst>
              <a:ext uri="{FF2B5EF4-FFF2-40B4-BE49-F238E27FC236}">
                <a16:creationId xmlns:a16="http://schemas.microsoft.com/office/drawing/2014/main" id="{78F603AA-DEEB-CEB2-D9A1-A1C1A98B29EC}"/>
              </a:ext>
            </a:extLst>
          </p:cNvPr>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a:extLst>
              <a:ext uri="{FF2B5EF4-FFF2-40B4-BE49-F238E27FC236}">
                <a16:creationId xmlns:a16="http://schemas.microsoft.com/office/drawing/2014/main" id="{16D6184C-1392-83C0-112E-D6ABCC2F0F14}"/>
              </a:ext>
            </a:extLst>
          </p:cNvPr>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a:t>
            </a:r>
            <a:endParaRPr lang="en-US" sz="750" dirty="0"/>
          </a:p>
        </p:txBody>
      </p:sp>
      <p:sp>
        <p:nvSpPr>
          <p:cNvPr id="8" name="Text 6">
            <a:extLst>
              <a:ext uri="{FF2B5EF4-FFF2-40B4-BE49-F238E27FC236}">
                <a16:creationId xmlns:a16="http://schemas.microsoft.com/office/drawing/2014/main" id="{1F58F427-3703-2481-3AE6-EE35847D18B8}"/>
              </a:ext>
            </a:extLst>
          </p:cNvPr>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a:solidFill>
                  <a:srgbClr val="1F2328"/>
                </a:solidFill>
                <a:latin typeface="Arial" pitchFamily="34" charset="0"/>
                <a:ea typeface="Arial" pitchFamily="34" charset="-122"/>
                <a:cs typeface="Arial" pitchFamily="34" charset="-120"/>
              </a:rPr>
              <a:t>Biểu đồ Lớp cho Use Case Nhận hàng &amp; Thanh toán</a:t>
            </a:r>
            <a:endParaRPr lang="en-US" sz="2400" dirty="0"/>
          </a:p>
        </p:txBody>
      </p:sp>
      <p:sp>
        <p:nvSpPr>
          <p:cNvPr id="9" name="Shape 7">
            <a:extLst>
              <a:ext uri="{FF2B5EF4-FFF2-40B4-BE49-F238E27FC236}">
                <a16:creationId xmlns:a16="http://schemas.microsoft.com/office/drawing/2014/main" id="{C619F0C8-9835-751D-6E31-8463497A4FCE}"/>
              </a:ext>
            </a:extLst>
          </p:cNvPr>
          <p:cNvSpPr/>
          <p:nvPr/>
        </p:nvSpPr>
        <p:spPr>
          <a:xfrm>
            <a:off x="502920" y="1017373"/>
            <a:ext cx="1188720" cy="0"/>
          </a:xfrm>
          <a:prstGeom prst="line">
            <a:avLst/>
          </a:prstGeom>
          <a:noFill/>
          <a:ln w="27940">
            <a:solidFill>
              <a:srgbClr val="B50915"/>
            </a:solidFill>
            <a:prstDash val="solid"/>
          </a:ln>
        </p:spPr>
        <p:txBody>
          <a:bodyPr/>
          <a:lstStyle/>
          <a:p>
            <a:endParaRPr lang="vi-VN"/>
          </a:p>
        </p:txBody>
      </p:sp>
      <p:sp>
        <p:nvSpPr>
          <p:cNvPr id="21" name="Shape 18">
            <a:extLst>
              <a:ext uri="{FF2B5EF4-FFF2-40B4-BE49-F238E27FC236}">
                <a16:creationId xmlns:a16="http://schemas.microsoft.com/office/drawing/2014/main" id="{A7B63B69-3D16-8171-DC89-046175F05799}"/>
              </a:ext>
            </a:extLst>
          </p:cNvPr>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22" name="Text 19">
            <a:extLst>
              <a:ext uri="{FF2B5EF4-FFF2-40B4-BE49-F238E27FC236}">
                <a16:creationId xmlns:a16="http://schemas.microsoft.com/office/drawing/2014/main" id="{4D789BFD-14F8-2E2F-8AE6-E140389B61AB}"/>
              </a:ext>
            </a:extLst>
          </p:cNvPr>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23" name="Text 20">
            <a:extLst>
              <a:ext uri="{FF2B5EF4-FFF2-40B4-BE49-F238E27FC236}">
                <a16:creationId xmlns:a16="http://schemas.microsoft.com/office/drawing/2014/main" id="{DD417748-78A5-DA24-8F93-C156A8508B20}"/>
              </a:ext>
            </a:extLst>
          </p:cNvPr>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16</a:t>
            </a:r>
            <a:endParaRPr lang="en-US" sz="1000" dirty="0"/>
          </a:p>
        </p:txBody>
      </p:sp>
      <p:sp>
        <p:nvSpPr>
          <p:cNvPr id="24" name="Text 5">
            <a:extLst>
              <a:ext uri="{FF2B5EF4-FFF2-40B4-BE49-F238E27FC236}">
                <a16:creationId xmlns:a16="http://schemas.microsoft.com/office/drawing/2014/main" id="{880930AB-38FE-4278-7A8C-071B5F8A334B}"/>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 PHÂN TÍCH HỆ THỐNG</a:t>
            </a:r>
          </a:p>
          <a:p>
            <a:pPr marL="0" indent="0">
              <a:buNone/>
            </a:pPr>
            <a:r>
              <a:rPr lang="en-US" sz="1200" b="1">
                <a:solidFill>
                  <a:srgbClr val="B50915"/>
                </a:solidFill>
                <a:latin typeface="Arial" pitchFamily="34" charset="0"/>
                <a:cs typeface="Arial" pitchFamily="34" charset="-120"/>
              </a:rPr>
              <a:t>2.2 Phân tích cấu trúc (Mô hình hóa Lớp)</a:t>
            </a:r>
            <a:endParaRPr lang="en-US" sz="1200" dirty="0"/>
          </a:p>
        </p:txBody>
      </p:sp>
      <p:sp>
        <p:nvSpPr>
          <p:cNvPr id="7" name="Text 9">
            <a:extLst>
              <a:ext uri="{FF2B5EF4-FFF2-40B4-BE49-F238E27FC236}">
                <a16:creationId xmlns:a16="http://schemas.microsoft.com/office/drawing/2014/main" id="{D3D7FB72-F837-6F8B-BA6A-65E3B21DA2AA}"/>
              </a:ext>
            </a:extLst>
          </p:cNvPr>
          <p:cNvSpPr/>
          <p:nvPr/>
        </p:nvSpPr>
        <p:spPr>
          <a:xfrm>
            <a:off x="462573" y="1107903"/>
            <a:ext cx="11198206" cy="423904"/>
          </a:xfrm>
          <a:prstGeom prst="rect">
            <a:avLst/>
          </a:prstGeom>
          <a:noFill/>
          <a:ln/>
        </p:spPr>
        <p:txBody>
          <a:bodyPr wrap="square" lIns="635" tIns="635" rIns="635" bIns="635" rtlCol="0" anchor="t">
            <a:normAutofit/>
          </a:bodyPr>
          <a:lstStyle/>
          <a:p>
            <a:r>
              <a:rPr lang="vi-VN" sz="1330" b="1">
                <a:solidFill>
                  <a:srgbClr val="1F2328"/>
                </a:solidFill>
                <a:latin typeface="Arial" pitchFamily="34" charset="0"/>
                <a:ea typeface="Arial" pitchFamily="34" charset="-122"/>
                <a:cs typeface="Arial" pitchFamily="34" charset="-120"/>
              </a:rPr>
              <a:t>Đây là phân hệ phức tạp nhất, chịu trách nhiệm đồng bộ xử lý logic tính toán tài chính, kiểm tra thời gian lưu giữ bưu kiện và kích hoạt phần cứng mở khóa thông minh. </a:t>
            </a:r>
            <a:endParaRPr lang="en-US" sz="1330" b="1" dirty="0"/>
          </a:p>
        </p:txBody>
      </p:sp>
      <p:sp>
        <p:nvSpPr>
          <p:cNvPr id="29" name="Text 10">
            <a:extLst>
              <a:ext uri="{FF2B5EF4-FFF2-40B4-BE49-F238E27FC236}">
                <a16:creationId xmlns:a16="http://schemas.microsoft.com/office/drawing/2014/main" id="{B1CD86FA-8A25-216B-6FB2-4118F0932531}"/>
              </a:ext>
            </a:extLst>
          </p:cNvPr>
          <p:cNvSpPr/>
          <p:nvPr/>
        </p:nvSpPr>
        <p:spPr>
          <a:xfrm>
            <a:off x="6808495" y="1596443"/>
            <a:ext cx="4852283" cy="1239285"/>
          </a:xfrm>
          <a:prstGeom prst="rect">
            <a:avLst/>
          </a:prstGeom>
          <a:solidFill>
            <a:srgbClr val="FFFFFF"/>
          </a:solidFill>
          <a:ln w="16510">
            <a:solidFill>
              <a:srgbClr val="B50915"/>
            </a:solidFill>
          </a:ln>
        </p:spPr>
        <p:txBody>
          <a:bodyPr wrap="square" lIns="508" tIns="508" rIns="508" bIns="508" rtlCol="0" anchor="ctr">
            <a:normAutofit fontScale="92500" lnSpcReduction="20000"/>
          </a:bodyPr>
          <a:lstStyle/>
          <a:p>
            <a:pPr marL="342900" lvl="0" indent="-342900">
              <a:lnSpc>
                <a:spcPct val="115000"/>
              </a:lnSpc>
              <a:buSzPts val="1000"/>
              <a:buFont typeface="Symbol" panose="05050102010706020507" pitchFamily="18" charset="2"/>
              <a:buChar char=""/>
              <a:tabLst>
                <a:tab pos="457200" algn="l"/>
              </a:tabLst>
            </a:pPr>
            <a:r>
              <a:rPr lang="vi-VN" sz="13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Lớp Giao diện (</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&lt;&lt;boundary&gt;&gt;</a:t>
            </a:r>
            <a:r>
              <a:rPr lang="vi-VN" sz="13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a:t>
            </a:r>
            <a:endParaRPr lang="vi-VN" sz="1200">
              <a:solidFill>
                <a:srgbClr val="000000"/>
              </a:solidFill>
              <a:effectLst/>
              <a:latin typeface="Arial" panose="020B0604020202020204" pitchFamily="34" charset="0"/>
              <a:ea typeface="Arial" panose="020B0604020202020204" pitchFamily="34" charset="0"/>
              <a:cs typeface="Arial" panose="020B0604020202020204" pitchFamily="34" charset="0"/>
            </a:endParaRPr>
          </a:p>
          <a:p>
            <a:pPr marL="742950" lvl="1" indent="-285750">
              <a:lnSpc>
                <a:spcPct val="115000"/>
              </a:lnSpc>
              <a:buSzPts val="1000"/>
              <a:buFont typeface="Courier New" panose="02070309020205020404" pitchFamily="49" charset="0"/>
              <a:buChar char="o"/>
              <a:tabLst>
                <a:tab pos="914400" algn="l"/>
              </a:tabLst>
            </a:pPr>
            <a:r>
              <a:rPr lang="vi-VN" sz="13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Form_NhanHang:</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Tiếp nhận tương tác nhập mã định danh. </a:t>
            </a:r>
            <a:r>
              <a:rPr lang="en-US"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Thuộc tính maOTP_QR_Input; </a:t>
            </a:r>
            <a:r>
              <a:rPr lang="en-US"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vi-VN" sz="120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p>
            <a:pPr marL="914400">
              <a:lnSpc>
                <a:spcPct val="115000"/>
              </a:lnSpc>
            </a:pP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Phương thức NhapMaXacThuc(), HienThiThongBao(). </a:t>
            </a:r>
            <a:endParaRPr lang="vi-VN" sz="1200">
              <a:effectLst/>
              <a:latin typeface="Arial" panose="020B0604020202020204" pitchFamily="34" charset="0"/>
              <a:ea typeface="Arial" panose="020B0604020202020204" pitchFamily="34" charset="0"/>
              <a:cs typeface="Arial" panose="020B0604020202020204" pitchFamily="34" charset="0"/>
            </a:endParaRPr>
          </a:p>
          <a:p>
            <a:pPr marL="742950" lvl="1" indent="-285750">
              <a:lnSpc>
                <a:spcPct val="115000"/>
              </a:lnSpc>
              <a:buSzPts val="1000"/>
              <a:buFont typeface="Courier New" panose="02070309020205020404" pitchFamily="49" charset="0"/>
              <a:buChar char="o"/>
              <a:tabLst>
                <a:tab pos="914400" algn="l"/>
              </a:tabLst>
            </a:pPr>
            <a:r>
              <a:rPr lang="vi-VN" sz="13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Form_ThanhToan:</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Hiển thị mã thanh toán kỹ thuật số. </a:t>
            </a:r>
            <a:r>
              <a:rPr lang="en-US"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Thuộc tính maQRThanhToan; </a:t>
            </a:r>
            <a:r>
              <a:rPr lang="en-US"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vi-VN" sz="120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p>
            <a:pPr marL="914400">
              <a:lnSpc>
                <a:spcPct val="115000"/>
              </a:lnSpc>
            </a:pP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Phương thức HienThiMaQR()</a:t>
            </a:r>
            <a:r>
              <a:rPr lang="en-US"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QuetMaThanhToan().</a:t>
            </a:r>
            <a:endParaRPr lang="vi-VN" sz="1200">
              <a:effectLst/>
              <a:latin typeface="Arial" panose="020B0604020202020204" pitchFamily="34" charset="0"/>
              <a:ea typeface="Arial" panose="020B0604020202020204" pitchFamily="34" charset="0"/>
              <a:cs typeface="Arial" panose="020B0604020202020204" pitchFamily="34" charset="0"/>
            </a:endParaRPr>
          </a:p>
        </p:txBody>
      </p:sp>
      <p:sp>
        <p:nvSpPr>
          <p:cNvPr id="30" name="Text 10">
            <a:extLst>
              <a:ext uri="{FF2B5EF4-FFF2-40B4-BE49-F238E27FC236}">
                <a16:creationId xmlns:a16="http://schemas.microsoft.com/office/drawing/2014/main" id="{CFCFB168-C787-5455-AAA1-4F4A1BB8ECF9}"/>
              </a:ext>
            </a:extLst>
          </p:cNvPr>
          <p:cNvSpPr/>
          <p:nvPr/>
        </p:nvSpPr>
        <p:spPr>
          <a:xfrm>
            <a:off x="6808495" y="2950942"/>
            <a:ext cx="4852282" cy="796358"/>
          </a:xfrm>
          <a:prstGeom prst="rect">
            <a:avLst/>
          </a:prstGeom>
          <a:solidFill>
            <a:srgbClr val="FFFFFF"/>
          </a:solidFill>
          <a:ln w="16510">
            <a:solidFill>
              <a:srgbClr val="B50915"/>
            </a:solidFill>
          </a:ln>
        </p:spPr>
        <p:txBody>
          <a:bodyPr wrap="square" lIns="508" tIns="508" rIns="508" bIns="508" rtlCol="0" anchor="ctr">
            <a:normAutofit fontScale="92500"/>
          </a:bodyPr>
          <a:lstStyle/>
          <a:p>
            <a:pPr marL="342900" lvl="0" indent="-342900">
              <a:lnSpc>
                <a:spcPct val="115000"/>
              </a:lnSpc>
              <a:buSzPts val="1000"/>
              <a:buFont typeface="Symbol" panose="05050102010706020507" pitchFamily="18" charset="2"/>
              <a:buChar char=""/>
              <a:tabLst>
                <a:tab pos="457200" algn="l"/>
              </a:tabLst>
            </a:pPr>
            <a:r>
              <a:rPr lang="vi-VN" sz="13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Lớp Điều khiển (</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&lt;&lt;control&gt;&gt;</a:t>
            </a:r>
            <a:r>
              <a:rPr lang="vi-VN" sz="13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Ctrl_NhanHangVaThanhToan</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vi-VN" sz="1200">
              <a:solidFill>
                <a:srgbClr val="000000"/>
              </a:solidFill>
              <a:effectLst/>
              <a:latin typeface="Arial" panose="020B0604020202020204" pitchFamily="34" charset="0"/>
              <a:ea typeface="Arial" panose="020B0604020202020204" pitchFamily="34" charset="0"/>
              <a:cs typeface="Arial" panose="020B0604020202020204" pitchFamily="34" charset="0"/>
            </a:endParaRPr>
          </a:p>
          <a:p>
            <a:pPr marL="742950" lvl="1" indent="-285750">
              <a:lnSpc>
                <a:spcPct val="115000"/>
              </a:lnSpc>
              <a:buSzPts val="1000"/>
              <a:buFont typeface="Courier New" panose="02070309020205020404" pitchFamily="49" charset="0"/>
              <a:buChar char="o"/>
              <a:tabLst>
                <a:tab pos="914400" algn="l"/>
              </a:tabLst>
            </a:pPr>
            <a:r>
              <a:rPr lang="vi-VN" sz="1300" i="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Phương thức xử lý:</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XacThucMaOTP(), TinhThoiGianLuuBai(), TinhTongTien(), XuLyThanhToanThanhCong(), MoChotTu(). </a:t>
            </a:r>
            <a:endParaRPr lang="vi-VN" sz="120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p:txBody>
      </p:sp>
      <p:sp>
        <p:nvSpPr>
          <p:cNvPr id="31" name="Text 10">
            <a:extLst>
              <a:ext uri="{FF2B5EF4-FFF2-40B4-BE49-F238E27FC236}">
                <a16:creationId xmlns:a16="http://schemas.microsoft.com/office/drawing/2014/main" id="{16C7D761-859C-0BF6-DB11-D92BE40F6EE1}"/>
              </a:ext>
            </a:extLst>
          </p:cNvPr>
          <p:cNvSpPr/>
          <p:nvPr/>
        </p:nvSpPr>
        <p:spPr>
          <a:xfrm>
            <a:off x="6808494" y="3875315"/>
            <a:ext cx="4852285" cy="2571206"/>
          </a:xfrm>
          <a:prstGeom prst="rect">
            <a:avLst/>
          </a:prstGeom>
          <a:solidFill>
            <a:srgbClr val="FFFFFF"/>
          </a:solidFill>
          <a:ln w="16510">
            <a:solidFill>
              <a:srgbClr val="B50915"/>
            </a:solidFill>
          </a:ln>
        </p:spPr>
        <p:txBody>
          <a:bodyPr wrap="square" lIns="508" tIns="508" rIns="508" bIns="508" rtlCol="0" anchor="ctr">
            <a:normAutofit fontScale="77500" lnSpcReduction="20000"/>
          </a:bodyPr>
          <a:lstStyle/>
          <a:p>
            <a:pPr marL="342900" lvl="0" indent="-342900">
              <a:lnSpc>
                <a:spcPct val="115000"/>
              </a:lnSpc>
              <a:buSzPts val="1000"/>
              <a:buFont typeface="Symbol" panose="05050102010706020507" pitchFamily="18" charset="2"/>
              <a:buChar char=""/>
              <a:tabLst>
                <a:tab pos="457200" algn="l"/>
              </a:tabLst>
            </a:pPr>
            <a:r>
              <a:rPr lang="vi-VN" sz="13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Lớp Thực thể (</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&lt;&lt;entity&gt;&gt;</a:t>
            </a:r>
            <a:r>
              <a:rPr lang="vi-VN" sz="13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a:t>
            </a:r>
            <a:endParaRPr lang="vi-VN" sz="1200">
              <a:solidFill>
                <a:srgbClr val="000000"/>
              </a:solidFill>
              <a:effectLst/>
              <a:latin typeface="Arial" panose="020B0604020202020204" pitchFamily="34" charset="0"/>
              <a:ea typeface="Arial" panose="020B0604020202020204" pitchFamily="34" charset="0"/>
              <a:cs typeface="Arial" panose="020B0604020202020204" pitchFamily="34" charset="0"/>
            </a:endParaRPr>
          </a:p>
          <a:p>
            <a:pPr marL="742950" lvl="1" indent="-285750">
              <a:lnSpc>
                <a:spcPct val="115000"/>
              </a:lnSpc>
              <a:buSzPts val="1000"/>
              <a:buFont typeface="Courier New" panose="02070309020205020404" pitchFamily="49" charset="0"/>
              <a:buChar char="o"/>
              <a:tabLst>
                <a:tab pos="914400" algn="l"/>
              </a:tabLst>
            </a:pPr>
            <a:r>
              <a:rPr lang="vi-VN" sz="13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LoaiNganTu:</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Tra cứu cấu hình giá. </a:t>
            </a:r>
            <a:r>
              <a:rPr lang="en-US"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lvl="1">
              <a:lnSpc>
                <a:spcPct val="115000"/>
              </a:lnSpc>
              <a:buSzPts val="1000"/>
              <a:tabLst>
                <a:tab pos="914400" algn="l"/>
              </a:tabLst>
            </a:pPr>
            <a:r>
              <a:rPr lang="vi-VN" sz="130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vi-VN" sz="13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Thuộc tính</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gồm maKichThuoc, phiDichVu, phiLuuBaiQuaHan; </a:t>
            </a:r>
            <a:r>
              <a:rPr lang="en-US"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3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Phương thức</a:t>
            </a:r>
            <a:r>
              <a:rPr lang="en-US" sz="13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LayDanhSachBieuPhi(), </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GetBieuPhi()</a:t>
            </a:r>
            <a:r>
              <a:rPr lang="en-US"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UpdateBieuPhi()</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vi-VN" sz="120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p>
            <a:pPr marL="742950" lvl="1" indent="-285750">
              <a:lnSpc>
                <a:spcPct val="115000"/>
              </a:lnSpc>
              <a:buSzPts val="1000"/>
              <a:buFont typeface="Courier New" panose="02070309020205020404" pitchFamily="49" charset="0"/>
              <a:buChar char="o"/>
              <a:tabLst>
                <a:tab pos="914400" algn="l"/>
              </a:tabLst>
            </a:pPr>
            <a:r>
              <a:rPr lang="vi-VN" sz="13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ThanhToan:</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Lưu vết lịch sử dòng tiền. </a:t>
            </a:r>
            <a:r>
              <a:rPr lang="en-US"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lvl="1">
              <a:lnSpc>
                <a:spcPct val="115000"/>
              </a:lnSpc>
              <a:buSzPts val="1000"/>
              <a:tabLst>
                <a:tab pos="914400" algn="l"/>
              </a:tabLst>
            </a:pPr>
            <a:r>
              <a:rPr lang="vi-VN" sz="130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vi-VN" sz="13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Thuộc tính </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gồm maTT, maGD, soTien, phuongThucTT, trangThaiTT, thoiGianTT; </a:t>
            </a:r>
            <a:r>
              <a:rPr lang="en-US"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vi-VN" sz="120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p>
            <a:pPr marL="914400">
              <a:lnSpc>
                <a:spcPct val="115000"/>
              </a:lnSpc>
            </a:pPr>
            <a:r>
              <a:rPr lang="vi-VN" sz="13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Phương thức</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LuuLichSuThanhToan(). </a:t>
            </a:r>
            <a:endParaRPr lang="vi-VN" sz="1200">
              <a:effectLst/>
              <a:latin typeface="Arial" panose="020B0604020202020204" pitchFamily="34" charset="0"/>
              <a:ea typeface="Arial" panose="020B0604020202020204" pitchFamily="34" charset="0"/>
              <a:cs typeface="Arial" panose="020B0604020202020204" pitchFamily="34" charset="0"/>
            </a:endParaRPr>
          </a:p>
          <a:p>
            <a:pPr marL="742950" lvl="1" indent="-285750">
              <a:lnSpc>
                <a:spcPct val="115000"/>
              </a:lnSpc>
              <a:buSzPts val="1000"/>
              <a:buFont typeface="Courier New" panose="02070309020205020404" pitchFamily="49" charset="0"/>
              <a:buChar char="o"/>
              <a:tabLst>
                <a:tab pos="914400" algn="l"/>
              </a:tabLst>
            </a:pPr>
            <a:r>
              <a:rPr lang="vi-VN" sz="13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GiaoDich:</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Bổ sung các thuộc tính kiểm soát thời gian nâng cao phục vụ tính phí phạt</a:t>
            </a:r>
            <a:r>
              <a:rPr lang="en-US"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vi-VN" sz="120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p>
            <a:pPr marL="914400">
              <a:lnSpc>
                <a:spcPct val="115000"/>
              </a:lnSpc>
            </a:pPr>
            <a:r>
              <a:rPr lang="vi-VN" sz="13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Thuộc tính:</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maGD, maKH, maNT, loaiGD, sdtNguoiNhan, maOTP_QR, hanSuDungOTP, thoiGianGui, thoiGianNhan, tienCOD, tongTienThanhToan, trangThaiGD;                                   </a:t>
            </a:r>
            <a:endParaRPr lang="vi-VN" sz="1200">
              <a:effectLst/>
              <a:latin typeface="Arial" panose="020B0604020202020204" pitchFamily="34" charset="0"/>
              <a:ea typeface="Arial" panose="020B0604020202020204" pitchFamily="34" charset="0"/>
              <a:cs typeface="Arial" panose="020B0604020202020204" pitchFamily="34" charset="0"/>
            </a:endParaRPr>
          </a:p>
          <a:p>
            <a:pPr marL="914400">
              <a:lnSpc>
                <a:spcPct val="115000"/>
              </a:lnSpc>
            </a:pPr>
            <a:r>
              <a:rPr lang="vi-VN" sz="13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Phương thức: </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ThemGiaoDich(), TimGiaoDichTheoMaOTP(), CapNhatMaOTP(), CapNhatGiaoDich(). </a:t>
            </a:r>
            <a:endParaRPr lang="vi-VN" sz="1200">
              <a:effectLst/>
              <a:latin typeface="Arial" panose="020B0604020202020204" pitchFamily="34" charset="0"/>
              <a:ea typeface="Arial" panose="020B0604020202020204" pitchFamily="34" charset="0"/>
              <a:cs typeface="Arial" panose="020B0604020202020204" pitchFamily="34" charset="0"/>
            </a:endParaRPr>
          </a:p>
          <a:p>
            <a:pPr marL="742950" lvl="1" indent="-285750">
              <a:lnSpc>
                <a:spcPct val="115000"/>
              </a:lnSpc>
              <a:buSzPts val="1000"/>
              <a:buFont typeface="Courier New" panose="02070309020205020404" pitchFamily="49" charset="0"/>
              <a:buChar char="o"/>
              <a:tabLst>
                <a:tab pos="914400" algn="l"/>
              </a:tabLst>
            </a:pPr>
            <a:r>
              <a:rPr lang="vi-VN" sz="13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NganTu:</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Tái sử dụng để cập nhật lại trạng thái về "Trống" sau khi hoàn tất chu trình nhận hàng. </a:t>
            </a:r>
            <a:endParaRPr lang="vi-VN" sz="120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p:txBody>
      </p:sp>
      <p:pic>
        <p:nvPicPr>
          <p:cNvPr id="11" name="Hình ảnh 10" descr="Ảnh có chứa văn bản, biểu đồ, ảnh chụp màn hình, hàng">
            <a:extLst>
              <a:ext uri="{FF2B5EF4-FFF2-40B4-BE49-F238E27FC236}">
                <a16:creationId xmlns:a16="http://schemas.microsoft.com/office/drawing/2014/main" id="{CFB968CD-910F-2EC7-29A0-4E9AFD236995}"/>
              </a:ext>
            </a:extLst>
          </p:cNvPr>
          <p:cNvPicPr>
            <a:picLocks noChangeAspect="1"/>
          </p:cNvPicPr>
          <p:nvPr/>
        </p:nvPicPr>
        <p:blipFill>
          <a:blip r:embed="rId3"/>
          <a:stretch>
            <a:fillRect/>
          </a:stretch>
        </p:blipFill>
        <p:spPr>
          <a:xfrm>
            <a:off x="1161358" y="1595814"/>
            <a:ext cx="5206785" cy="4814713"/>
          </a:xfrm>
          <a:prstGeom prst="rect">
            <a:avLst/>
          </a:prstGeom>
        </p:spPr>
      </p:pic>
    </p:spTree>
    <p:extLst>
      <p:ext uri="{BB962C8B-B14F-4D97-AF65-F5344CB8AC3E}">
        <p14:creationId xmlns:p14="http://schemas.microsoft.com/office/powerpoint/2010/main" val="5281363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a:extLst>
            <a:ext uri="{FF2B5EF4-FFF2-40B4-BE49-F238E27FC236}">
              <a16:creationId xmlns:a16="http://schemas.microsoft.com/office/drawing/2014/main" id="{9747FA0D-DDB1-3C32-508E-0F8327FE567D}"/>
            </a:ext>
          </a:extLst>
        </p:cNvPr>
        <p:cNvGrpSpPr/>
        <p:nvPr/>
      </p:nvGrpSpPr>
      <p:grpSpPr>
        <a:xfrm>
          <a:off x="0" y="0"/>
          <a:ext cx="0" cy="0"/>
          <a:chOff x="0" y="0"/>
          <a:chExt cx="0" cy="0"/>
        </a:xfrm>
      </p:grpSpPr>
      <p:sp>
        <p:nvSpPr>
          <p:cNvPr id="28" name="Text 10">
            <a:extLst>
              <a:ext uri="{FF2B5EF4-FFF2-40B4-BE49-F238E27FC236}">
                <a16:creationId xmlns:a16="http://schemas.microsoft.com/office/drawing/2014/main" id="{E26F3555-4154-0907-B388-36177A331DCE}"/>
              </a:ext>
            </a:extLst>
          </p:cNvPr>
          <p:cNvSpPr/>
          <p:nvPr/>
        </p:nvSpPr>
        <p:spPr>
          <a:xfrm>
            <a:off x="1475639" y="4987303"/>
            <a:ext cx="3167118" cy="695039"/>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NganTu</a:t>
            </a:r>
            <a:endParaRPr lang="en-US" sz="1050" dirty="0"/>
          </a:p>
        </p:txBody>
      </p:sp>
      <p:sp>
        <p:nvSpPr>
          <p:cNvPr id="2" name="Shape 0">
            <a:extLst>
              <a:ext uri="{FF2B5EF4-FFF2-40B4-BE49-F238E27FC236}">
                <a16:creationId xmlns:a16="http://schemas.microsoft.com/office/drawing/2014/main" id="{C6E4C8AD-49CA-E1F5-BFD9-22031D1E882D}"/>
              </a:ext>
            </a:extLst>
          </p:cNvPr>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a:extLst>
              <a:ext uri="{FF2B5EF4-FFF2-40B4-BE49-F238E27FC236}">
                <a16:creationId xmlns:a16="http://schemas.microsoft.com/office/drawing/2014/main" id="{5DE65C26-79E7-D9C0-CBFF-218DD9F84F58}"/>
              </a:ext>
            </a:extLst>
          </p:cNvPr>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a:extLst>
              <a:ext uri="{FF2B5EF4-FFF2-40B4-BE49-F238E27FC236}">
                <a16:creationId xmlns:a16="http://schemas.microsoft.com/office/drawing/2014/main" id="{F3B73473-2928-2A2A-CFF8-0EF3116AC8CD}"/>
              </a:ext>
            </a:extLst>
          </p:cNvPr>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a:extLst>
              <a:ext uri="{FF2B5EF4-FFF2-40B4-BE49-F238E27FC236}">
                <a16:creationId xmlns:a16="http://schemas.microsoft.com/office/drawing/2014/main" id="{4EA30487-3F6F-114E-6365-D78433AE449F}"/>
              </a:ext>
            </a:extLst>
          </p:cNvPr>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a:extLst>
              <a:ext uri="{FF2B5EF4-FFF2-40B4-BE49-F238E27FC236}">
                <a16:creationId xmlns:a16="http://schemas.microsoft.com/office/drawing/2014/main" id="{7EF18C78-32A1-CC17-3DCC-225A2924D293}"/>
              </a:ext>
            </a:extLst>
          </p:cNvPr>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a:t>
            </a:r>
            <a:endParaRPr lang="en-US" sz="750" dirty="0"/>
          </a:p>
        </p:txBody>
      </p:sp>
      <p:sp>
        <p:nvSpPr>
          <p:cNvPr id="8" name="Text 6">
            <a:extLst>
              <a:ext uri="{FF2B5EF4-FFF2-40B4-BE49-F238E27FC236}">
                <a16:creationId xmlns:a16="http://schemas.microsoft.com/office/drawing/2014/main" id="{AA9ACD95-258D-333F-5112-463323F6C8C7}"/>
              </a:ext>
            </a:extLst>
          </p:cNvPr>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a:solidFill>
                  <a:srgbClr val="1F2328"/>
                </a:solidFill>
                <a:latin typeface="Arial" pitchFamily="34" charset="0"/>
                <a:ea typeface="Arial" pitchFamily="34" charset="-122"/>
                <a:cs typeface="Arial" pitchFamily="34" charset="-120"/>
              </a:rPr>
              <a:t>Biểu đồ Lớp cho Use Case Thuê tủ cá nhân</a:t>
            </a:r>
            <a:endParaRPr lang="en-US" sz="2400" dirty="0"/>
          </a:p>
        </p:txBody>
      </p:sp>
      <p:sp>
        <p:nvSpPr>
          <p:cNvPr id="9" name="Shape 7">
            <a:extLst>
              <a:ext uri="{FF2B5EF4-FFF2-40B4-BE49-F238E27FC236}">
                <a16:creationId xmlns:a16="http://schemas.microsoft.com/office/drawing/2014/main" id="{F3121B3C-037E-3348-9077-A4CF5D0A5A75}"/>
              </a:ext>
            </a:extLst>
          </p:cNvPr>
          <p:cNvSpPr/>
          <p:nvPr/>
        </p:nvSpPr>
        <p:spPr>
          <a:xfrm>
            <a:off x="502920" y="1040671"/>
            <a:ext cx="1188720" cy="0"/>
          </a:xfrm>
          <a:prstGeom prst="line">
            <a:avLst/>
          </a:prstGeom>
          <a:noFill/>
          <a:ln w="27940">
            <a:solidFill>
              <a:srgbClr val="B50915"/>
            </a:solidFill>
            <a:prstDash val="solid"/>
          </a:ln>
        </p:spPr>
        <p:txBody>
          <a:bodyPr/>
          <a:lstStyle/>
          <a:p>
            <a:endParaRPr lang="vi-VN"/>
          </a:p>
        </p:txBody>
      </p:sp>
      <p:sp>
        <p:nvSpPr>
          <p:cNvPr id="21" name="Shape 18">
            <a:extLst>
              <a:ext uri="{FF2B5EF4-FFF2-40B4-BE49-F238E27FC236}">
                <a16:creationId xmlns:a16="http://schemas.microsoft.com/office/drawing/2014/main" id="{5AF40C38-043A-5520-B4BC-E8089E9BA294}"/>
              </a:ext>
            </a:extLst>
          </p:cNvPr>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22" name="Text 19">
            <a:extLst>
              <a:ext uri="{FF2B5EF4-FFF2-40B4-BE49-F238E27FC236}">
                <a16:creationId xmlns:a16="http://schemas.microsoft.com/office/drawing/2014/main" id="{440CE073-5B70-4B9A-FC92-A9DB0F397801}"/>
              </a:ext>
            </a:extLst>
          </p:cNvPr>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23" name="Text 20">
            <a:extLst>
              <a:ext uri="{FF2B5EF4-FFF2-40B4-BE49-F238E27FC236}">
                <a16:creationId xmlns:a16="http://schemas.microsoft.com/office/drawing/2014/main" id="{706237FD-0D95-460D-695F-D65DA2077457}"/>
              </a:ext>
            </a:extLst>
          </p:cNvPr>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16</a:t>
            </a:r>
            <a:endParaRPr lang="en-US" sz="1000" dirty="0"/>
          </a:p>
        </p:txBody>
      </p:sp>
      <p:sp>
        <p:nvSpPr>
          <p:cNvPr id="24" name="Text 5">
            <a:extLst>
              <a:ext uri="{FF2B5EF4-FFF2-40B4-BE49-F238E27FC236}">
                <a16:creationId xmlns:a16="http://schemas.microsoft.com/office/drawing/2014/main" id="{730B40BD-4849-9965-83E3-BA215980491A}"/>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 PHÂN TÍCH HỆ THỐNG</a:t>
            </a:r>
          </a:p>
          <a:p>
            <a:pPr marL="0" indent="0">
              <a:buNone/>
            </a:pPr>
            <a:r>
              <a:rPr lang="en-US" sz="1200" b="1">
                <a:solidFill>
                  <a:srgbClr val="B50915"/>
                </a:solidFill>
                <a:latin typeface="Arial" pitchFamily="34" charset="0"/>
                <a:cs typeface="Arial" pitchFamily="34" charset="-120"/>
              </a:rPr>
              <a:t>2.2 Phân tích cấu trúc (Mô hình hóa Lớp)</a:t>
            </a:r>
            <a:endParaRPr lang="en-US" sz="1200" dirty="0"/>
          </a:p>
        </p:txBody>
      </p:sp>
      <p:sp>
        <p:nvSpPr>
          <p:cNvPr id="7" name="Text 9">
            <a:extLst>
              <a:ext uri="{FF2B5EF4-FFF2-40B4-BE49-F238E27FC236}">
                <a16:creationId xmlns:a16="http://schemas.microsoft.com/office/drawing/2014/main" id="{B7FF2F88-1534-1688-9603-402B71C7D9E4}"/>
              </a:ext>
            </a:extLst>
          </p:cNvPr>
          <p:cNvSpPr/>
          <p:nvPr/>
        </p:nvSpPr>
        <p:spPr>
          <a:xfrm>
            <a:off x="462573" y="1148671"/>
            <a:ext cx="11507794" cy="319186"/>
          </a:xfrm>
          <a:prstGeom prst="rect">
            <a:avLst/>
          </a:prstGeom>
          <a:noFill/>
          <a:ln/>
        </p:spPr>
        <p:txBody>
          <a:bodyPr wrap="square" lIns="635" tIns="635" rIns="635" bIns="635" rtlCol="0" anchor="t">
            <a:normAutofit fontScale="92500"/>
          </a:bodyPr>
          <a:lstStyle/>
          <a:p>
            <a:r>
              <a:rPr lang="vi-VN" sz="1330" b="1">
                <a:solidFill>
                  <a:srgbClr val="1F2328"/>
                </a:solidFill>
                <a:latin typeface="Arial" pitchFamily="34" charset="0"/>
                <a:ea typeface="Arial" pitchFamily="34" charset="-122"/>
                <a:cs typeface="Arial" pitchFamily="34" charset="-120"/>
              </a:rPr>
              <a:t>Mô tả kiến trúc cấu trúc dữ liệu phục vụ tiến trình Cư dân chủ động thuê ngăn tủ trống, thanh toán phí dịch vụ và nhận cấp phát không gian lưu trữ cá nhân</a:t>
            </a:r>
            <a:endParaRPr lang="en-US" sz="1330" b="1" dirty="0"/>
          </a:p>
        </p:txBody>
      </p:sp>
      <p:sp>
        <p:nvSpPr>
          <p:cNvPr id="29" name="Text 10">
            <a:extLst>
              <a:ext uri="{FF2B5EF4-FFF2-40B4-BE49-F238E27FC236}">
                <a16:creationId xmlns:a16="http://schemas.microsoft.com/office/drawing/2014/main" id="{14192EE1-75DA-FF36-A6AC-FBA79423EF60}"/>
              </a:ext>
            </a:extLst>
          </p:cNvPr>
          <p:cNvSpPr/>
          <p:nvPr/>
        </p:nvSpPr>
        <p:spPr>
          <a:xfrm>
            <a:off x="6538332" y="1596443"/>
            <a:ext cx="5122446" cy="1239285"/>
          </a:xfrm>
          <a:prstGeom prst="rect">
            <a:avLst/>
          </a:prstGeom>
          <a:solidFill>
            <a:srgbClr val="FFFFFF"/>
          </a:solidFill>
          <a:ln w="16510">
            <a:solidFill>
              <a:srgbClr val="B50915"/>
            </a:solidFill>
          </a:ln>
        </p:spPr>
        <p:txBody>
          <a:bodyPr wrap="square" lIns="508" tIns="508" rIns="508" bIns="508" rtlCol="0" anchor="ctr">
            <a:normAutofit/>
          </a:bodyPr>
          <a:lstStyle/>
          <a:p>
            <a:pPr marL="342900" lvl="0" indent="-342900">
              <a:lnSpc>
                <a:spcPct val="115000"/>
              </a:lnSpc>
              <a:buSzPts val="1000"/>
              <a:buFont typeface="Symbol" panose="05050102010706020507" pitchFamily="18" charset="2"/>
              <a:buChar char=""/>
              <a:tabLst>
                <a:tab pos="457200" algn="l"/>
              </a:tabLst>
            </a:pPr>
            <a:endParaRPr lang="vi-VN" sz="1200">
              <a:effectLst/>
              <a:latin typeface="Arial" panose="020B0604020202020204" pitchFamily="34" charset="0"/>
              <a:ea typeface="Arial" panose="020B0604020202020204" pitchFamily="34" charset="0"/>
              <a:cs typeface="Arial" panose="020B0604020202020204" pitchFamily="34" charset="0"/>
            </a:endParaRPr>
          </a:p>
        </p:txBody>
      </p:sp>
      <p:sp>
        <p:nvSpPr>
          <p:cNvPr id="30" name="Text 10">
            <a:extLst>
              <a:ext uri="{FF2B5EF4-FFF2-40B4-BE49-F238E27FC236}">
                <a16:creationId xmlns:a16="http://schemas.microsoft.com/office/drawing/2014/main" id="{8EF533DA-B862-DD9A-FA53-5A55698E53E3}"/>
              </a:ext>
            </a:extLst>
          </p:cNvPr>
          <p:cNvSpPr/>
          <p:nvPr/>
        </p:nvSpPr>
        <p:spPr>
          <a:xfrm>
            <a:off x="6538331" y="2950942"/>
            <a:ext cx="5122445" cy="796358"/>
          </a:xfrm>
          <a:prstGeom prst="rect">
            <a:avLst/>
          </a:prstGeom>
          <a:solidFill>
            <a:srgbClr val="FFFFFF"/>
          </a:solidFill>
          <a:ln w="16510">
            <a:solidFill>
              <a:srgbClr val="B50915"/>
            </a:solidFill>
          </a:ln>
        </p:spPr>
        <p:txBody>
          <a:bodyPr wrap="square" lIns="508" tIns="508" rIns="508" bIns="508" rtlCol="0" anchor="ctr">
            <a:normAutofit/>
          </a:bodyPr>
          <a:lstStyle/>
          <a:p>
            <a:pPr marL="342900" lvl="0" indent="-342900">
              <a:lnSpc>
                <a:spcPct val="115000"/>
              </a:lnSpc>
              <a:buSzPts val="1000"/>
              <a:buFont typeface="Symbol" panose="05050102010706020507" pitchFamily="18" charset="2"/>
              <a:buChar char=""/>
              <a:tabLst>
                <a:tab pos="457200" algn="l"/>
              </a:tabLst>
            </a:pPr>
            <a:endParaRPr lang="vi-VN" sz="120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p:txBody>
      </p:sp>
      <p:sp>
        <p:nvSpPr>
          <p:cNvPr id="31" name="Text 10">
            <a:extLst>
              <a:ext uri="{FF2B5EF4-FFF2-40B4-BE49-F238E27FC236}">
                <a16:creationId xmlns:a16="http://schemas.microsoft.com/office/drawing/2014/main" id="{B1489A2E-66AD-1969-0B81-10F696196E8A}"/>
              </a:ext>
            </a:extLst>
          </p:cNvPr>
          <p:cNvSpPr/>
          <p:nvPr/>
        </p:nvSpPr>
        <p:spPr>
          <a:xfrm>
            <a:off x="6538331" y="3875315"/>
            <a:ext cx="5122448" cy="2571206"/>
          </a:xfrm>
          <a:prstGeom prst="rect">
            <a:avLst/>
          </a:prstGeom>
          <a:solidFill>
            <a:srgbClr val="FFFFFF"/>
          </a:solidFill>
          <a:ln w="16510">
            <a:solidFill>
              <a:srgbClr val="B50915"/>
            </a:solidFill>
          </a:ln>
        </p:spPr>
        <p:txBody>
          <a:bodyPr wrap="square" lIns="508" tIns="508" rIns="508" bIns="508" rtlCol="0" anchor="ctr">
            <a:normAutofit/>
          </a:bodyPr>
          <a:lstStyle/>
          <a:p>
            <a:pPr marL="342900" lvl="0" indent="-342900">
              <a:lnSpc>
                <a:spcPct val="115000"/>
              </a:lnSpc>
              <a:buSzPts val="1000"/>
              <a:buFont typeface="Symbol" panose="05050102010706020507" pitchFamily="18" charset="2"/>
              <a:buChar char=""/>
              <a:tabLst>
                <a:tab pos="457200" algn="l"/>
              </a:tabLst>
            </a:pPr>
            <a:endParaRPr lang="vi-VN" sz="120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p:txBody>
      </p:sp>
      <p:pic>
        <p:nvPicPr>
          <p:cNvPr id="10" name="Hình ảnh 9" descr="Ảnh có chứa văn bản, biểu đồ, ảnh chụp màn hình, hàng">
            <a:extLst>
              <a:ext uri="{FF2B5EF4-FFF2-40B4-BE49-F238E27FC236}">
                <a16:creationId xmlns:a16="http://schemas.microsoft.com/office/drawing/2014/main" id="{CB109A8A-664E-992A-77B0-616B285089C7}"/>
              </a:ext>
            </a:extLst>
          </p:cNvPr>
          <p:cNvPicPr>
            <a:picLocks noChangeAspect="1"/>
          </p:cNvPicPr>
          <p:nvPr/>
        </p:nvPicPr>
        <p:blipFill>
          <a:blip r:embed="rId3"/>
          <a:stretch>
            <a:fillRect/>
          </a:stretch>
        </p:blipFill>
        <p:spPr>
          <a:xfrm>
            <a:off x="1574549" y="1411389"/>
            <a:ext cx="4079122" cy="5003128"/>
          </a:xfrm>
          <a:prstGeom prst="rect">
            <a:avLst/>
          </a:prstGeom>
        </p:spPr>
      </p:pic>
      <p:pic>
        <p:nvPicPr>
          <p:cNvPr id="12" name="Hình ảnh 11">
            <a:extLst>
              <a:ext uri="{FF2B5EF4-FFF2-40B4-BE49-F238E27FC236}">
                <a16:creationId xmlns:a16="http://schemas.microsoft.com/office/drawing/2014/main" id="{958BF1D3-95D3-C737-AB9D-D5C25F4752DF}"/>
              </a:ext>
            </a:extLst>
          </p:cNvPr>
          <p:cNvPicPr>
            <a:picLocks noChangeAspect="1"/>
          </p:cNvPicPr>
          <p:nvPr/>
        </p:nvPicPr>
        <p:blipFill>
          <a:blip r:embed="rId4"/>
          <a:stretch>
            <a:fillRect/>
          </a:stretch>
        </p:blipFill>
        <p:spPr>
          <a:xfrm>
            <a:off x="6360771" y="1603626"/>
            <a:ext cx="5122445" cy="1343792"/>
          </a:xfrm>
          <a:prstGeom prst="rect">
            <a:avLst/>
          </a:prstGeom>
        </p:spPr>
      </p:pic>
      <p:pic>
        <p:nvPicPr>
          <p:cNvPr id="13" name="Hình ảnh 12">
            <a:extLst>
              <a:ext uri="{FF2B5EF4-FFF2-40B4-BE49-F238E27FC236}">
                <a16:creationId xmlns:a16="http://schemas.microsoft.com/office/drawing/2014/main" id="{C17A57DC-7E10-BF37-B4ED-895BE8F07D2D}"/>
              </a:ext>
            </a:extLst>
          </p:cNvPr>
          <p:cNvPicPr>
            <a:picLocks noChangeAspect="1"/>
          </p:cNvPicPr>
          <p:nvPr/>
        </p:nvPicPr>
        <p:blipFill>
          <a:blip r:embed="rId5"/>
          <a:stretch>
            <a:fillRect/>
          </a:stretch>
        </p:blipFill>
        <p:spPr>
          <a:xfrm>
            <a:off x="6370125" y="2968935"/>
            <a:ext cx="4660919" cy="914876"/>
          </a:xfrm>
          <a:prstGeom prst="rect">
            <a:avLst/>
          </a:prstGeom>
        </p:spPr>
      </p:pic>
      <p:pic>
        <p:nvPicPr>
          <p:cNvPr id="14" name="Hình ảnh 13">
            <a:extLst>
              <a:ext uri="{FF2B5EF4-FFF2-40B4-BE49-F238E27FC236}">
                <a16:creationId xmlns:a16="http://schemas.microsoft.com/office/drawing/2014/main" id="{E5C3B822-215C-2E15-2C59-0E6235C8D1C2}"/>
              </a:ext>
            </a:extLst>
          </p:cNvPr>
          <p:cNvPicPr>
            <a:picLocks noChangeAspect="1"/>
          </p:cNvPicPr>
          <p:nvPr/>
        </p:nvPicPr>
        <p:blipFill>
          <a:blip r:embed="rId6"/>
          <a:stretch>
            <a:fillRect/>
          </a:stretch>
        </p:blipFill>
        <p:spPr>
          <a:xfrm>
            <a:off x="6393402" y="3909696"/>
            <a:ext cx="4224119" cy="2643156"/>
          </a:xfrm>
          <a:prstGeom prst="rect">
            <a:avLst/>
          </a:prstGeom>
        </p:spPr>
      </p:pic>
    </p:spTree>
    <p:extLst>
      <p:ext uri="{BB962C8B-B14F-4D97-AF65-F5344CB8AC3E}">
        <p14:creationId xmlns:p14="http://schemas.microsoft.com/office/powerpoint/2010/main" val="21809283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a:extLst>
            <a:ext uri="{FF2B5EF4-FFF2-40B4-BE49-F238E27FC236}">
              <a16:creationId xmlns:a16="http://schemas.microsoft.com/office/drawing/2014/main" id="{B7097D1F-DEA6-D66A-480D-E1A04F56107A}"/>
            </a:ext>
          </a:extLst>
        </p:cNvPr>
        <p:cNvGrpSpPr/>
        <p:nvPr/>
      </p:nvGrpSpPr>
      <p:grpSpPr>
        <a:xfrm>
          <a:off x="0" y="0"/>
          <a:ext cx="0" cy="0"/>
          <a:chOff x="0" y="0"/>
          <a:chExt cx="0" cy="0"/>
        </a:xfrm>
      </p:grpSpPr>
      <p:sp>
        <p:nvSpPr>
          <p:cNvPr id="28" name="Text 10">
            <a:extLst>
              <a:ext uri="{FF2B5EF4-FFF2-40B4-BE49-F238E27FC236}">
                <a16:creationId xmlns:a16="http://schemas.microsoft.com/office/drawing/2014/main" id="{2B419A69-30B4-4EE7-3A21-40ADCB6DDA67}"/>
              </a:ext>
            </a:extLst>
          </p:cNvPr>
          <p:cNvSpPr/>
          <p:nvPr/>
        </p:nvSpPr>
        <p:spPr>
          <a:xfrm>
            <a:off x="1475639" y="4987303"/>
            <a:ext cx="3167118" cy="695039"/>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NganTu</a:t>
            </a:r>
            <a:endParaRPr lang="en-US" sz="1050" dirty="0"/>
          </a:p>
        </p:txBody>
      </p:sp>
      <p:sp>
        <p:nvSpPr>
          <p:cNvPr id="2" name="Shape 0">
            <a:extLst>
              <a:ext uri="{FF2B5EF4-FFF2-40B4-BE49-F238E27FC236}">
                <a16:creationId xmlns:a16="http://schemas.microsoft.com/office/drawing/2014/main" id="{9D78D3F2-1727-431F-DDBB-28EC90D4953F}"/>
              </a:ext>
            </a:extLst>
          </p:cNvPr>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a:extLst>
              <a:ext uri="{FF2B5EF4-FFF2-40B4-BE49-F238E27FC236}">
                <a16:creationId xmlns:a16="http://schemas.microsoft.com/office/drawing/2014/main" id="{DE3BC322-18A9-5432-1048-6596A6D3CDDA}"/>
              </a:ext>
            </a:extLst>
          </p:cNvPr>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a:extLst>
              <a:ext uri="{FF2B5EF4-FFF2-40B4-BE49-F238E27FC236}">
                <a16:creationId xmlns:a16="http://schemas.microsoft.com/office/drawing/2014/main" id="{FD614204-5D8F-4556-D48B-6686190AB5B9}"/>
              </a:ext>
            </a:extLst>
          </p:cNvPr>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a:extLst>
              <a:ext uri="{FF2B5EF4-FFF2-40B4-BE49-F238E27FC236}">
                <a16:creationId xmlns:a16="http://schemas.microsoft.com/office/drawing/2014/main" id="{54973ADF-8CDF-EB73-B13C-93D83FD3CEC4}"/>
              </a:ext>
            </a:extLst>
          </p:cNvPr>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a:extLst>
              <a:ext uri="{FF2B5EF4-FFF2-40B4-BE49-F238E27FC236}">
                <a16:creationId xmlns:a16="http://schemas.microsoft.com/office/drawing/2014/main" id="{99B33172-9299-4D8E-042D-C4C516FC1227}"/>
              </a:ext>
            </a:extLst>
          </p:cNvPr>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a:t>
            </a:r>
            <a:endParaRPr lang="en-US" sz="750" dirty="0"/>
          </a:p>
        </p:txBody>
      </p:sp>
      <p:sp>
        <p:nvSpPr>
          <p:cNvPr id="8" name="Text 6">
            <a:extLst>
              <a:ext uri="{FF2B5EF4-FFF2-40B4-BE49-F238E27FC236}">
                <a16:creationId xmlns:a16="http://schemas.microsoft.com/office/drawing/2014/main" id="{91C0A68D-4983-04F5-EA2D-EEDCD39DE858}"/>
              </a:ext>
            </a:extLst>
          </p:cNvPr>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a:solidFill>
                  <a:srgbClr val="1F2328"/>
                </a:solidFill>
                <a:latin typeface="Arial" pitchFamily="34" charset="0"/>
                <a:ea typeface="Arial" pitchFamily="34" charset="-122"/>
                <a:cs typeface="Arial" pitchFamily="34" charset="-120"/>
              </a:rPr>
              <a:t>Biểu đồ Lớp cho Use Case Quản lý Trạm tủ &amp; Biểu phí</a:t>
            </a:r>
            <a:endParaRPr lang="en-US" sz="2400" dirty="0"/>
          </a:p>
        </p:txBody>
      </p:sp>
      <p:sp>
        <p:nvSpPr>
          <p:cNvPr id="9" name="Shape 7">
            <a:extLst>
              <a:ext uri="{FF2B5EF4-FFF2-40B4-BE49-F238E27FC236}">
                <a16:creationId xmlns:a16="http://schemas.microsoft.com/office/drawing/2014/main" id="{2F888994-C7B5-D2B6-45C6-0F68EE026F93}"/>
              </a:ext>
            </a:extLst>
          </p:cNvPr>
          <p:cNvSpPr/>
          <p:nvPr/>
        </p:nvSpPr>
        <p:spPr>
          <a:xfrm>
            <a:off x="502920" y="1011552"/>
            <a:ext cx="1188720" cy="0"/>
          </a:xfrm>
          <a:prstGeom prst="line">
            <a:avLst/>
          </a:prstGeom>
          <a:noFill/>
          <a:ln w="27940">
            <a:solidFill>
              <a:srgbClr val="B50915"/>
            </a:solidFill>
            <a:prstDash val="solid"/>
          </a:ln>
        </p:spPr>
        <p:txBody>
          <a:bodyPr/>
          <a:lstStyle/>
          <a:p>
            <a:endParaRPr lang="vi-VN"/>
          </a:p>
        </p:txBody>
      </p:sp>
      <p:sp>
        <p:nvSpPr>
          <p:cNvPr id="21" name="Shape 18">
            <a:extLst>
              <a:ext uri="{FF2B5EF4-FFF2-40B4-BE49-F238E27FC236}">
                <a16:creationId xmlns:a16="http://schemas.microsoft.com/office/drawing/2014/main" id="{64A4FCF7-8358-1384-00CE-C823A858B15C}"/>
              </a:ext>
            </a:extLst>
          </p:cNvPr>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22" name="Text 19">
            <a:extLst>
              <a:ext uri="{FF2B5EF4-FFF2-40B4-BE49-F238E27FC236}">
                <a16:creationId xmlns:a16="http://schemas.microsoft.com/office/drawing/2014/main" id="{3A3CD85B-F037-2F07-AEA1-F7CF059B7988}"/>
              </a:ext>
            </a:extLst>
          </p:cNvPr>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23" name="Text 20">
            <a:extLst>
              <a:ext uri="{FF2B5EF4-FFF2-40B4-BE49-F238E27FC236}">
                <a16:creationId xmlns:a16="http://schemas.microsoft.com/office/drawing/2014/main" id="{3A6BE24E-83AE-F86C-BA44-D2D27BFE7F2E}"/>
              </a:ext>
            </a:extLst>
          </p:cNvPr>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16</a:t>
            </a:r>
            <a:endParaRPr lang="en-US" sz="1000" dirty="0"/>
          </a:p>
        </p:txBody>
      </p:sp>
      <p:sp>
        <p:nvSpPr>
          <p:cNvPr id="24" name="Text 5">
            <a:extLst>
              <a:ext uri="{FF2B5EF4-FFF2-40B4-BE49-F238E27FC236}">
                <a16:creationId xmlns:a16="http://schemas.microsoft.com/office/drawing/2014/main" id="{46AD7BC9-C5A0-AA48-5207-46799B40459F}"/>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 PHÂN TÍCH HỆ THỐNG</a:t>
            </a:r>
          </a:p>
          <a:p>
            <a:pPr marL="0" indent="0">
              <a:buNone/>
            </a:pPr>
            <a:r>
              <a:rPr lang="en-US" sz="1200" b="1">
                <a:solidFill>
                  <a:srgbClr val="B50915"/>
                </a:solidFill>
                <a:latin typeface="Arial" pitchFamily="34" charset="0"/>
                <a:cs typeface="Arial" pitchFamily="34" charset="-120"/>
              </a:rPr>
              <a:t>2.2 Phân tích cấu trúc (Mô hình hóa Lớp)</a:t>
            </a:r>
            <a:endParaRPr lang="en-US" sz="1200" dirty="0"/>
          </a:p>
        </p:txBody>
      </p:sp>
      <p:sp>
        <p:nvSpPr>
          <p:cNvPr id="7" name="Text 9">
            <a:extLst>
              <a:ext uri="{FF2B5EF4-FFF2-40B4-BE49-F238E27FC236}">
                <a16:creationId xmlns:a16="http://schemas.microsoft.com/office/drawing/2014/main" id="{00581016-FBFB-F121-3BDD-8880203F2464}"/>
              </a:ext>
            </a:extLst>
          </p:cNvPr>
          <p:cNvSpPr/>
          <p:nvPr/>
        </p:nvSpPr>
        <p:spPr>
          <a:xfrm>
            <a:off x="462573" y="1154497"/>
            <a:ext cx="11507794" cy="319186"/>
          </a:xfrm>
          <a:prstGeom prst="rect">
            <a:avLst/>
          </a:prstGeom>
          <a:noFill/>
          <a:ln/>
        </p:spPr>
        <p:txBody>
          <a:bodyPr wrap="square" lIns="635" tIns="635" rIns="635" bIns="635" rtlCol="0" anchor="t">
            <a:normAutofit/>
          </a:bodyPr>
          <a:lstStyle/>
          <a:p>
            <a:r>
              <a:rPr lang="vi-VN" sz="1330" b="1">
                <a:solidFill>
                  <a:srgbClr val="1F2328"/>
                </a:solidFill>
                <a:latin typeface="Arial" pitchFamily="34" charset="0"/>
                <a:ea typeface="Arial" pitchFamily="34" charset="-122"/>
                <a:cs typeface="Arial" pitchFamily="34" charset="-120"/>
              </a:rPr>
              <a:t>Thiết kế kiến trúc dành cho giao diện cổng Web Portal của Quản trị viên hệ thống nhằm quản lý hạ tầng cơ sở và chính sách giá cước</a:t>
            </a:r>
            <a:endParaRPr lang="en-US" sz="1330" b="1" dirty="0"/>
          </a:p>
        </p:txBody>
      </p:sp>
      <p:sp>
        <p:nvSpPr>
          <p:cNvPr id="29" name="Text 10">
            <a:extLst>
              <a:ext uri="{FF2B5EF4-FFF2-40B4-BE49-F238E27FC236}">
                <a16:creationId xmlns:a16="http://schemas.microsoft.com/office/drawing/2014/main" id="{FCDDA1FC-E441-3A8F-6DB1-EACCC38BC4F6}"/>
              </a:ext>
            </a:extLst>
          </p:cNvPr>
          <p:cNvSpPr/>
          <p:nvPr/>
        </p:nvSpPr>
        <p:spPr>
          <a:xfrm>
            <a:off x="7260770" y="1532379"/>
            <a:ext cx="4644717" cy="1239285"/>
          </a:xfrm>
          <a:prstGeom prst="rect">
            <a:avLst/>
          </a:prstGeom>
          <a:solidFill>
            <a:srgbClr val="FFFFFF"/>
          </a:solidFill>
          <a:ln w="16510">
            <a:solidFill>
              <a:srgbClr val="B50915"/>
            </a:solidFill>
          </a:ln>
        </p:spPr>
        <p:txBody>
          <a:bodyPr wrap="square" lIns="508" tIns="508" rIns="508" bIns="508" rtlCol="0" anchor="ctr">
            <a:normAutofit/>
          </a:bodyPr>
          <a:lstStyle/>
          <a:p>
            <a:pPr marL="342900" lvl="0" indent="-342900">
              <a:lnSpc>
                <a:spcPct val="115000"/>
              </a:lnSpc>
              <a:buSzPts val="1000"/>
              <a:buFont typeface="Symbol" panose="05050102010706020507" pitchFamily="18" charset="2"/>
              <a:buChar char=""/>
              <a:tabLst>
                <a:tab pos="457200" algn="l"/>
              </a:tabLst>
            </a:pPr>
            <a:r>
              <a:rPr lang="vi-VN" sz="13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Lớp Giao diện (</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&lt;&lt;boundary&gt;&gt;</a:t>
            </a:r>
            <a:r>
              <a:rPr lang="vi-VN" sz="13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Form_QuanLyTramTu</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vi-VN" sz="1200">
              <a:solidFill>
                <a:srgbClr val="000000"/>
              </a:solidFill>
              <a:effectLst/>
              <a:latin typeface="Arial" panose="020B0604020202020204" pitchFamily="34" charset="0"/>
              <a:ea typeface="Arial" panose="020B0604020202020204" pitchFamily="34" charset="0"/>
              <a:cs typeface="Arial" panose="020B0604020202020204" pitchFamily="34" charset="0"/>
            </a:endParaRPr>
          </a:p>
          <a:p>
            <a:pPr marL="742950" lvl="1" indent="-285750">
              <a:lnSpc>
                <a:spcPct val="115000"/>
              </a:lnSpc>
              <a:buSzPts val="1000"/>
              <a:buFont typeface="Courier New" panose="02070309020205020404" pitchFamily="49" charset="0"/>
              <a:buChar char="o"/>
              <a:tabLst>
                <a:tab pos="914400" algn="l"/>
              </a:tabLst>
            </a:pPr>
            <a:r>
              <a:rPr lang="vi-VN" sz="1300" i="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Thuộc tính:</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danhSachTramTu, danhSachBieuPhi. </a:t>
            </a:r>
            <a:endParaRPr lang="vi-VN" sz="120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p>
            <a:pPr marL="742950" lvl="1" indent="-285750">
              <a:lnSpc>
                <a:spcPct val="115000"/>
              </a:lnSpc>
              <a:buSzPts val="1000"/>
              <a:buFont typeface="Courier New" panose="02070309020205020404" pitchFamily="49" charset="0"/>
              <a:buChar char="o"/>
              <a:tabLst>
                <a:tab pos="914400" algn="l"/>
              </a:tabLst>
            </a:pPr>
            <a:r>
              <a:rPr lang="vi-VN" sz="1300" i="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Phương thức:</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NhapThongTinBieuPhiMoi</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NhapThong</a:t>
            </a:r>
            <a:r>
              <a:rPr lang="en-US"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TinTramTuMoi</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vi-VN" sz="120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p:txBody>
      </p:sp>
      <p:sp>
        <p:nvSpPr>
          <p:cNvPr id="30" name="Text 10">
            <a:extLst>
              <a:ext uri="{FF2B5EF4-FFF2-40B4-BE49-F238E27FC236}">
                <a16:creationId xmlns:a16="http://schemas.microsoft.com/office/drawing/2014/main" id="{484196C8-F39B-B0F7-11FD-78B6DBF59FB8}"/>
              </a:ext>
            </a:extLst>
          </p:cNvPr>
          <p:cNvSpPr/>
          <p:nvPr/>
        </p:nvSpPr>
        <p:spPr>
          <a:xfrm>
            <a:off x="7260770" y="2886878"/>
            <a:ext cx="4644717" cy="796358"/>
          </a:xfrm>
          <a:prstGeom prst="rect">
            <a:avLst/>
          </a:prstGeom>
          <a:solidFill>
            <a:srgbClr val="FFFFFF"/>
          </a:solidFill>
          <a:ln w="16510">
            <a:solidFill>
              <a:srgbClr val="B50915"/>
            </a:solidFill>
          </a:ln>
        </p:spPr>
        <p:txBody>
          <a:bodyPr wrap="square" lIns="508" tIns="508" rIns="508" bIns="508" rtlCol="0" anchor="ctr">
            <a:normAutofit/>
          </a:bodyPr>
          <a:lstStyle/>
          <a:p>
            <a:pPr marL="342900" lvl="0" indent="-342900">
              <a:lnSpc>
                <a:spcPct val="115000"/>
              </a:lnSpc>
              <a:buSzPts val="1000"/>
              <a:buFont typeface="Symbol" panose="05050102010706020507" pitchFamily="18" charset="2"/>
              <a:buChar char=""/>
              <a:tabLst>
                <a:tab pos="457200" algn="l"/>
              </a:tabLst>
            </a:pPr>
            <a:r>
              <a:rPr lang="vi-VN" sz="13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Lớp Điều khiển (</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&lt;&lt;control&gt;&gt;</a:t>
            </a:r>
            <a:r>
              <a:rPr lang="vi-VN" sz="13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Ctrl_QuanTriHeThong</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vi-VN" sz="1200">
              <a:solidFill>
                <a:srgbClr val="000000"/>
              </a:solidFill>
              <a:effectLst/>
              <a:latin typeface="Arial" panose="020B0604020202020204" pitchFamily="34" charset="0"/>
              <a:ea typeface="Arial" panose="020B0604020202020204" pitchFamily="34" charset="0"/>
              <a:cs typeface="Arial" panose="020B0604020202020204" pitchFamily="34" charset="0"/>
            </a:endParaRPr>
          </a:p>
          <a:p>
            <a:pPr marL="742950" lvl="1" indent="-285750">
              <a:lnSpc>
                <a:spcPct val="115000"/>
              </a:lnSpc>
              <a:buSzPts val="1000"/>
              <a:buFont typeface="Courier New" panose="02070309020205020404" pitchFamily="49" charset="0"/>
              <a:buChar char="o"/>
              <a:tabLst>
                <a:tab pos="914400" algn="l"/>
              </a:tabLst>
            </a:pPr>
            <a:r>
              <a:rPr lang="vi-VN" sz="1300" i="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Phương thức:</a:t>
            </a:r>
            <a:r>
              <a:rPr lang="en-US"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YeuCauLayDuLieuQuanLy(), CapNhatBieuPhi(), CapNhatThongTinTramTu()</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vi-VN" sz="120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p:txBody>
      </p:sp>
      <p:sp>
        <p:nvSpPr>
          <p:cNvPr id="31" name="Text 10">
            <a:extLst>
              <a:ext uri="{FF2B5EF4-FFF2-40B4-BE49-F238E27FC236}">
                <a16:creationId xmlns:a16="http://schemas.microsoft.com/office/drawing/2014/main" id="{2A203C48-4485-8F72-FE15-103CF170BF3E}"/>
              </a:ext>
            </a:extLst>
          </p:cNvPr>
          <p:cNvSpPr/>
          <p:nvPr/>
        </p:nvSpPr>
        <p:spPr>
          <a:xfrm>
            <a:off x="7260770" y="3811251"/>
            <a:ext cx="4644717" cy="2571206"/>
          </a:xfrm>
          <a:prstGeom prst="rect">
            <a:avLst/>
          </a:prstGeom>
          <a:solidFill>
            <a:srgbClr val="FFFFFF"/>
          </a:solidFill>
          <a:ln w="16510">
            <a:solidFill>
              <a:srgbClr val="B50915"/>
            </a:solidFill>
          </a:ln>
        </p:spPr>
        <p:txBody>
          <a:bodyPr wrap="square" lIns="508" tIns="508" rIns="508" bIns="508" rtlCol="0" anchor="ctr">
            <a:normAutofit/>
          </a:bodyPr>
          <a:lstStyle/>
          <a:p>
            <a:pPr marL="342900" lvl="0" indent="-342900">
              <a:lnSpc>
                <a:spcPct val="115000"/>
              </a:lnSpc>
              <a:buSzPts val="1000"/>
              <a:buFont typeface="Symbol" panose="05050102010706020507" pitchFamily="18" charset="2"/>
              <a:buChar char=""/>
              <a:tabLst>
                <a:tab pos="457200" algn="l"/>
              </a:tabLst>
            </a:pPr>
            <a:r>
              <a:rPr lang="vi-VN" sz="13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Lớp Thực thể (</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&lt;&lt;entity&gt;&gt;</a:t>
            </a:r>
            <a:r>
              <a:rPr lang="vi-VN" sz="13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a:t>
            </a:r>
            <a:endParaRPr lang="vi-VN" sz="1200">
              <a:solidFill>
                <a:srgbClr val="000000"/>
              </a:solidFill>
              <a:effectLst/>
              <a:latin typeface="Arial" panose="020B0604020202020204" pitchFamily="34" charset="0"/>
              <a:ea typeface="Arial" panose="020B0604020202020204" pitchFamily="34" charset="0"/>
              <a:cs typeface="Arial" panose="020B0604020202020204" pitchFamily="34" charset="0"/>
            </a:endParaRPr>
          </a:p>
          <a:p>
            <a:pPr marL="742950" lvl="1" indent="-285750">
              <a:lnSpc>
                <a:spcPct val="115000"/>
              </a:lnSpc>
              <a:buSzPts val="1000"/>
              <a:buFont typeface="Courier New" panose="02070309020205020404" pitchFamily="49" charset="0"/>
              <a:buChar char="o"/>
              <a:tabLst>
                <a:tab pos="914400" algn="l"/>
              </a:tabLst>
            </a:pPr>
            <a:r>
              <a:rPr lang="vi-VN" sz="13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TramTu:</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Quản lý hạ tầng trạm vật lý lắp đặt tại sảnh. </a:t>
            </a:r>
            <a:r>
              <a:rPr lang="en-US"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3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Thuộc tính </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gồm maTram, tenTram, diaChi, trangThaiTram; </a:t>
            </a:r>
            <a:r>
              <a:rPr lang="en-US"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lvl="1">
              <a:lnSpc>
                <a:spcPct val="115000"/>
              </a:lnSpc>
              <a:buSzPts val="1000"/>
              <a:tabLst>
                <a:tab pos="914400" algn="l"/>
              </a:tabLst>
            </a:pP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3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Phương thức: </a:t>
            </a:r>
            <a:r>
              <a:rPr lang="en-US"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LayDanhSachTramTu</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UpdateTramTu()</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vi-VN" sz="120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p>
            <a:pPr marL="742950" lvl="1" indent="-285750">
              <a:lnSpc>
                <a:spcPct val="115000"/>
              </a:lnSpc>
              <a:buSzPts val="1000"/>
              <a:buFont typeface="Courier New" panose="02070309020205020404" pitchFamily="49" charset="0"/>
              <a:buChar char="o"/>
              <a:tabLst>
                <a:tab pos="914400" algn="l"/>
              </a:tabLst>
            </a:pPr>
            <a:r>
              <a:rPr lang="vi-VN" sz="13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LoaiNganTu:</a:t>
            </a:r>
            <a:r>
              <a:rPr lang="vi-VN" sz="13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Tái sử dụng phương thức UpdateBieuPhi() để cập nhật chính sách giá lũy tiến mới vào cơ sở dữ liệu. </a:t>
            </a:r>
            <a:endParaRPr lang="vi-VN" sz="120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p:txBody>
      </p:sp>
      <p:pic>
        <p:nvPicPr>
          <p:cNvPr id="11" name="Hình ảnh 10">
            <a:extLst>
              <a:ext uri="{FF2B5EF4-FFF2-40B4-BE49-F238E27FC236}">
                <a16:creationId xmlns:a16="http://schemas.microsoft.com/office/drawing/2014/main" id="{DEED43E1-6549-11E4-03B6-6822F37BC4AE}"/>
              </a:ext>
            </a:extLst>
          </p:cNvPr>
          <p:cNvPicPr>
            <a:picLocks noChangeAspect="1"/>
          </p:cNvPicPr>
          <p:nvPr/>
        </p:nvPicPr>
        <p:blipFill>
          <a:blip r:embed="rId3"/>
          <a:stretch>
            <a:fillRect/>
          </a:stretch>
        </p:blipFill>
        <p:spPr>
          <a:xfrm>
            <a:off x="311083" y="1490495"/>
            <a:ext cx="6860696" cy="4825555"/>
          </a:xfrm>
          <a:prstGeom prst="rect">
            <a:avLst/>
          </a:prstGeom>
        </p:spPr>
      </p:pic>
    </p:spTree>
    <p:extLst>
      <p:ext uri="{BB962C8B-B14F-4D97-AF65-F5344CB8AC3E}">
        <p14:creationId xmlns:p14="http://schemas.microsoft.com/office/powerpoint/2010/main" val="39355074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a:t>
            </a:r>
            <a:endParaRPr lang="en-US" sz="750" dirty="0"/>
          </a:p>
        </p:txBody>
      </p:sp>
      <p:sp>
        <p:nvSpPr>
          <p:cNvPr id="8" name="Text 6"/>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dirty="0">
                <a:solidFill>
                  <a:srgbClr val="1F2328"/>
                </a:solidFill>
                <a:latin typeface="Arial" pitchFamily="34" charset="0"/>
                <a:ea typeface="Arial" pitchFamily="34" charset="-122"/>
                <a:cs typeface="Arial" pitchFamily="34" charset="-120"/>
              </a:rPr>
              <a:t>Phân tích hành vi: mô hình hóa trình tự</a:t>
            </a:r>
            <a:endParaRPr lang="en-US" sz="2400" dirty="0"/>
          </a:p>
        </p:txBody>
      </p:sp>
      <p:sp>
        <p:nvSpPr>
          <p:cNvPr id="9" name="Shape 7"/>
          <p:cNvSpPr/>
          <p:nvPr/>
        </p:nvSpPr>
        <p:spPr>
          <a:xfrm>
            <a:off x="502920" y="994076"/>
            <a:ext cx="1188720" cy="0"/>
          </a:xfrm>
          <a:prstGeom prst="line">
            <a:avLst/>
          </a:prstGeom>
          <a:noFill/>
          <a:ln w="27940">
            <a:solidFill>
              <a:srgbClr val="B50915"/>
            </a:solidFill>
            <a:prstDash val="solid"/>
          </a:ln>
        </p:spPr>
        <p:txBody>
          <a:bodyPr/>
          <a:lstStyle/>
          <a:p>
            <a:endParaRPr lang="vi-VN"/>
          </a:p>
        </p:txBody>
      </p:sp>
      <p:sp>
        <p:nvSpPr>
          <p:cNvPr id="10" name="Text 8"/>
          <p:cNvSpPr/>
          <p:nvPr/>
        </p:nvSpPr>
        <p:spPr>
          <a:xfrm>
            <a:off x="914400" y="1417320"/>
            <a:ext cx="10241280" cy="457200"/>
          </a:xfrm>
          <a:prstGeom prst="rect">
            <a:avLst/>
          </a:prstGeom>
          <a:noFill/>
          <a:ln/>
        </p:spPr>
        <p:txBody>
          <a:bodyPr wrap="square" lIns="762" tIns="762" rIns="762" bIns="762" rtlCol="0" anchor="t">
            <a:normAutofit/>
          </a:bodyPr>
          <a:lstStyle/>
          <a:p>
            <a:pPr marL="0" indent="0" algn="ctr">
              <a:buNone/>
            </a:pPr>
            <a:r>
              <a:rPr lang="en-US" sz="1900" b="1" dirty="0">
                <a:solidFill>
                  <a:srgbClr val="1F2328"/>
                </a:solidFill>
                <a:latin typeface="Arial" pitchFamily="34" charset="0"/>
                <a:ea typeface="Arial" pitchFamily="34" charset="-122"/>
                <a:cs typeface="Arial" pitchFamily="34" charset="-120"/>
              </a:rPr>
              <a:t>Sequence Diagram cho thấy “ai gọi ai, theo thứ tự nào” trong từng use case.</a:t>
            </a:r>
            <a:endParaRPr lang="en-US" sz="1900" dirty="0"/>
          </a:p>
        </p:txBody>
      </p:sp>
      <p:sp>
        <p:nvSpPr>
          <p:cNvPr id="11" name="Text 9"/>
          <p:cNvSpPr/>
          <p:nvPr/>
        </p:nvSpPr>
        <p:spPr>
          <a:xfrm>
            <a:off x="1097280" y="2423160"/>
            <a:ext cx="1554480"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Actor</a:t>
            </a:r>
            <a:endParaRPr lang="en-US" sz="1050" dirty="0"/>
          </a:p>
        </p:txBody>
      </p:sp>
      <p:sp>
        <p:nvSpPr>
          <p:cNvPr id="12" name="Shape 10"/>
          <p:cNvSpPr/>
          <p:nvPr/>
        </p:nvSpPr>
        <p:spPr>
          <a:xfrm>
            <a:off x="2670048" y="2706624"/>
            <a:ext cx="73152" cy="0"/>
          </a:xfrm>
          <a:prstGeom prst="line">
            <a:avLst/>
          </a:prstGeom>
          <a:noFill/>
          <a:ln w="17780">
            <a:solidFill>
              <a:srgbClr val="B50915"/>
            </a:solidFill>
            <a:prstDash val="solid"/>
            <a:headEnd type="none"/>
            <a:tailEnd type="triangle"/>
          </a:ln>
        </p:spPr>
        <p:txBody>
          <a:bodyPr/>
          <a:lstStyle/>
          <a:p>
            <a:endParaRPr lang="vi-VN"/>
          </a:p>
        </p:txBody>
      </p:sp>
      <p:sp>
        <p:nvSpPr>
          <p:cNvPr id="13" name="Text 11"/>
          <p:cNvSpPr/>
          <p:nvPr/>
        </p:nvSpPr>
        <p:spPr>
          <a:xfrm>
            <a:off x="2761488" y="2423160"/>
            <a:ext cx="1554480"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Boundary</a:t>
            </a:r>
            <a:endParaRPr lang="en-US" sz="1050" dirty="0"/>
          </a:p>
        </p:txBody>
      </p:sp>
      <p:sp>
        <p:nvSpPr>
          <p:cNvPr id="14" name="Shape 12"/>
          <p:cNvSpPr/>
          <p:nvPr/>
        </p:nvSpPr>
        <p:spPr>
          <a:xfrm>
            <a:off x="4334256" y="2706624"/>
            <a:ext cx="73152" cy="0"/>
          </a:xfrm>
          <a:prstGeom prst="line">
            <a:avLst/>
          </a:prstGeom>
          <a:noFill/>
          <a:ln w="17780">
            <a:solidFill>
              <a:srgbClr val="B50915"/>
            </a:solidFill>
            <a:prstDash val="solid"/>
            <a:headEnd type="none"/>
            <a:tailEnd type="triangle"/>
          </a:ln>
        </p:spPr>
        <p:txBody>
          <a:bodyPr/>
          <a:lstStyle/>
          <a:p>
            <a:endParaRPr lang="vi-VN"/>
          </a:p>
        </p:txBody>
      </p:sp>
      <p:sp>
        <p:nvSpPr>
          <p:cNvPr id="15" name="Text 13"/>
          <p:cNvSpPr/>
          <p:nvPr/>
        </p:nvSpPr>
        <p:spPr>
          <a:xfrm>
            <a:off x="4425696" y="2423160"/>
            <a:ext cx="1554480"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Control</a:t>
            </a:r>
            <a:endParaRPr lang="en-US" sz="1050" dirty="0"/>
          </a:p>
        </p:txBody>
      </p:sp>
      <p:sp>
        <p:nvSpPr>
          <p:cNvPr id="16" name="Shape 14"/>
          <p:cNvSpPr/>
          <p:nvPr/>
        </p:nvSpPr>
        <p:spPr>
          <a:xfrm>
            <a:off x="5998464" y="2706624"/>
            <a:ext cx="73152" cy="0"/>
          </a:xfrm>
          <a:prstGeom prst="line">
            <a:avLst/>
          </a:prstGeom>
          <a:noFill/>
          <a:ln w="17780">
            <a:solidFill>
              <a:srgbClr val="B50915"/>
            </a:solidFill>
            <a:prstDash val="solid"/>
            <a:headEnd type="none"/>
            <a:tailEnd type="triangle"/>
          </a:ln>
        </p:spPr>
        <p:txBody>
          <a:bodyPr/>
          <a:lstStyle/>
          <a:p>
            <a:endParaRPr lang="vi-VN"/>
          </a:p>
        </p:txBody>
      </p:sp>
      <p:sp>
        <p:nvSpPr>
          <p:cNvPr id="17" name="Text 15"/>
          <p:cNvSpPr/>
          <p:nvPr/>
        </p:nvSpPr>
        <p:spPr>
          <a:xfrm>
            <a:off x="6089904" y="2423160"/>
            <a:ext cx="1554480"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Entity</a:t>
            </a:r>
            <a:endParaRPr lang="en-US" sz="1050" dirty="0"/>
          </a:p>
        </p:txBody>
      </p:sp>
      <p:sp>
        <p:nvSpPr>
          <p:cNvPr id="18" name="Shape 16"/>
          <p:cNvSpPr/>
          <p:nvPr/>
        </p:nvSpPr>
        <p:spPr>
          <a:xfrm>
            <a:off x="7662672" y="2706624"/>
            <a:ext cx="73152" cy="0"/>
          </a:xfrm>
          <a:prstGeom prst="line">
            <a:avLst/>
          </a:prstGeom>
          <a:noFill/>
          <a:ln w="17780">
            <a:solidFill>
              <a:srgbClr val="B50915"/>
            </a:solidFill>
            <a:prstDash val="solid"/>
            <a:headEnd type="none"/>
            <a:tailEnd type="triangle"/>
          </a:ln>
        </p:spPr>
        <p:txBody>
          <a:bodyPr/>
          <a:lstStyle/>
          <a:p>
            <a:endParaRPr lang="vi-VN"/>
          </a:p>
        </p:txBody>
      </p:sp>
      <p:sp>
        <p:nvSpPr>
          <p:cNvPr id="19" name="Text 17"/>
          <p:cNvSpPr/>
          <p:nvPr/>
        </p:nvSpPr>
        <p:spPr>
          <a:xfrm>
            <a:off x="7754112" y="2423160"/>
            <a:ext cx="1554480"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CSDL / Tủ vật lý</a:t>
            </a:r>
            <a:endParaRPr lang="en-US" sz="1050" dirty="0"/>
          </a:p>
        </p:txBody>
      </p:sp>
      <p:sp>
        <p:nvSpPr>
          <p:cNvPr id="20" name="Shape 18"/>
          <p:cNvSpPr/>
          <p:nvPr/>
        </p:nvSpPr>
        <p:spPr>
          <a:xfrm>
            <a:off x="9326880" y="2706624"/>
            <a:ext cx="73152" cy="0"/>
          </a:xfrm>
          <a:prstGeom prst="line">
            <a:avLst/>
          </a:prstGeom>
          <a:noFill/>
          <a:ln w="17780">
            <a:solidFill>
              <a:srgbClr val="B50915"/>
            </a:solidFill>
            <a:prstDash val="solid"/>
            <a:headEnd type="none"/>
            <a:tailEnd type="triangle"/>
          </a:ln>
        </p:spPr>
        <p:txBody>
          <a:bodyPr/>
          <a:lstStyle/>
          <a:p>
            <a:endParaRPr lang="vi-VN"/>
          </a:p>
        </p:txBody>
      </p:sp>
      <p:sp>
        <p:nvSpPr>
          <p:cNvPr id="21" name="Text 19"/>
          <p:cNvSpPr/>
          <p:nvPr/>
        </p:nvSpPr>
        <p:spPr>
          <a:xfrm>
            <a:off x="9418320" y="2423160"/>
            <a:ext cx="1554480"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Kết quả</a:t>
            </a:r>
            <a:endParaRPr lang="en-US" sz="1050" dirty="0"/>
          </a:p>
        </p:txBody>
      </p:sp>
      <p:sp>
        <p:nvSpPr>
          <p:cNvPr id="22" name="Text 20"/>
          <p:cNvSpPr/>
          <p:nvPr/>
        </p:nvSpPr>
        <p:spPr>
          <a:xfrm>
            <a:off x="1097280" y="3703320"/>
            <a:ext cx="9966960" cy="1554480"/>
          </a:xfrm>
          <a:prstGeom prst="rect">
            <a:avLst/>
          </a:prstGeom>
          <a:noFill/>
          <a:ln/>
        </p:spPr>
        <p:txBody>
          <a:bodyPr wrap="square" lIns="635" tIns="635" rIns="635" bIns="635" rtlCol="0" anchor="t">
            <a:normAutofit lnSpcReduction="10000"/>
          </a:bodyPr>
          <a:lstStyle/>
          <a:p>
            <a:r>
              <a:rPr lang="en-US" sz="1500" dirty="0">
                <a:solidFill>
                  <a:srgbClr val="1F2328"/>
                </a:solidFill>
                <a:latin typeface="Arial" pitchFamily="34" charset="0"/>
                <a:ea typeface="Arial" pitchFamily="34" charset="-122"/>
                <a:cs typeface="Arial" pitchFamily="34" charset="-120"/>
              </a:rPr>
              <a:t>Mỗi biểu đồ trình tự bám sát một use case đã đặc tả.
</a:t>
            </a:r>
            <a:endParaRPr lang="en-US" sz="1500" dirty="0"/>
          </a:p>
          <a:p>
            <a:r>
              <a:rPr lang="en-US" sz="1500" dirty="0">
                <a:solidFill>
                  <a:srgbClr val="1F2328"/>
                </a:solidFill>
                <a:latin typeface="Arial" pitchFamily="34" charset="0"/>
                <a:ea typeface="Arial" pitchFamily="34" charset="-122"/>
                <a:cs typeface="Arial" pitchFamily="34" charset="-120"/>
              </a:rPr>
              <a:t>Lifeline thể hiện tác nhân, lớp biên, lớp điều khiển và lớp thực thể.
</a:t>
            </a:r>
            <a:endParaRPr lang="en-US" sz="1500" dirty="0"/>
          </a:p>
          <a:p>
            <a:r>
              <a:rPr lang="en-US" sz="1500" dirty="0">
                <a:solidFill>
                  <a:srgbClr val="1F2328"/>
                </a:solidFill>
                <a:latin typeface="Arial" pitchFamily="34" charset="0"/>
                <a:ea typeface="Arial" pitchFamily="34" charset="-122"/>
                <a:cs typeface="Arial" pitchFamily="34" charset="-120"/>
              </a:rPr>
              <a:t>Khung alt được dùng để thể hiện nhánh ngoại lệ: dữ liệu sai, hết ngăn, thanh toán lỗi.
</a:t>
            </a:r>
            <a:endParaRPr lang="en-US" sz="1500" dirty="0"/>
          </a:p>
          <a:p>
            <a:r>
              <a:rPr lang="en-US" sz="1500" dirty="0">
                <a:solidFill>
                  <a:srgbClr val="1F2328"/>
                </a:solidFill>
                <a:latin typeface="Arial" pitchFamily="34" charset="0"/>
                <a:ea typeface="Arial" pitchFamily="34" charset="-122"/>
                <a:cs typeface="Arial" pitchFamily="34" charset="-120"/>
              </a:rPr>
              <a:t>Thông điệp giúp kiểm tra tính nhất quán giữa yêu cầu, phân tích lớp và thiết kế dữ liệu.</a:t>
            </a:r>
            <a:endParaRPr lang="en-US" sz="1500" dirty="0"/>
          </a:p>
        </p:txBody>
      </p:sp>
      <p:sp>
        <p:nvSpPr>
          <p:cNvPr id="23" name="Shape 21"/>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24" name="Text 22"/>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25" name="Text 23"/>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21</a:t>
            </a:r>
            <a:endParaRPr lang="en-US" sz="1000" dirty="0"/>
          </a:p>
        </p:txBody>
      </p:sp>
      <p:sp>
        <p:nvSpPr>
          <p:cNvPr id="26" name="Text 5">
            <a:extLst>
              <a:ext uri="{FF2B5EF4-FFF2-40B4-BE49-F238E27FC236}">
                <a16:creationId xmlns:a16="http://schemas.microsoft.com/office/drawing/2014/main" id="{BAEC3387-7E1B-F6E7-B7AA-498D3C59732C}"/>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 PHÂN TÍCH HỆ THỐNG</a:t>
            </a:r>
          </a:p>
          <a:p>
            <a:pPr marL="0" indent="0">
              <a:buNone/>
            </a:pPr>
            <a:r>
              <a:rPr lang="en-US" sz="1200" b="1">
                <a:solidFill>
                  <a:srgbClr val="B50915"/>
                </a:solidFill>
                <a:latin typeface="Arial" pitchFamily="34" charset="0"/>
                <a:cs typeface="Arial" pitchFamily="34" charset="-120"/>
              </a:rPr>
              <a:t>2.3 Phân tích hành vi (Mô hình hóa Trình tự)</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a:t>
            </a:r>
            <a:endParaRPr lang="en-US" sz="750" dirty="0"/>
          </a:p>
        </p:txBody>
      </p:sp>
      <p:sp>
        <p:nvSpPr>
          <p:cNvPr id="8" name="Text 6"/>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a:solidFill>
                  <a:srgbClr val="1F2328"/>
                </a:solidFill>
                <a:latin typeface="Arial" pitchFamily="34" charset="0"/>
                <a:ea typeface="Arial" pitchFamily="34" charset="-122"/>
                <a:cs typeface="Arial" pitchFamily="34" charset="-120"/>
              </a:rPr>
              <a:t>Biểu đồ Trình tự cho Use Case Đăng nhập</a:t>
            </a:r>
            <a:endParaRPr lang="en-US" sz="2400" dirty="0"/>
          </a:p>
        </p:txBody>
      </p:sp>
      <p:sp>
        <p:nvSpPr>
          <p:cNvPr id="9" name="Shape 7"/>
          <p:cNvSpPr/>
          <p:nvPr/>
        </p:nvSpPr>
        <p:spPr>
          <a:xfrm>
            <a:off x="502920" y="1034846"/>
            <a:ext cx="1188720" cy="0"/>
          </a:xfrm>
          <a:prstGeom prst="line">
            <a:avLst/>
          </a:prstGeom>
          <a:noFill/>
          <a:ln w="27940">
            <a:solidFill>
              <a:srgbClr val="B50915"/>
            </a:solidFill>
            <a:prstDash val="solid"/>
          </a:ln>
        </p:spPr>
        <p:txBody>
          <a:bodyPr/>
          <a:lstStyle/>
          <a:p>
            <a:endParaRPr lang="vi-VN"/>
          </a:p>
        </p:txBody>
      </p:sp>
      <p:sp>
        <p:nvSpPr>
          <p:cNvPr id="12" name="Text 9"/>
          <p:cNvSpPr/>
          <p:nvPr/>
        </p:nvSpPr>
        <p:spPr>
          <a:xfrm>
            <a:off x="8001000" y="1554480"/>
            <a:ext cx="3429000" cy="2286000"/>
          </a:xfrm>
          <a:prstGeom prst="rect">
            <a:avLst/>
          </a:prstGeom>
          <a:noFill/>
          <a:ln/>
        </p:spPr>
        <p:txBody>
          <a:bodyPr wrap="square" lIns="762" tIns="762" rIns="762" bIns="762" rtlCol="0" anchor="t">
            <a:normAutofit/>
          </a:bodyPr>
          <a:lstStyle/>
          <a:p>
            <a:pPr marL="0" indent="0">
              <a:buNone/>
            </a:pPr>
            <a:r>
              <a:rPr lang="en-US" sz="1320" dirty="0">
                <a:solidFill>
                  <a:srgbClr val="1F2328"/>
                </a:solidFill>
                <a:latin typeface="Arial" pitchFamily="34" charset="0"/>
                <a:ea typeface="Arial" pitchFamily="34" charset="-122"/>
                <a:cs typeface="Arial" pitchFamily="34" charset="-120"/>
              </a:rPr>
              <a:t>1. Người dùng nhập SĐT, mật khẩu vào Form_DangNhap.</a:t>
            </a:r>
            <a:endParaRPr lang="en-US" sz="1320" dirty="0"/>
          </a:p>
          <a:p>
            <a:pPr marL="0" indent="0">
              <a:buNone/>
            </a:pPr>
            <a:r>
              <a:rPr lang="en-US" sz="1320" dirty="0">
                <a:solidFill>
                  <a:srgbClr val="1F2328"/>
                </a:solidFill>
                <a:latin typeface="Arial" pitchFamily="34" charset="0"/>
                <a:ea typeface="Arial" pitchFamily="34" charset="-122"/>
                <a:cs typeface="Arial" pitchFamily="34" charset="-120"/>
              </a:rPr>
              <a:t>2. Ctrl_XacThuc gọi KhachHang để tra cứu tài khoản.</a:t>
            </a:r>
            <a:endParaRPr lang="en-US" sz="1320" dirty="0"/>
          </a:p>
          <a:p>
            <a:pPr marL="0" indent="0">
              <a:buNone/>
            </a:pPr>
            <a:r>
              <a:rPr lang="en-US" sz="1320" dirty="0">
                <a:solidFill>
                  <a:srgbClr val="1F2328"/>
                </a:solidFill>
                <a:latin typeface="Arial" pitchFamily="34" charset="0"/>
                <a:ea typeface="Arial" pitchFamily="34" charset="-122"/>
                <a:cs typeface="Arial" pitchFamily="34" charset="-120"/>
              </a:rPr>
              <a:t>3. Nếu hợp lệ: phân quyền theo LoaiTaiKhoan.</a:t>
            </a:r>
            <a:endParaRPr lang="en-US" sz="1320" dirty="0"/>
          </a:p>
          <a:p>
            <a:pPr marL="0" indent="0">
              <a:buNone/>
            </a:pPr>
            <a:r>
              <a:rPr lang="en-US" sz="1320" dirty="0">
                <a:solidFill>
                  <a:srgbClr val="1F2328"/>
                </a:solidFill>
                <a:latin typeface="Arial" pitchFamily="34" charset="0"/>
                <a:ea typeface="Arial" pitchFamily="34" charset="-122"/>
                <a:cs typeface="Arial" pitchFamily="34" charset="-120"/>
              </a:rPr>
              <a:t>4. Nếu không hợp lệ: hiển thị lỗi và yêu cầu nhập lại.</a:t>
            </a:r>
            <a:endParaRPr lang="en-US" sz="1320" dirty="0"/>
          </a:p>
        </p:txBody>
      </p:sp>
      <p:sp>
        <p:nvSpPr>
          <p:cNvPr id="13" name="Text 10"/>
          <p:cNvSpPr/>
          <p:nvPr/>
        </p:nvSpPr>
        <p:spPr>
          <a:xfrm>
            <a:off x="8154488" y="4266927"/>
            <a:ext cx="2926080" cy="310896"/>
          </a:xfrm>
          <a:prstGeom prst="rect">
            <a:avLst/>
          </a:prstGeom>
          <a:solidFill>
            <a:srgbClr val="FFF3F3"/>
          </a:solidFill>
          <a:ln w="12700">
            <a:solidFill>
              <a:srgbClr val="B50915"/>
            </a:solidFill>
          </a:ln>
        </p:spPr>
        <p:txBody>
          <a:bodyPr wrap="square" lIns="508" tIns="508" rIns="508" bIns="508" rtlCol="0" anchor="ctr"/>
          <a:lstStyle/>
          <a:p>
            <a:pPr marL="0" indent="0" algn="ctr">
              <a:buNone/>
            </a:pPr>
            <a:r>
              <a:rPr lang="en-US" sz="1050" b="1" dirty="0">
                <a:solidFill>
                  <a:srgbClr val="B50915"/>
                </a:solidFill>
                <a:latin typeface="Arial" pitchFamily="34" charset="0"/>
                <a:ea typeface="Arial" pitchFamily="34" charset="-122"/>
                <a:cs typeface="Arial" pitchFamily="34" charset="-120"/>
              </a:rPr>
              <a:t>alt: hợp lệ / không hợp lệ</a:t>
            </a:r>
            <a:endParaRPr lang="en-US" sz="1050" dirty="0"/>
          </a:p>
        </p:txBody>
      </p:sp>
      <p:sp>
        <p:nvSpPr>
          <p:cNvPr id="14" name="Shape 11"/>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15" name="Text 12"/>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16" name="Text 13"/>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22</a:t>
            </a:r>
            <a:endParaRPr lang="en-US" sz="1000" dirty="0"/>
          </a:p>
        </p:txBody>
      </p:sp>
      <p:sp>
        <p:nvSpPr>
          <p:cNvPr id="17" name="Text 5">
            <a:extLst>
              <a:ext uri="{FF2B5EF4-FFF2-40B4-BE49-F238E27FC236}">
                <a16:creationId xmlns:a16="http://schemas.microsoft.com/office/drawing/2014/main" id="{710F5DA1-8AC6-97C9-3B20-1D4F6F333ED4}"/>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 PHÂN TÍCH HỆ THỐNG</a:t>
            </a:r>
          </a:p>
          <a:p>
            <a:pPr marL="0" indent="0">
              <a:buNone/>
            </a:pPr>
            <a:r>
              <a:rPr lang="en-US" sz="1200" b="1">
                <a:solidFill>
                  <a:srgbClr val="B50915"/>
                </a:solidFill>
                <a:latin typeface="Arial" pitchFamily="34" charset="0"/>
                <a:cs typeface="Arial" pitchFamily="34" charset="-120"/>
              </a:rPr>
              <a:t>2.3 Phân tích hành vi (Mô hình hóa Trình tự)</a:t>
            </a:r>
            <a:endParaRPr lang="en-US" sz="1200" dirty="0"/>
          </a:p>
        </p:txBody>
      </p:sp>
      <p:pic>
        <p:nvPicPr>
          <p:cNvPr id="18" name="Hình ảnh 17" descr="Ảnh có chứa văn bản, biểu đồ, số, hàng">
            <a:extLst>
              <a:ext uri="{FF2B5EF4-FFF2-40B4-BE49-F238E27FC236}">
                <a16:creationId xmlns:a16="http://schemas.microsoft.com/office/drawing/2014/main" id="{526B3FF2-A933-5342-B15C-8D0361CF92A7}"/>
              </a:ext>
            </a:extLst>
          </p:cNvPr>
          <p:cNvPicPr>
            <a:picLocks noChangeAspect="1"/>
          </p:cNvPicPr>
          <p:nvPr/>
        </p:nvPicPr>
        <p:blipFill>
          <a:blip r:embed="rId3"/>
          <a:stretch>
            <a:fillRect/>
          </a:stretch>
        </p:blipFill>
        <p:spPr>
          <a:xfrm>
            <a:off x="453228" y="1481420"/>
            <a:ext cx="7379043" cy="4227757"/>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a:t>
            </a:r>
            <a:endParaRPr lang="en-US" sz="750" dirty="0"/>
          </a:p>
        </p:txBody>
      </p:sp>
      <p:sp>
        <p:nvSpPr>
          <p:cNvPr id="8" name="Text 6"/>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a:solidFill>
                  <a:srgbClr val="1F2328"/>
                </a:solidFill>
                <a:latin typeface="Arial" pitchFamily="34" charset="0"/>
                <a:ea typeface="Arial" pitchFamily="34" charset="-122"/>
                <a:cs typeface="Arial" pitchFamily="34" charset="-120"/>
              </a:rPr>
              <a:t>Biểu đồ Trình tự cho Use Case Quản lý Giao hàng TMĐT</a:t>
            </a:r>
            <a:endParaRPr lang="en-US" sz="2400" dirty="0"/>
          </a:p>
        </p:txBody>
      </p:sp>
      <p:sp>
        <p:nvSpPr>
          <p:cNvPr id="9" name="Shape 7"/>
          <p:cNvSpPr/>
          <p:nvPr/>
        </p:nvSpPr>
        <p:spPr>
          <a:xfrm>
            <a:off x="502920" y="1011551"/>
            <a:ext cx="1188720" cy="0"/>
          </a:xfrm>
          <a:prstGeom prst="line">
            <a:avLst/>
          </a:prstGeom>
          <a:noFill/>
          <a:ln w="27940">
            <a:solidFill>
              <a:srgbClr val="B50915"/>
            </a:solidFill>
            <a:prstDash val="solid"/>
          </a:ln>
        </p:spPr>
        <p:txBody>
          <a:bodyPr/>
          <a:lstStyle/>
          <a:p>
            <a:endParaRPr lang="vi-VN"/>
          </a:p>
        </p:txBody>
      </p:sp>
      <p:sp>
        <p:nvSpPr>
          <p:cNvPr id="12" name="Text 9"/>
          <p:cNvSpPr/>
          <p:nvPr/>
        </p:nvSpPr>
        <p:spPr>
          <a:xfrm>
            <a:off x="7543800" y="1508760"/>
            <a:ext cx="3794760" cy="2560320"/>
          </a:xfrm>
          <a:prstGeom prst="rect">
            <a:avLst/>
          </a:prstGeom>
          <a:noFill/>
          <a:ln/>
        </p:spPr>
        <p:txBody>
          <a:bodyPr wrap="square" lIns="635" tIns="635" rIns="635" bIns="635" rtlCol="0" anchor="t">
            <a:normAutofit/>
          </a:bodyPr>
          <a:lstStyle/>
          <a:p>
            <a:r>
              <a:rPr lang="en-US" sz="1340" dirty="0">
                <a:solidFill>
                  <a:srgbClr val="1F2328"/>
                </a:solidFill>
                <a:latin typeface="Arial" pitchFamily="34" charset="0"/>
                <a:ea typeface="Arial" pitchFamily="34" charset="-122"/>
                <a:cs typeface="Arial" pitchFamily="34" charset="-120"/>
              </a:rPr>
              <a:t>Bưu tá chọn trạm và kích thước; hệ thống trả danh sách ngăn trống.
</a:t>
            </a:r>
            <a:endParaRPr lang="en-US" sz="1340" dirty="0"/>
          </a:p>
          <a:p>
            <a:r>
              <a:rPr lang="en-US" sz="1340" dirty="0">
                <a:solidFill>
                  <a:srgbClr val="1F2328"/>
                </a:solidFill>
                <a:latin typeface="Arial" pitchFamily="34" charset="0"/>
                <a:ea typeface="Arial" pitchFamily="34" charset="-122"/>
                <a:cs typeface="Arial" pitchFamily="34" charset="-120"/>
              </a:rPr>
              <a:t>Khi có ngăn trống: tạo giao dịch, mở chốt, xác nhận đóng cửa.
</a:t>
            </a:r>
            <a:endParaRPr lang="en-US" sz="1340" dirty="0"/>
          </a:p>
          <a:p>
            <a:r>
              <a:rPr lang="en-US" sz="1340" dirty="0">
                <a:solidFill>
                  <a:srgbClr val="1F2328"/>
                </a:solidFill>
                <a:latin typeface="Arial" pitchFamily="34" charset="0"/>
                <a:ea typeface="Arial" pitchFamily="34" charset="-122"/>
                <a:cs typeface="Arial" pitchFamily="34" charset="-120"/>
              </a:rPr>
              <a:t>Cập nhật trạng thái NganTu và GiaoDich; sinh OTP/QR.
</a:t>
            </a:r>
            <a:endParaRPr lang="en-US" sz="1340" dirty="0"/>
          </a:p>
          <a:p>
            <a:r>
              <a:rPr lang="en-US" sz="1340" dirty="0">
                <a:solidFill>
                  <a:srgbClr val="1F2328"/>
                </a:solidFill>
                <a:latin typeface="Arial" pitchFamily="34" charset="0"/>
                <a:ea typeface="Arial" pitchFamily="34" charset="-122"/>
                <a:cs typeface="Arial" pitchFamily="34" charset="-120"/>
              </a:rPr>
              <a:t>Ngoại lệ: hết ngăn thì không tạo giao dịch và yêu cầu chọn lại.</a:t>
            </a:r>
            <a:endParaRPr lang="en-US" sz="1340" dirty="0"/>
          </a:p>
        </p:txBody>
      </p:sp>
      <p:sp>
        <p:nvSpPr>
          <p:cNvPr id="13" name="Text 10"/>
          <p:cNvSpPr/>
          <p:nvPr/>
        </p:nvSpPr>
        <p:spPr>
          <a:xfrm>
            <a:off x="7543800" y="4709160"/>
            <a:ext cx="652882"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Kiểm tra ngăn</a:t>
            </a:r>
            <a:endParaRPr lang="en-US" sz="1050" dirty="0"/>
          </a:p>
        </p:txBody>
      </p:sp>
      <p:sp>
        <p:nvSpPr>
          <p:cNvPr id="14" name="Shape 11"/>
          <p:cNvSpPr/>
          <p:nvPr/>
        </p:nvSpPr>
        <p:spPr>
          <a:xfrm>
            <a:off x="8214970" y="4992624"/>
            <a:ext cx="73152" cy="0"/>
          </a:xfrm>
          <a:prstGeom prst="line">
            <a:avLst/>
          </a:prstGeom>
          <a:noFill/>
          <a:ln w="17780">
            <a:solidFill>
              <a:srgbClr val="B50915"/>
            </a:solidFill>
            <a:prstDash val="solid"/>
            <a:headEnd type="none"/>
            <a:tailEnd type="triangle"/>
          </a:ln>
        </p:spPr>
        <p:txBody>
          <a:bodyPr/>
          <a:lstStyle/>
          <a:p>
            <a:endParaRPr lang="vi-VN"/>
          </a:p>
        </p:txBody>
      </p:sp>
      <p:sp>
        <p:nvSpPr>
          <p:cNvPr id="15" name="Text 12"/>
          <p:cNvSpPr/>
          <p:nvPr/>
        </p:nvSpPr>
        <p:spPr>
          <a:xfrm>
            <a:off x="8306410" y="4709160"/>
            <a:ext cx="652882"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Tạo GD</a:t>
            </a:r>
            <a:endParaRPr lang="en-US" sz="1050" dirty="0"/>
          </a:p>
        </p:txBody>
      </p:sp>
      <p:sp>
        <p:nvSpPr>
          <p:cNvPr id="16" name="Shape 13"/>
          <p:cNvSpPr/>
          <p:nvPr/>
        </p:nvSpPr>
        <p:spPr>
          <a:xfrm>
            <a:off x="8977579" y="4992624"/>
            <a:ext cx="73152" cy="0"/>
          </a:xfrm>
          <a:prstGeom prst="line">
            <a:avLst/>
          </a:prstGeom>
          <a:noFill/>
          <a:ln w="17780">
            <a:solidFill>
              <a:srgbClr val="B50915"/>
            </a:solidFill>
            <a:prstDash val="solid"/>
            <a:headEnd type="none"/>
            <a:tailEnd type="triangle"/>
          </a:ln>
        </p:spPr>
        <p:txBody>
          <a:bodyPr/>
          <a:lstStyle/>
          <a:p>
            <a:endParaRPr lang="vi-VN"/>
          </a:p>
        </p:txBody>
      </p:sp>
      <p:sp>
        <p:nvSpPr>
          <p:cNvPr id="17" name="Text 14"/>
          <p:cNvSpPr/>
          <p:nvPr/>
        </p:nvSpPr>
        <p:spPr>
          <a:xfrm>
            <a:off x="9069019" y="4709160"/>
            <a:ext cx="652882"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Mở chốt</a:t>
            </a:r>
            <a:endParaRPr lang="en-US" sz="1050" dirty="0"/>
          </a:p>
        </p:txBody>
      </p:sp>
      <p:sp>
        <p:nvSpPr>
          <p:cNvPr id="18" name="Shape 15"/>
          <p:cNvSpPr/>
          <p:nvPr/>
        </p:nvSpPr>
        <p:spPr>
          <a:xfrm>
            <a:off x="9740189" y="4992624"/>
            <a:ext cx="73152" cy="0"/>
          </a:xfrm>
          <a:prstGeom prst="line">
            <a:avLst/>
          </a:prstGeom>
          <a:noFill/>
          <a:ln w="17780">
            <a:solidFill>
              <a:srgbClr val="B50915"/>
            </a:solidFill>
            <a:prstDash val="solid"/>
            <a:headEnd type="none"/>
            <a:tailEnd type="triangle"/>
          </a:ln>
        </p:spPr>
        <p:txBody>
          <a:bodyPr/>
          <a:lstStyle/>
          <a:p>
            <a:endParaRPr lang="vi-VN"/>
          </a:p>
        </p:txBody>
      </p:sp>
      <p:sp>
        <p:nvSpPr>
          <p:cNvPr id="19" name="Text 16"/>
          <p:cNvSpPr/>
          <p:nvPr/>
        </p:nvSpPr>
        <p:spPr>
          <a:xfrm>
            <a:off x="9831629" y="4709160"/>
            <a:ext cx="652882"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Cập nhật</a:t>
            </a:r>
            <a:endParaRPr lang="en-US" sz="1050" dirty="0"/>
          </a:p>
        </p:txBody>
      </p:sp>
      <p:sp>
        <p:nvSpPr>
          <p:cNvPr id="20" name="Shape 17"/>
          <p:cNvSpPr/>
          <p:nvPr/>
        </p:nvSpPr>
        <p:spPr>
          <a:xfrm>
            <a:off x="10502798" y="4992624"/>
            <a:ext cx="73152" cy="0"/>
          </a:xfrm>
          <a:prstGeom prst="line">
            <a:avLst/>
          </a:prstGeom>
          <a:noFill/>
          <a:ln w="17780">
            <a:solidFill>
              <a:srgbClr val="B50915"/>
            </a:solidFill>
            <a:prstDash val="solid"/>
            <a:headEnd type="none"/>
            <a:tailEnd type="triangle"/>
          </a:ln>
        </p:spPr>
        <p:txBody>
          <a:bodyPr/>
          <a:lstStyle/>
          <a:p>
            <a:endParaRPr lang="vi-VN"/>
          </a:p>
        </p:txBody>
      </p:sp>
      <p:sp>
        <p:nvSpPr>
          <p:cNvPr id="21" name="Text 18"/>
          <p:cNvSpPr/>
          <p:nvPr/>
        </p:nvSpPr>
        <p:spPr>
          <a:xfrm>
            <a:off x="10594238" y="4709160"/>
            <a:ext cx="652882"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OTP</a:t>
            </a:r>
            <a:endParaRPr lang="en-US" sz="1050" dirty="0"/>
          </a:p>
        </p:txBody>
      </p:sp>
      <p:sp>
        <p:nvSpPr>
          <p:cNvPr id="22" name="Shape 19"/>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23" name="Text 20"/>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24" name="Text 21"/>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23</a:t>
            </a:r>
            <a:endParaRPr lang="en-US" sz="1000" dirty="0"/>
          </a:p>
        </p:txBody>
      </p:sp>
      <p:sp>
        <p:nvSpPr>
          <p:cNvPr id="25" name="Text 5">
            <a:extLst>
              <a:ext uri="{FF2B5EF4-FFF2-40B4-BE49-F238E27FC236}">
                <a16:creationId xmlns:a16="http://schemas.microsoft.com/office/drawing/2014/main" id="{C86FE660-6975-F5B4-4CB1-BEDF99E83C4D}"/>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 PHÂN TÍCH HỆ THỐNG</a:t>
            </a:r>
          </a:p>
          <a:p>
            <a:pPr marL="0" indent="0">
              <a:buNone/>
            </a:pPr>
            <a:r>
              <a:rPr lang="en-US" sz="1200" b="1">
                <a:solidFill>
                  <a:srgbClr val="B50915"/>
                </a:solidFill>
                <a:latin typeface="Arial" pitchFamily="34" charset="0"/>
                <a:cs typeface="Arial" pitchFamily="34" charset="-120"/>
              </a:rPr>
              <a:t>2.3 Phân tích hành vi (Mô hình hóa Trình tự)</a:t>
            </a:r>
            <a:endParaRPr lang="en-US" sz="1200" dirty="0"/>
          </a:p>
        </p:txBody>
      </p:sp>
      <p:pic>
        <p:nvPicPr>
          <p:cNvPr id="26" name="Hình ảnh 25" descr="Ảnh có chứa văn bản, biểu đồ, số, Song song">
            <a:extLst>
              <a:ext uri="{FF2B5EF4-FFF2-40B4-BE49-F238E27FC236}">
                <a16:creationId xmlns:a16="http://schemas.microsoft.com/office/drawing/2014/main" id="{3E1B9EA9-4D23-104F-B14A-3E6C68AAE455}"/>
              </a:ext>
            </a:extLst>
          </p:cNvPr>
          <p:cNvPicPr>
            <a:picLocks noChangeAspect="1"/>
          </p:cNvPicPr>
          <p:nvPr/>
        </p:nvPicPr>
        <p:blipFill>
          <a:blip r:embed="rId3"/>
          <a:stretch>
            <a:fillRect/>
          </a:stretch>
        </p:blipFill>
        <p:spPr>
          <a:xfrm>
            <a:off x="2004522" y="1090451"/>
            <a:ext cx="3452756" cy="526462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a:t>
            </a:r>
            <a:endParaRPr lang="en-US" sz="750" dirty="0"/>
          </a:p>
        </p:txBody>
      </p:sp>
      <p:sp>
        <p:nvSpPr>
          <p:cNvPr id="8" name="Text 6"/>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a:solidFill>
                  <a:srgbClr val="1F2328"/>
                </a:solidFill>
                <a:latin typeface="Arial" pitchFamily="34" charset="0"/>
                <a:ea typeface="Arial" pitchFamily="34" charset="-122"/>
                <a:cs typeface="Arial" pitchFamily="34" charset="-120"/>
              </a:rPr>
              <a:t>Biểu đồ Trình tự cho Use Case Nhận hàng &amp; Thanh toán</a:t>
            </a:r>
            <a:endParaRPr lang="en-US" sz="2400" dirty="0"/>
          </a:p>
        </p:txBody>
      </p:sp>
      <p:sp>
        <p:nvSpPr>
          <p:cNvPr id="9" name="Shape 7"/>
          <p:cNvSpPr/>
          <p:nvPr/>
        </p:nvSpPr>
        <p:spPr>
          <a:xfrm>
            <a:off x="502920" y="999903"/>
            <a:ext cx="1188720" cy="0"/>
          </a:xfrm>
          <a:prstGeom prst="line">
            <a:avLst/>
          </a:prstGeom>
          <a:noFill/>
          <a:ln w="27940">
            <a:solidFill>
              <a:srgbClr val="B50915"/>
            </a:solidFill>
            <a:prstDash val="solid"/>
          </a:ln>
        </p:spPr>
        <p:txBody>
          <a:bodyPr/>
          <a:lstStyle/>
          <a:p>
            <a:endParaRPr lang="vi-VN"/>
          </a:p>
        </p:txBody>
      </p:sp>
      <p:sp>
        <p:nvSpPr>
          <p:cNvPr id="12" name="Text 9"/>
          <p:cNvSpPr/>
          <p:nvPr/>
        </p:nvSpPr>
        <p:spPr>
          <a:xfrm>
            <a:off x="7726680" y="1481328"/>
            <a:ext cx="3703320" cy="2743200"/>
          </a:xfrm>
          <a:prstGeom prst="rect">
            <a:avLst/>
          </a:prstGeom>
          <a:noFill/>
          <a:ln/>
        </p:spPr>
        <p:txBody>
          <a:bodyPr wrap="square" lIns="635" tIns="635" rIns="635" bIns="635" rtlCol="0" anchor="t">
            <a:normAutofit/>
          </a:bodyPr>
          <a:lstStyle/>
          <a:p>
            <a:r>
              <a:rPr lang="en-US" sz="1330" dirty="0">
                <a:solidFill>
                  <a:srgbClr val="1F2328"/>
                </a:solidFill>
                <a:latin typeface="Arial" pitchFamily="34" charset="0"/>
                <a:ea typeface="Arial" pitchFamily="34" charset="-122"/>
                <a:cs typeface="Arial" pitchFamily="34" charset="-120"/>
              </a:rPr>
              <a:t>Cư dân nhập OTP/QR, hệ thống tìm giao dịch tương ứng.
</a:t>
            </a:r>
            <a:endParaRPr lang="en-US" sz="1330" dirty="0"/>
          </a:p>
          <a:p>
            <a:r>
              <a:rPr lang="en-US" sz="1330" dirty="0">
                <a:solidFill>
                  <a:srgbClr val="1F2328"/>
                </a:solidFill>
                <a:latin typeface="Arial" pitchFamily="34" charset="0"/>
                <a:ea typeface="Arial" pitchFamily="34" charset="-122"/>
                <a:cs typeface="Arial" pitchFamily="34" charset="-120"/>
              </a:rPr>
              <a:t>Nếu mã hợp lệ: tính phí theo thời gian lưu bãi và COD.
</a:t>
            </a:r>
            <a:endParaRPr lang="en-US" sz="1330" dirty="0"/>
          </a:p>
          <a:p>
            <a:r>
              <a:rPr lang="en-US" sz="1330" dirty="0">
                <a:solidFill>
                  <a:srgbClr val="1F2328"/>
                </a:solidFill>
                <a:latin typeface="Arial" pitchFamily="34" charset="0"/>
                <a:ea typeface="Arial" pitchFamily="34" charset="-122"/>
                <a:cs typeface="Arial" pitchFamily="34" charset="-120"/>
              </a:rPr>
              <a:t>Nếu tổng tiền &gt; 0: tạo bản ghi thanh toán và chờ xác nhận thành công.
</a:t>
            </a:r>
            <a:endParaRPr lang="en-US" sz="1330" dirty="0"/>
          </a:p>
          <a:p>
            <a:r>
              <a:rPr lang="en-US" sz="1330" dirty="0">
                <a:solidFill>
                  <a:srgbClr val="1F2328"/>
                </a:solidFill>
                <a:latin typeface="Arial" pitchFamily="34" charset="0"/>
                <a:ea typeface="Arial" pitchFamily="34" charset="-122"/>
                <a:cs typeface="Arial" pitchFamily="34" charset="-120"/>
              </a:rPr>
              <a:t>Sau khi mở tủ và lấy hàng: cập nhật giao dịch “Đã nhận”, ngăn “Trống”.</a:t>
            </a:r>
            <a:endParaRPr lang="en-US" sz="1330" dirty="0"/>
          </a:p>
        </p:txBody>
      </p:sp>
      <p:sp>
        <p:nvSpPr>
          <p:cNvPr id="13" name="Text 10"/>
          <p:cNvSpPr/>
          <p:nvPr/>
        </p:nvSpPr>
        <p:spPr>
          <a:xfrm>
            <a:off x="7863840" y="4663440"/>
            <a:ext cx="3429000" cy="310896"/>
          </a:xfrm>
          <a:prstGeom prst="rect">
            <a:avLst/>
          </a:prstGeom>
          <a:solidFill>
            <a:srgbClr val="FFF3F3"/>
          </a:solidFill>
          <a:ln w="12700">
            <a:solidFill>
              <a:srgbClr val="B50915"/>
            </a:solidFill>
          </a:ln>
        </p:spPr>
        <p:txBody>
          <a:bodyPr wrap="square" lIns="508" tIns="508" rIns="508" bIns="508" rtlCol="0" anchor="ctr"/>
          <a:lstStyle/>
          <a:p>
            <a:pPr marL="0" indent="0" algn="ctr">
              <a:buNone/>
            </a:pPr>
            <a:r>
              <a:rPr lang="en-US" sz="1050" b="1" dirty="0">
                <a:solidFill>
                  <a:srgbClr val="B50915"/>
                </a:solidFill>
                <a:latin typeface="Arial" pitchFamily="34" charset="0"/>
                <a:ea typeface="Arial" pitchFamily="34" charset="-122"/>
                <a:cs typeface="Arial" pitchFamily="34" charset="-120"/>
              </a:rPr>
              <a:t>alt: cần thanh toán / không cần thanh toán / lỗi</a:t>
            </a:r>
            <a:endParaRPr lang="en-US" sz="1050" dirty="0"/>
          </a:p>
        </p:txBody>
      </p:sp>
      <p:sp>
        <p:nvSpPr>
          <p:cNvPr id="14" name="Shape 11"/>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15" name="Text 12"/>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16" name="Text 13"/>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24</a:t>
            </a:r>
            <a:endParaRPr lang="en-US" sz="1000" dirty="0"/>
          </a:p>
        </p:txBody>
      </p:sp>
      <p:sp>
        <p:nvSpPr>
          <p:cNvPr id="17" name="Text 5">
            <a:extLst>
              <a:ext uri="{FF2B5EF4-FFF2-40B4-BE49-F238E27FC236}">
                <a16:creationId xmlns:a16="http://schemas.microsoft.com/office/drawing/2014/main" id="{01895C49-2C1D-D4B6-11DD-EBCEB0CCE1CC}"/>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 PHÂN TÍCH HỆ THỐNG</a:t>
            </a:r>
          </a:p>
          <a:p>
            <a:pPr marL="0" indent="0">
              <a:buNone/>
            </a:pPr>
            <a:r>
              <a:rPr lang="en-US" sz="1200" b="1">
                <a:solidFill>
                  <a:srgbClr val="B50915"/>
                </a:solidFill>
                <a:latin typeface="Arial" pitchFamily="34" charset="0"/>
                <a:cs typeface="Arial" pitchFamily="34" charset="-120"/>
              </a:rPr>
              <a:t>2.3 Phân tích hành vi (Mô hình hóa Trình tự)</a:t>
            </a:r>
            <a:endParaRPr lang="en-US" sz="1200" dirty="0"/>
          </a:p>
        </p:txBody>
      </p:sp>
      <p:pic>
        <p:nvPicPr>
          <p:cNvPr id="18" name="Hình ảnh 17" descr="Ảnh có chứa văn bản, biểu đồ, Song song, số">
            <a:extLst>
              <a:ext uri="{FF2B5EF4-FFF2-40B4-BE49-F238E27FC236}">
                <a16:creationId xmlns:a16="http://schemas.microsoft.com/office/drawing/2014/main" id="{FBD89D00-DEC4-B8A2-5F80-9A2B7DAC7376}"/>
              </a:ext>
            </a:extLst>
          </p:cNvPr>
          <p:cNvPicPr>
            <a:picLocks noChangeAspect="1"/>
          </p:cNvPicPr>
          <p:nvPr/>
        </p:nvPicPr>
        <p:blipFill>
          <a:blip r:embed="rId3"/>
          <a:stretch>
            <a:fillRect/>
          </a:stretch>
        </p:blipFill>
        <p:spPr>
          <a:xfrm>
            <a:off x="1881006" y="1047368"/>
            <a:ext cx="4630454" cy="535222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a:t>
            </a:r>
            <a:endParaRPr lang="en-US" sz="750" dirty="0"/>
          </a:p>
        </p:txBody>
      </p:sp>
      <p:sp>
        <p:nvSpPr>
          <p:cNvPr id="8" name="Text 6"/>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a:solidFill>
                  <a:srgbClr val="1F2328"/>
                </a:solidFill>
                <a:latin typeface="Arial" pitchFamily="34" charset="0"/>
                <a:ea typeface="Arial" pitchFamily="34" charset="-122"/>
                <a:cs typeface="Arial" pitchFamily="34" charset="-120"/>
              </a:rPr>
              <a:t>Biểu đồ Trình tự cho Use Case Thuê tủ cá nhân</a:t>
            </a:r>
            <a:endParaRPr lang="en-US" sz="2400" dirty="0"/>
          </a:p>
        </p:txBody>
      </p:sp>
      <p:sp>
        <p:nvSpPr>
          <p:cNvPr id="9" name="Shape 7"/>
          <p:cNvSpPr/>
          <p:nvPr/>
        </p:nvSpPr>
        <p:spPr>
          <a:xfrm>
            <a:off x="502920" y="1005725"/>
            <a:ext cx="1188720" cy="0"/>
          </a:xfrm>
          <a:prstGeom prst="line">
            <a:avLst/>
          </a:prstGeom>
          <a:noFill/>
          <a:ln w="27940">
            <a:solidFill>
              <a:srgbClr val="B50915"/>
            </a:solidFill>
            <a:prstDash val="solid"/>
          </a:ln>
        </p:spPr>
        <p:txBody>
          <a:bodyPr/>
          <a:lstStyle/>
          <a:p>
            <a:endParaRPr lang="vi-VN"/>
          </a:p>
        </p:txBody>
      </p:sp>
      <p:sp>
        <p:nvSpPr>
          <p:cNvPr id="12" name="Text 9"/>
          <p:cNvSpPr/>
          <p:nvPr/>
        </p:nvSpPr>
        <p:spPr>
          <a:xfrm>
            <a:off x="7360920" y="1508760"/>
            <a:ext cx="4023360" cy="2743200"/>
          </a:xfrm>
          <a:prstGeom prst="rect">
            <a:avLst/>
          </a:prstGeom>
          <a:noFill/>
          <a:ln/>
        </p:spPr>
        <p:txBody>
          <a:bodyPr wrap="square" lIns="635" tIns="635" rIns="635" bIns="635" rtlCol="0" anchor="t">
            <a:normAutofit/>
          </a:bodyPr>
          <a:lstStyle/>
          <a:p>
            <a:r>
              <a:rPr lang="en-US" sz="1360" dirty="0">
                <a:solidFill>
                  <a:srgbClr val="1F2328"/>
                </a:solidFill>
                <a:latin typeface="Arial" pitchFamily="34" charset="0"/>
                <a:ea typeface="Arial" pitchFamily="34" charset="-122"/>
                <a:cs typeface="Arial" pitchFamily="34" charset="-120"/>
              </a:rPr>
              <a:t>Cư dân chọn chức năng thuê tủ cá nhân và kích thước mong muốn.
</a:t>
            </a:r>
            <a:endParaRPr lang="en-US" sz="1360" dirty="0"/>
          </a:p>
          <a:p>
            <a:r>
              <a:rPr lang="en-US" sz="1360" dirty="0">
                <a:solidFill>
                  <a:srgbClr val="1F2328"/>
                </a:solidFill>
                <a:latin typeface="Arial" pitchFamily="34" charset="0"/>
                <a:ea typeface="Arial" pitchFamily="34" charset="-122"/>
                <a:cs typeface="Arial" pitchFamily="34" charset="-120"/>
              </a:rPr>
              <a:t>Control truy vấn ngăn trống và biểu phí tương ứng.
</a:t>
            </a:r>
            <a:endParaRPr lang="en-US" sz="1360" dirty="0"/>
          </a:p>
          <a:p>
            <a:r>
              <a:rPr lang="en-US" sz="1360" dirty="0">
                <a:solidFill>
                  <a:srgbClr val="1F2328"/>
                </a:solidFill>
                <a:latin typeface="Arial" pitchFamily="34" charset="0"/>
                <a:ea typeface="Arial" pitchFamily="34" charset="-122"/>
                <a:cs typeface="Arial" pitchFamily="34" charset="-120"/>
              </a:rPr>
              <a:t>Thanh toán phí thuê ban đầu thành công thì tạo giao dịch và mở tủ.
</a:t>
            </a:r>
            <a:endParaRPr lang="en-US" sz="1360" dirty="0"/>
          </a:p>
          <a:p>
            <a:r>
              <a:rPr lang="en-US" sz="1360" dirty="0">
                <a:solidFill>
                  <a:srgbClr val="1F2328"/>
                </a:solidFill>
                <a:latin typeface="Arial" pitchFamily="34" charset="0"/>
                <a:ea typeface="Arial" pitchFamily="34" charset="-122"/>
                <a:cs typeface="Arial" pitchFamily="34" charset="-120"/>
              </a:rPr>
              <a:t>Cư dân cất đồ, hệ thống cập nhật trạng thái và gửi mã cho người nhận.</a:t>
            </a:r>
            <a:endParaRPr lang="en-US" sz="1360" dirty="0"/>
          </a:p>
        </p:txBody>
      </p:sp>
      <p:sp>
        <p:nvSpPr>
          <p:cNvPr id="13" name="Text 10"/>
          <p:cNvSpPr/>
          <p:nvPr/>
        </p:nvSpPr>
        <p:spPr>
          <a:xfrm>
            <a:off x="7360920" y="4709160"/>
            <a:ext cx="889254"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Chọn</a:t>
            </a:r>
            <a:endParaRPr lang="en-US" sz="1050" dirty="0"/>
          </a:p>
        </p:txBody>
      </p:sp>
      <p:sp>
        <p:nvSpPr>
          <p:cNvPr id="14" name="Shape 11"/>
          <p:cNvSpPr/>
          <p:nvPr/>
        </p:nvSpPr>
        <p:spPr>
          <a:xfrm>
            <a:off x="8268462" y="4992624"/>
            <a:ext cx="73152" cy="0"/>
          </a:xfrm>
          <a:prstGeom prst="line">
            <a:avLst/>
          </a:prstGeom>
          <a:noFill/>
          <a:ln w="17780">
            <a:solidFill>
              <a:srgbClr val="B50915"/>
            </a:solidFill>
            <a:prstDash val="solid"/>
            <a:headEnd type="none"/>
            <a:tailEnd type="triangle"/>
          </a:ln>
        </p:spPr>
        <p:txBody>
          <a:bodyPr/>
          <a:lstStyle/>
          <a:p>
            <a:endParaRPr lang="vi-VN"/>
          </a:p>
        </p:txBody>
      </p:sp>
      <p:sp>
        <p:nvSpPr>
          <p:cNvPr id="15" name="Text 12"/>
          <p:cNvSpPr/>
          <p:nvPr/>
        </p:nvSpPr>
        <p:spPr>
          <a:xfrm>
            <a:off x="8359902" y="4709160"/>
            <a:ext cx="889254"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Thanh toán</a:t>
            </a:r>
            <a:endParaRPr lang="en-US" sz="1050" dirty="0"/>
          </a:p>
        </p:txBody>
      </p:sp>
      <p:sp>
        <p:nvSpPr>
          <p:cNvPr id="16" name="Shape 13"/>
          <p:cNvSpPr/>
          <p:nvPr/>
        </p:nvSpPr>
        <p:spPr>
          <a:xfrm>
            <a:off x="9267444" y="4992624"/>
            <a:ext cx="73152" cy="0"/>
          </a:xfrm>
          <a:prstGeom prst="line">
            <a:avLst/>
          </a:prstGeom>
          <a:noFill/>
          <a:ln w="17780">
            <a:solidFill>
              <a:srgbClr val="B50915"/>
            </a:solidFill>
            <a:prstDash val="solid"/>
            <a:headEnd type="none"/>
            <a:tailEnd type="triangle"/>
          </a:ln>
        </p:spPr>
        <p:txBody>
          <a:bodyPr/>
          <a:lstStyle/>
          <a:p>
            <a:endParaRPr lang="vi-VN"/>
          </a:p>
        </p:txBody>
      </p:sp>
      <p:sp>
        <p:nvSpPr>
          <p:cNvPr id="17" name="Text 14"/>
          <p:cNvSpPr/>
          <p:nvPr/>
        </p:nvSpPr>
        <p:spPr>
          <a:xfrm>
            <a:off x="9358884" y="4709160"/>
            <a:ext cx="889254"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Cất</a:t>
            </a:r>
            <a:endParaRPr lang="en-US" sz="1050" dirty="0"/>
          </a:p>
        </p:txBody>
      </p:sp>
      <p:sp>
        <p:nvSpPr>
          <p:cNvPr id="18" name="Shape 15"/>
          <p:cNvSpPr/>
          <p:nvPr/>
        </p:nvSpPr>
        <p:spPr>
          <a:xfrm>
            <a:off x="10266426" y="4992624"/>
            <a:ext cx="73152" cy="0"/>
          </a:xfrm>
          <a:prstGeom prst="line">
            <a:avLst/>
          </a:prstGeom>
          <a:noFill/>
          <a:ln w="17780">
            <a:solidFill>
              <a:srgbClr val="B50915"/>
            </a:solidFill>
            <a:prstDash val="solid"/>
            <a:headEnd type="none"/>
            <a:tailEnd type="triangle"/>
          </a:ln>
        </p:spPr>
        <p:txBody>
          <a:bodyPr/>
          <a:lstStyle/>
          <a:p>
            <a:endParaRPr lang="vi-VN"/>
          </a:p>
        </p:txBody>
      </p:sp>
      <p:sp>
        <p:nvSpPr>
          <p:cNvPr id="19" name="Text 16"/>
          <p:cNvSpPr/>
          <p:nvPr/>
        </p:nvSpPr>
        <p:spPr>
          <a:xfrm>
            <a:off x="10357866" y="4709160"/>
            <a:ext cx="889254"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Gửi mã</a:t>
            </a:r>
            <a:endParaRPr lang="en-US" sz="1050" dirty="0"/>
          </a:p>
        </p:txBody>
      </p:sp>
      <p:sp>
        <p:nvSpPr>
          <p:cNvPr id="20" name="Shape 17"/>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21" name="Text 18"/>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22" name="Text 19"/>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25</a:t>
            </a:r>
            <a:endParaRPr lang="en-US" sz="1000" dirty="0"/>
          </a:p>
        </p:txBody>
      </p:sp>
      <p:sp>
        <p:nvSpPr>
          <p:cNvPr id="23" name="Text 5">
            <a:extLst>
              <a:ext uri="{FF2B5EF4-FFF2-40B4-BE49-F238E27FC236}">
                <a16:creationId xmlns:a16="http://schemas.microsoft.com/office/drawing/2014/main" id="{7931B69A-D73E-BC94-4DA5-D31DE7A18922}"/>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 PHÂN TÍCH HỆ THỐNG</a:t>
            </a:r>
          </a:p>
          <a:p>
            <a:pPr marL="0" indent="0">
              <a:buNone/>
            </a:pPr>
            <a:r>
              <a:rPr lang="en-US" sz="1200" b="1">
                <a:solidFill>
                  <a:srgbClr val="B50915"/>
                </a:solidFill>
                <a:latin typeface="Arial" pitchFamily="34" charset="0"/>
                <a:cs typeface="Arial" pitchFamily="34" charset="-120"/>
              </a:rPr>
              <a:t>2.3 Phân tích hành vi (Mô hình hóa Trình tự)</a:t>
            </a:r>
            <a:endParaRPr lang="en-US" sz="1200" dirty="0"/>
          </a:p>
        </p:txBody>
      </p:sp>
      <p:pic>
        <p:nvPicPr>
          <p:cNvPr id="24" name="Hình ảnh 23" descr="Ảnh có chứa văn bản, biểu đồ, Song song, số">
            <a:extLst>
              <a:ext uri="{FF2B5EF4-FFF2-40B4-BE49-F238E27FC236}">
                <a16:creationId xmlns:a16="http://schemas.microsoft.com/office/drawing/2014/main" id="{B0F63B1E-1640-A8A0-628B-EF652F0ABAC2}"/>
              </a:ext>
            </a:extLst>
          </p:cNvPr>
          <p:cNvPicPr>
            <a:picLocks noChangeAspect="1"/>
          </p:cNvPicPr>
          <p:nvPr/>
        </p:nvPicPr>
        <p:blipFill>
          <a:blip r:embed="rId3"/>
          <a:stretch>
            <a:fillRect/>
          </a:stretch>
        </p:blipFill>
        <p:spPr>
          <a:xfrm>
            <a:off x="2284442" y="1014079"/>
            <a:ext cx="3446575" cy="540043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6">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a:t>
            </a:r>
            <a:endParaRPr lang="en-US" sz="750" dirty="0"/>
          </a:p>
        </p:txBody>
      </p:sp>
      <p:sp>
        <p:nvSpPr>
          <p:cNvPr id="8" name="Text 6"/>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a:solidFill>
                  <a:srgbClr val="1F2328"/>
                </a:solidFill>
                <a:latin typeface="Arial" pitchFamily="34" charset="0"/>
                <a:ea typeface="Arial" pitchFamily="34" charset="-122"/>
                <a:cs typeface="Arial" pitchFamily="34" charset="-120"/>
              </a:rPr>
              <a:t>Biểu đồ Trình tự cho Use Case Quản lý Trạm tủ &amp; Biểu phí</a:t>
            </a:r>
            <a:endParaRPr lang="en-US" sz="2400" dirty="0"/>
          </a:p>
        </p:txBody>
      </p:sp>
      <p:sp>
        <p:nvSpPr>
          <p:cNvPr id="9" name="Shape 7"/>
          <p:cNvSpPr/>
          <p:nvPr/>
        </p:nvSpPr>
        <p:spPr>
          <a:xfrm>
            <a:off x="502920" y="994076"/>
            <a:ext cx="1188720" cy="0"/>
          </a:xfrm>
          <a:prstGeom prst="line">
            <a:avLst/>
          </a:prstGeom>
          <a:noFill/>
          <a:ln w="27940">
            <a:solidFill>
              <a:srgbClr val="B50915"/>
            </a:solidFill>
            <a:prstDash val="solid"/>
          </a:ln>
        </p:spPr>
        <p:txBody>
          <a:bodyPr/>
          <a:lstStyle/>
          <a:p>
            <a:endParaRPr lang="vi-VN"/>
          </a:p>
        </p:txBody>
      </p:sp>
      <p:sp>
        <p:nvSpPr>
          <p:cNvPr id="12" name="Text 9"/>
          <p:cNvSpPr/>
          <p:nvPr/>
        </p:nvSpPr>
        <p:spPr>
          <a:xfrm>
            <a:off x="7543800" y="1600200"/>
            <a:ext cx="3794760" cy="2560320"/>
          </a:xfrm>
          <a:prstGeom prst="rect">
            <a:avLst/>
          </a:prstGeom>
          <a:noFill/>
          <a:ln/>
        </p:spPr>
        <p:txBody>
          <a:bodyPr wrap="square" lIns="635" tIns="635" rIns="635" bIns="635" rtlCol="0" anchor="t">
            <a:normAutofit/>
          </a:bodyPr>
          <a:lstStyle/>
          <a:p>
            <a:r>
              <a:rPr lang="en-US" sz="1350" dirty="0">
                <a:solidFill>
                  <a:srgbClr val="1F2328"/>
                </a:solidFill>
                <a:latin typeface="Arial" pitchFamily="34" charset="0"/>
                <a:ea typeface="Arial" pitchFamily="34" charset="-122"/>
                <a:cs typeface="Arial" pitchFamily="34" charset="-120"/>
              </a:rPr>
              <a:t>Admin mở màn hình quản lý, hệ thống tải danh sách biểu phí và trạm tủ.
</a:t>
            </a:r>
            <a:endParaRPr lang="en-US" sz="1350" dirty="0"/>
          </a:p>
          <a:p>
            <a:r>
              <a:rPr lang="en-US" sz="1350" dirty="0">
                <a:solidFill>
                  <a:srgbClr val="1F2328"/>
                </a:solidFill>
                <a:latin typeface="Arial" pitchFamily="34" charset="0"/>
                <a:ea typeface="Arial" pitchFamily="34" charset="-122"/>
                <a:cs typeface="Arial" pitchFamily="34" charset="-120"/>
              </a:rPr>
              <a:t>Có 2 nhánh chính: cập nhật biểu phí hoặc cập nhật thông tin trạm tủ.
</a:t>
            </a:r>
            <a:endParaRPr lang="en-US" sz="1350" dirty="0"/>
          </a:p>
          <a:p>
            <a:r>
              <a:rPr lang="en-US" sz="1350" dirty="0">
                <a:solidFill>
                  <a:srgbClr val="1F2328"/>
                </a:solidFill>
                <a:latin typeface="Arial" pitchFamily="34" charset="0"/>
                <a:ea typeface="Arial" pitchFamily="34" charset="-122"/>
                <a:cs typeface="Arial" pitchFamily="34" charset="-120"/>
              </a:rPr>
              <a:t>Mỗi nhánh đều đi qua Ctrl_QuanTriHeThong và entity tương ứng.
</a:t>
            </a:r>
            <a:endParaRPr lang="en-US" sz="1350" dirty="0"/>
          </a:p>
          <a:p>
            <a:r>
              <a:rPr lang="en-US" sz="1350" dirty="0">
                <a:solidFill>
                  <a:srgbClr val="1F2328"/>
                </a:solidFill>
                <a:latin typeface="Arial" pitchFamily="34" charset="0"/>
                <a:ea typeface="Arial" pitchFamily="34" charset="-122"/>
                <a:cs typeface="Arial" pitchFamily="34" charset="-120"/>
              </a:rPr>
              <a:t>Kết quả thành công được phản hồi về giao diện quản trị.</a:t>
            </a:r>
            <a:endParaRPr lang="en-US" sz="1350" dirty="0"/>
          </a:p>
        </p:txBody>
      </p:sp>
      <p:sp>
        <p:nvSpPr>
          <p:cNvPr id="13" name="Text 10"/>
          <p:cNvSpPr/>
          <p:nvPr/>
        </p:nvSpPr>
        <p:spPr>
          <a:xfrm>
            <a:off x="7726680" y="4709160"/>
            <a:ext cx="3429000" cy="310896"/>
          </a:xfrm>
          <a:prstGeom prst="rect">
            <a:avLst/>
          </a:prstGeom>
          <a:solidFill>
            <a:srgbClr val="FFF3F3"/>
          </a:solidFill>
          <a:ln w="12700">
            <a:solidFill>
              <a:srgbClr val="B50915"/>
            </a:solidFill>
          </a:ln>
        </p:spPr>
        <p:txBody>
          <a:bodyPr wrap="square" lIns="508" tIns="508" rIns="508" bIns="508" rtlCol="0" anchor="ctr"/>
          <a:lstStyle/>
          <a:p>
            <a:pPr marL="0" indent="0" algn="ctr">
              <a:buNone/>
            </a:pPr>
            <a:r>
              <a:rPr lang="en-US" sz="1050" b="1" dirty="0">
                <a:solidFill>
                  <a:srgbClr val="B50915"/>
                </a:solidFill>
                <a:latin typeface="Arial" pitchFamily="34" charset="0"/>
                <a:ea typeface="Arial" pitchFamily="34" charset="-122"/>
                <a:cs typeface="Arial" pitchFamily="34" charset="-120"/>
              </a:rPr>
              <a:t>alt: cập nhật phí / cập nhật trạm</a:t>
            </a:r>
            <a:endParaRPr lang="en-US" sz="1050" dirty="0"/>
          </a:p>
        </p:txBody>
      </p:sp>
      <p:sp>
        <p:nvSpPr>
          <p:cNvPr id="14" name="Shape 11"/>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15" name="Text 12"/>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16" name="Text 13"/>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26</a:t>
            </a:r>
            <a:endParaRPr lang="en-US" sz="1000" dirty="0"/>
          </a:p>
        </p:txBody>
      </p:sp>
      <p:sp>
        <p:nvSpPr>
          <p:cNvPr id="17" name="Text 5">
            <a:extLst>
              <a:ext uri="{FF2B5EF4-FFF2-40B4-BE49-F238E27FC236}">
                <a16:creationId xmlns:a16="http://schemas.microsoft.com/office/drawing/2014/main" id="{78267F02-53CD-0226-6CC3-AB28806ED7B6}"/>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 PHÂN TÍCH HỆ THỐNG</a:t>
            </a:r>
          </a:p>
          <a:p>
            <a:pPr marL="0" indent="0">
              <a:buNone/>
            </a:pPr>
            <a:r>
              <a:rPr lang="en-US" sz="1200" b="1">
                <a:solidFill>
                  <a:srgbClr val="B50915"/>
                </a:solidFill>
                <a:latin typeface="Arial" pitchFamily="34" charset="0"/>
                <a:cs typeface="Arial" pitchFamily="34" charset="-120"/>
              </a:rPr>
              <a:t>2.3 Phân tích hành vi (Mô hình hóa Trình tự)</a:t>
            </a:r>
            <a:endParaRPr lang="en-US" sz="1200" dirty="0"/>
          </a:p>
        </p:txBody>
      </p:sp>
      <p:pic>
        <p:nvPicPr>
          <p:cNvPr id="18" name="Hình ảnh 17" descr="Ảnh có chứa văn bản, biểu đồ, số, Song song">
            <a:extLst>
              <a:ext uri="{FF2B5EF4-FFF2-40B4-BE49-F238E27FC236}">
                <a16:creationId xmlns:a16="http://schemas.microsoft.com/office/drawing/2014/main" id="{2042FDEA-874E-07EA-80CC-E1ADC1AEE136}"/>
              </a:ext>
            </a:extLst>
          </p:cNvPr>
          <p:cNvPicPr>
            <a:picLocks noChangeAspect="1"/>
          </p:cNvPicPr>
          <p:nvPr/>
        </p:nvPicPr>
        <p:blipFill>
          <a:blip r:embed="rId3"/>
          <a:stretch>
            <a:fillRect/>
          </a:stretch>
        </p:blipFill>
        <p:spPr>
          <a:xfrm>
            <a:off x="1462782" y="1081988"/>
            <a:ext cx="4769115" cy="532574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7">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III</a:t>
            </a:r>
            <a:endParaRPr lang="en-US" sz="750" dirty="0"/>
          </a:p>
        </p:txBody>
      </p:sp>
      <p:sp>
        <p:nvSpPr>
          <p:cNvPr id="8" name="Text 6"/>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a:solidFill>
                  <a:srgbClr val="1F2328"/>
                </a:solidFill>
                <a:latin typeface="Arial" pitchFamily="34" charset="0"/>
                <a:ea typeface="Arial" pitchFamily="34" charset="-122"/>
                <a:cs typeface="Arial" pitchFamily="34" charset="-120"/>
              </a:rPr>
              <a:t>Mục đích của thiết kế lớp chi tiết</a:t>
            </a:r>
            <a:endParaRPr lang="en-US" sz="2400" dirty="0"/>
          </a:p>
        </p:txBody>
      </p:sp>
      <p:sp>
        <p:nvSpPr>
          <p:cNvPr id="9" name="Shape 7"/>
          <p:cNvSpPr/>
          <p:nvPr/>
        </p:nvSpPr>
        <p:spPr>
          <a:xfrm>
            <a:off x="502920" y="1023200"/>
            <a:ext cx="1188720" cy="0"/>
          </a:xfrm>
          <a:prstGeom prst="line">
            <a:avLst/>
          </a:prstGeom>
          <a:noFill/>
          <a:ln w="27940">
            <a:solidFill>
              <a:srgbClr val="B50915"/>
            </a:solidFill>
            <a:prstDash val="solid"/>
          </a:ln>
        </p:spPr>
        <p:txBody>
          <a:bodyPr/>
          <a:lstStyle/>
          <a:p>
            <a:endParaRPr lang="vi-VN"/>
          </a:p>
        </p:txBody>
      </p:sp>
      <p:sp>
        <p:nvSpPr>
          <p:cNvPr id="10" name="Text 8"/>
          <p:cNvSpPr/>
          <p:nvPr/>
        </p:nvSpPr>
        <p:spPr>
          <a:xfrm>
            <a:off x="914400" y="1325880"/>
            <a:ext cx="10241280" cy="457200"/>
          </a:xfrm>
          <a:prstGeom prst="rect">
            <a:avLst/>
          </a:prstGeom>
          <a:noFill/>
          <a:ln/>
        </p:spPr>
        <p:txBody>
          <a:bodyPr wrap="square" lIns="762" tIns="762" rIns="762" bIns="762" rtlCol="0" anchor="t">
            <a:normAutofit/>
          </a:bodyPr>
          <a:lstStyle/>
          <a:p>
            <a:pPr marL="0" indent="0" algn="ctr">
              <a:buNone/>
            </a:pPr>
            <a:r>
              <a:rPr lang="en-US" sz="2000" b="1" dirty="0">
                <a:solidFill>
                  <a:srgbClr val="1F2328"/>
                </a:solidFill>
                <a:latin typeface="Arial" pitchFamily="34" charset="0"/>
                <a:ea typeface="Arial" pitchFamily="34" charset="-122"/>
                <a:cs typeface="Arial" pitchFamily="34" charset="-120"/>
              </a:rPr>
              <a:t>Từ mô hình phân tích sang bản thiết kế có thể cài đặt</a:t>
            </a:r>
            <a:endParaRPr lang="en-US" sz="2000" dirty="0"/>
          </a:p>
        </p:txBody>
      </p:sp>
      <p:sp>
        <p:nvSpPr>
          <p:cNvPr id="11" name="Text 9"/>
          <p:cNvSpPr/>
          <p:nvPr/>
        </p:nvSpPr>
        <p:spPr>
          <a:xfrm>
            <a:off x="914400" y="2331720"/>
            <a:ext cx="1960474"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Lớp phân tích</a:t>
            </a:r>
            <a:endParaRPr lang="en-US" sz="1050" dirty="0"/>
          </a:p>
        </p:txBody>
      </p:sp>
      <p:sp>
        <p:nvSpPr>
          <p:cNvPr id="12" name="Shape 10"/>
          <p:cNvSpPr/>
          <p:nvPr/>
        </p:nvSpPr>
        <p:spPr>
          <a:xfrm>
            <a:off x="2893162" y="2615184"/>
            <a:ext cx="73152" cy="0"/>
          </a:xfrm>
          <a:prstGeom prst="line">
            <a:avLst/>
          </a:prstGeom>
          <a:noFill/>
          <a:ln w="17780">
            <a:solidFill>
              <a:srgbClr val="B50915"/>
            </a:solidFill>
            <a:prstDash val="solid"/>
            <a:headEnd type="none"/>
            <a:tailEnd type="triangle"/>
          </a:ln>
        </p:spPr>
        <p:txBody>
          <a:bodyPr/>
          <a:lstStyle/>
          <a:p>
            <a:endParaRPr lang="vi-VN"/>
          </a:p>
        </p:txBody>
      </p:sp>
      <p:sp>
        <p:nvSpPr>
          <p:cNvPr id="13" name="Text 11"/>
          <p:cNvSpPr/>
          <p:nvPr/>
        </p:nvSpPr>
        <p:spPr>
          <a:xfrm>
            <a:off x="2984602" y="2331720"/>
            <a:ext cx="1960474"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Thuộc tính + phương thức</a:t>
            </a:r>
            <a:endParaRPr lang="en-US" sz="1050" dirty="0"/>
          </a:p>
        </p:txBody>
      </p:sp>
      <p:sp>
        <p:nvSpPr>
          <p:cNvPr id="14" name="Shape 12"/>
          <p:cNvSpPr/>
          <p:nvPr/>
        </p:nvSpPr>
        <p:spPr>
          <a:xfrm>
            <a:off x="4963363" y="2615184"/>
            <a:ext cx="73152" cy="0"/>
          </a:xfrm>
          <a:prstGeom prst="line">
            <a:avLst/>
          </a:prstGeom>
          <a:noFill/>
          <a:ln w="17780">
            <a:solidFill>
              <a:srgbClr val="B50915"/>
            </a:solidFill>
            <a:prstDash val="solid"/>
            <a:headEnd type="none"/>
            <a:tailEnd type="triangle"/>
          </a:ln>
        </p:spPr>
        <p:txBody>
          <a:bodyPr/>
          <a:lstStyle/>
          <a:p>
            <a:endParaRPr lang="vi-VN"/>
          </a:p>
        </p:txBody>
      </p:sp>
      <p:sp>
        <p:nvSpPr>
          <p:cNvPr id="15" name="Text 13"/>
          <p:cNvSpPr/>
          <p:nvPr/>
        </p:nvSpPr>
        <p:spPr>
          <a:xfrm>
            <a:off x="5054803" y="2331720"/>
            <a:ext cx="1960474"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Bội số quan hệ</a:t>
            </a:r>
            <a:endParaRPr lang="en-US" sz="1050" dirty="0"/>
          </a:p>
        </p:txBody>
      </p:sp>
      <p:sp>
        <p:nvSpPr>
          <p:cNvPr id="16" name="Shape 14"/>
          <p:cNvSpPr/>
          <p:nvPr/>
        </p:nvSpPr>
        <p:spPr>
          <a:xfrm>
            <a:off x="7033565" y="2615184"/>
            <a:ext cx="73152" cy="0"/>
          </a:xfrm>
          <a:prstGeom prst="line">
            <a:avLst/>
          </a:prstGeom>
          <a:noFill/>
          <a:ln w="17780">
            <a:solidFill>
              <a:srgbClr val="B50915"/>
            </a:solidFill>
            <a:prstDash val="solid"/>
            <a:headEnd type="none"/>
            <a:tailEnd type="triangle"/>
          </a:ln>
        </p:spPr>
        <p:txBody>
          <a:bodyPr/>
          <a:lstStyle/>
          <a:p>
            <a:endParaRPr lang="vi-VN"/>
          </a:p>
        </p:txBody>
      </p:sp>
      <p:sp>
        <p:nvSpPr>
          <p:cNvPr id="17" name="Text 15"/>
          <p:cNvSpPr/>
          <p:nvPr/>
        </p:nvSpPr>
        <p:spPr>
          <a:xfrm>
            <a:off x="7125005" y="2331720"/>
            <a:ext cx="1960474"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Khóa ngoại cài đặt</a:t>
            </a:r>
            <a:endParaRPr lang="en-US" sz="1050" dirty="0"/>
          </a:p>
        </p:txBody>
      </p:sp>
      <p:sp>
        <p:nvSpPr>
          <p:cNvPr id="18" name="Shape 16"/>
          <p:cNvSpPr/>
          <p:nvPr/>
        </p:nvSpPr>
        <p:spPr>
          <a:xfrm>
            <a:off x="9103766" y="2615184"/>
            <a:ext cx="73152" cy="0"/>
          </a:xfrm>
          <a:prstGeom prst="line">
            <a:avLst/>
          </a:prstGeom>
          <a:noFill/>
          <a:ln w="17780">
            <a:solidFill>
              <a:srgbClr val="B50915"/>
            </a:solidFill>
            <a:prstDash val="solid"/>
            <a:headEnd type="none"/>
            <a:tailEnd type="triangle"/>
          </a:ln>
        </p:spPr>
        <p:txBody>
          <a:bodyPr/>
          <a:lstStyle/>
          <a:p>
            <a:endParaRPr lang="vi-VN"/>
          </a:p>
        </p:txBody>
      </p:sp>
      <p:sp>
        <p:nvSpPr>
          <p:cNvPr id="19" name="Text 17"/>
          <p:cNvSpPr/>
          <p:nvPr/>
        </p:nvSpPr>
        <p:spPr>
          <a:xfrm>
            <a:off x="9195206" y="2331720"/>
            <a:ext cx="1960474"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CSDL quan hệ</a:t>
            </a:r>
            <a:endParaRPr lang="en-US" sz="1050" dirty="0"/>
          </a:p>
        </p:txBody>
      </p:sp>
      <p:sp>
        <p:nvSpPr>
          <p:cNvPr id="20" name="Text 18"/>
          <p:cNvSpPr/>
          <p:nvPr/>
        </p:nvSpPr>
        <p:spPr>
          <a:xfrm>
            <a:off x="1005840" y="3657600"/>
            <a:ext cx="10012680" cy="1554480"/>
          </a:xfrm>
          <a:prstGeom prst="rect">
            <a:avLst/>
          </a:prstGeom>
          <a:noFill/>
          <a:ln/>
        </p:spPr>
        <p:txBody>
          <a:bodyPr wrap="square" lIns="635" tIns="635" rIns="635" bIns="635" rtlCol="0" anchor="t">
            <a:normAutofit lnSpcReduction="10000"/>
          </a:bodyPr>
          <a:lstStyle/>
          <a:p>
            <a:r>
              <a:rPr lang="en-US" sz="1500" dirty="0">
                <a:solidFill>
                  <a:srgbClr val="1F2328"/>
                </a:solidFill>
                <a:latin typeface="Arial" pitchFamily="34" charset="0"/>
                <a:ea typeface="Arial" pitchFamily="34" charset="-122"/>
                <a:cs typeface="Arial" pitchFamily="34" charset="-120"/>
              </a:rPr>
              <a:t>Tập trung đặc tả các lớp thực thể trường cửu vì chúng ánh xạ trực tiếp xuống cơ sở dữ liệu.
</a:t>
            </a:r>
            <a:endParaRPr lang="en-US" sz="1500" dirty="0"/>
          </a:p>
          <a:p>
            <a:r>
              <a:rPr lang="en-US" sz="1500" dirty="0">
                <a:solidFill>
                  <a:srgbClr val="1F2328"/>
                </a:solidFill>
                <a:latin typeface="Arial" pitchFamily="34" charset="0"/>
                <a:ea typeface="Arial" pitchFamily="34" charset="-122"/>
                <a:cs typeface="Arial" pitchFamily="34" charset="-120"/>
              </a:rPr>
              <a:t>Phân nhóm entity: định danh người dùng, hạ tầng tủ vật lý, giao dịch và thanh toán.
</a:t>
            </a:r>
            <a:endParaRPr lang="en-US" sz="1500" dirty="0"/>
          </a:p>
          <a:p>
            <a:r>
              <a:rPr lang="en-US" sz="1500" dirty="0">
                <a:solidFill>
                  <a:srgbClr val="1F2328"/>
                </a:solidFill>
                <a:latin typeface="Arial" pitchFamily="34" charset="0"/>
                <a:ea typeface="Arial" pitchFamily="34" charset="-122"/>
                <a:cs typeface="Arial" pitchFamily="34" charset="-120"/>
              </a:rPr>
              <a:t>GiaoDich và NganTu là hai lớp trung tâm trong vòng đời bưu kiện.
</a:t>
            </a:r>
            <a:endParaRPr lang="en-US" sz="1500" dirty="0"/>
          </a:p>
          <a:p>
            <a:r>
              <a:rPr lang="en-US" sz="1500" dirty="0">
                <a:solidFill>
                  <a:srgbClr val="1F2328"/>
                </a:solidFill>
                <a:latin typeface="Arial" pitchFamily="34" charset="0"/>
                <a:ea typeface="Arial" pitchFamily="34" charset="-122"/>
                <a:cs typeface="Arial" pitchFamily="34" charset="-120"/>
              </a:rPr>
              <a:t>Quy ước: dấu “-” là private, dấu “+” là public.</a:t>
            </a:r>
            <a:endParaRPr lang="en-US" sz="1500" dirty="0"/>
          </a:p>
        </p:txBody>
      </p:sp>
      <p:sp>
        <p:nvSpPr>
          <p:cNvPr id="21" name="Shape 19"/>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22" name="Text 20"/>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23" name="Text 21"/>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27</a:t>
            </a:r>
            <a:endParaRPr lang="en-US" sz="1000" dirty="0"/>
          </a:p>
        </p:txBody>
      </p:sp>
      <p:sp>
        <p:nvSpPr>
          <p:cNvPr id="24" name="Text 5">
            <a:extLst>
              <a:ext uri="{FF2B5EF4-FFF2-40B4-BE49-F238E27FC236}">
                <a16:creationId xmlns:a16="http://schemas.microsoft.com/office/drawing/2014/main" id="{EF47A2C9-93A1-1805-DD09-280552850FED}"/>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III: THIẾT KẾ HỆ THỐNG</a:t>
            </a:r>
          </a:p>
          <a:p>
            <a:pPr marL="0" indent="0">
              <a:buNone/>
            </a:pPr>
            <a:r>
              <a:rPr lang="en-US" sz="1200" b="1">
                <a:solidFill>
                  <a:srgbClr val="B50915"/>
                </a:solidFill>
                <a:latin typeface="Arial" pitchFamily="34" charset="0"/>
                <a:cs typeface="Arial" pitchFamily="34" charset="-120"/>
              </a:rPr>
              <a:t>3.1  Thiết kế lớp chi tiết</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III</a:t>
            </a:r>
            <a:endParaRPr lang="en-US" sz="750" dirty="0"/>
          </a:p>
        </p:txBody>
      </p:sp>
      <p:sp>
        <p:nvSpPr>
          <p:cNvPr id="8" name="Text 6"/>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vi-VN" sz="2400" b="1">
                <a:solidFill>
                  <a:srgbClr val="1F2328"/>
                </a:solidFill>
                <a:latin typeface="Arial" pitchFamily="34" charset="0"/>
                <a:ea typeface="Arial" pitchFamily="34" charset="-122"/>
                <a:cs typeface="Arial" pitchFamily="34" charset="-120"/>
              </a:rPr>
              <a:t>Các lớp thực thể được quy hoạch thành ba nhóm:</a:t>
            </a:r>
            <a:endParaRPr lang="en-US" sz="2400" dirty="0"/>
          </a:p>
        </p:txBody>
      </p:sp>
      <p:sp>
        <p:nvSpPr>
          <p:cNvPr id="9" name="Shape 7"/>
          <p:cNvSpPr/>
          <p:nvPr/>
        </p:nvSpPr>
        <p:spPr>
          <a:xfrm>
            <a:off x="502920" y="1029023"/>
            <a:ext cx="1188720" cy="0"/>
          </a:xfrm>
          <a:prstGeom prst="line">
            <a:avLst/>
          </a:prstGeom>
          <a:noFill/>
          <a:ln w="27940">
            <a:solidFill>
              <a:srgbClr val="B50915"/>
            </a:solidFill>
            <a:prstDash val="solid"/>
          </a:ln>
        </p:spPr>
        <p:txBody>
          <a:bodyPr/>
          <a:lstStyle/>
          <a:p>
            <a:endParaRPr lang="vi-VN"/>
          </a:p>
        </p:txBody>
      </p:sp>
      <p:sp>
        <p:nvSpPr>
          <p:cNvPr id="10" name="Text 8"/>
          <p:cNvSpPr/>
          <p:nvPr/>
        </p:nvSpPr>
        <p:spPr>
          <a:xfrm>
            <a:off x="411480" y="2522890"/>
            <a:ext cx="3154680" cy="384048"/>
          </a:xfrm>
          <a:prstGeom prst="rect">
            <a:avLst/>
          </a:prstGeom>
          <a:solidFill>
            <a:srgbClr val="B50915"/>
          </a:solidFill>
          <a:ln>
            <a:solidFill>
              <a:srgbClr val="B50915"/>
            </a:solidFill>
          </a:ln>
        </p:spPr>
        <p:txBody>
          <a:bodyPr wrap="square" lIns="254" tIns="254" rIns="254" bIns="254"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KhachHang</a:t>
            </a:r>
            <a:endParaRPr lang="en-US" sz="1600" dirty="0"/>
          </a:p>
        </p:txBody>
      </p:sp>
      <p:sp>
        <p:nvSpPr>
          <p:cNvPr id="11" name="Text 9"/>
          <p:cNvSpPr/>
          <p:nvPr/>
        </p:nvSpPr>
        <p:spPr>
          <a:xfrm>
            <a:off x="411480" y="2961802"/>
            <a:ext cx="3154680" cy="566928"/>
          </a:xfrm>
          <a:prstGeom prst="rect">
            <a:avLst/>
          </a:prstGeom>
          <a:solidFill>
            <a:srgbClr val="FFFFFF"/>
          </a:solidFill>
          <a:ln>
            <a:solidFill>
              <a:srgbClr val="D9DDE3"/>
            </a:solidFill>
          </a:ln>
        </p:spPr>
        <p:txBody>
          <a:bodyPr wrap="square" lIns="762" tIns="762" rIns="762" bIns="762" rtlCol="0" anchor="ctr">
            <a:normAutofit/>
          </a:bodyPr>
          <a:lstStyle/>
          <a:p>
            <a:pPr marL="0" indent="0" algn="ctr">
              <a:buNone/>
            </a:pPr>
            <a:r>
              <a:rPr lang="en-US" sz="1250" dirty="0">
                <a:solidFill>
                  <a:srgbClr val="1F2328"/>
                </a:solidFill>
                <a:latin typeface="Arial" pitchFamily="34" charset="0"/>
                <a:ea typeface="Arial" pitchFamily="34" charset="-122"/>
                <a:cs typeface="Arial" pitchFamily="34" charset="-120"/>
              </a:rPr>
              <a:t>Định danh tài khoản, phân quyền vai trò</a:t>
            </a:r>
            <a:endParaRPr lang="en-US" sz="1250" dirty="0"/>
          </a:p>
        </p:txBody>
      </p:sp>
      <p:sp>
        <p:nvSpPr>
          <p:cNvPr id="12" name="Text 10"/>
          <p:cNvSpPr/>
          <p:nvPr/>
        </p:nvSpPr>
        <p:spPr>
          <a:xfrm>
            <a:off x="4396653" y="2536592"/>
            <a:ext cx="3154680" cy="384048"/>
          </a:xfrm>
          <a:prstGeom prst="rect">
            <a:avLst/>
          </a:prstGeom>
          <a:solidFill>
            <a:srgbClr val="B50915"/>
          </a:solidFill>
          <a:ln>
            <a:solidFill>
              <a:srgbClr val="B50915"/>
            </a:solidFill>
          </a:ln>
        </p:spPr>
        <p:txBody>
          <a:bodyPr wrap="square" lIns="254" tIns="254" rIns="254" bIns="254"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TramTu</a:t>
            </a:r>
            <a:endParaRPr lang="en-US" sz="1600" dirty="0"/>
          </a:p>
        </p:txBody>
      </p:sp>
      <p:sp>
        <p:nvSpPr>
          <p:cNvPr id="13" name="Text 11"/>
          <p:cNvSpPr/>
          <p:nvPr/>
        </p:nvSpPr>
        <p:spPr>
          <a:xfrm>
            <a:off x="4396653" y="2975504"/>
            <a:ext cx="3154680" cy="566928"/>
          </a:xfrm>
          <a:prstGeom prst="rect">
            <a:avLst/>
          </a:prstGeom>
          <a:solidFill>
            <a:srgbClr val="FFFFFF"/>
          </a:solidFill>
          <a:ln>
            <a:solidFill>
              <a:srgbClr val="D9DDE3"/>
            </a:solidFill>
          </a:ln>
        </p:spPr>
        <p:txBody>
          <a:bodyPr wrap="square" lIns="762" tIns="762" rIns="762" bIns="762" rtlCol="0" anchor="ctr">
            <a:normAutofit/>
          </a:bodyPr>
          <a:lstStyle/>
          <a:p>
            <a:pPr marL="0" indent="0" algn="ctr">
              <a:buNone/>
            </a:pPr>
            <a:r>
              <a:rPr lang="en-US" sz="1250" dirty="0">
                <a:solidFill>
                  <a:srgbClr val="1F2328"/>
                </a:solidFill>
                <a:latin typeface="Arial" pitchFamily="34" charset="0"/>
                <a:ea typeface="Arial" pitchFamily="34" charset="-122"/>
                <a:cs typeface="Arial" pitchFamily="34" charset="-120"/>
              </a:rPr>
              <a:t>Vị trí và trạng thái cụm tủ</a:t>
            </a:r>
            <a:endParaRPr lang="en-US" sz="1250" dirty="0"/>
          </a:p>
        </p:txBody>
      </p:sp>
      <p:sp>
        <p:nvSpPr>
          <p:cNvPr id="14" name="Text 12"/>
          <p:cNvSpPr/>
          <p:nvPr/>
        </p:nvSpPr>
        <p:spPr>
          <a:xfrm>
            <a:off x="4403349" y="3734455"/>
            <a:ext cx="3154680" cy="384048"/>
          </a:xfrm>
          <a:prstGeom prst="rect">
            <a:avLst/>
          </a:prstGeom>
          <a:solidFill>
            <a:srgbClr val="B50915"/>
          </a:solidFill>
          <a:ln>
            <a:solidFill>
              <a:srgbClr val="B50915"/>
            </a:solidFill>
          </a:ln>
        </p:spPr>
        <p:txBody>
          <a:bodyPr wrap="square" lIns="254" tIns="254" rIns="254" bIns="254"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LoaiNganTu</a:t>
            </a:r>
            <a:endParaRPr lang="en-US" sz="1600" dirty="0"/>
          </a:p>
        </p:txBody>
      </p:sp>
      <p:sp>
        <p:nvSpPr>
          <p:cNvPr id="15" name="Text 13"/>
          <p:cNvSpPr/>
          <p:nvPr/>
        </p:nvSpPr>
        <p:spPr>
          <a:xfrm>
            <a:off x="4403349" y="4173367"/>
            <a:ext cx="3154680" cy="566928"/>
          </a:xfrm>
          <a:prstGeom prst="rect">
            <a:avLst/>
          </a:prstGeom>
          <a:solidFill>
            <a:srgbClr val="FFFFFF"/>
          </a:solidFill>
          <a:ln>
            <a:solidFill>
              <a:srgbClr val="D9DDE3"/>
            </a:solidFill>
          </a:ln>
        </p:spPr>
        <p:txBody>
          <a:bodyPr wrap="square" lIns="762" tIns="762" rIns="762" bIns="762" rtlCol="0" anchor="ctr">
            <a:normAutofit/>
          </a:bodyPr>
          <a:lstStyle/>
          <a:p>
            <a:pPr marL="0" indent="0" algn="ctr">
              <a:buNone/>
            </a:pPr>
            <a:r>
              <a:rPr lang="en-US" sz="1250" dirty="0">
                <a:solidFill>
                  <a:srgbClr val="1F2328"/>
                </a:solidFill>
                <a:latin typeface="Arial" pitchFamily="34" charset="0"/>
                <a:ea typeface="Arial" pitchFamily="34" charset="-122"/>
                <a:cs typeface="Arial" pitchFamily="34" charset="-120"/>
              </a:rPr>
              <a:t>Kích thước S/M/L và biểu phí</a:t>
            </a:r>
            <a:endParaRPr lang="en-US" sz="1250" dirty="0"/>
          </a:p>
        </p:txBody>
      </p:sp>
      <p:sp>
        <p:nvSpPr>
          <p:cNvPr id="16" name="Text 14"/>
          <p:cNvSpPr/>
          <p:nvPr/>
        </p:nvSpPr>
        <p:spPr>
          <a:xfrm>
            <a:off x="4413427" y="4946853"/>
            <a:ext cx="3154680" cy="384048"/>
          </a:xfrm>
          <a:prstGeom prst="rect">
            <a:avLst/>
          </a:prstGeom>
          <a:solidFill>
            <a:srgbClr val="B50915"/>
          </a:solidFill>
          <a:ln>
            <a:solidFill>
              <a:srgbClr val="B50915"/>
            </a:solidFill>
          </a:ln>
        </p:spPr>
        <p:txBody>
          <a:bodyPr wrap="square" lIns="254" tIns="254" rIns="254" bIns="254"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NganTu</a:t>
            </a:r>
            <a:endParaRPr lang="en-US" sz="1600" dirty="0"/>
          </a:p>
        </p:txBody>
      </p:sp>
      <p:sp>
        <p:nvSpPr>
          <p:cNvPr id="17" name="Text 15"/>
          <p:cNvSpPr/>
          <p:nvPr/>
        </p:nvSpPr>
        <p:spPr>
          <a:xfrm>
            <a:off x="4413427" y="5385765"/>
            <a:ext cx="3154680" cy="566928"/>
          </a:xfrm>
          <a:prstGeom prst="rect">
            <a:avLst/>
          </a:prstGeom>
          <a:solidFill>
            <a:srgbClr val="FFFFFF"/>
          </a:solidFill>
          <a:ln>
            <a:solidFill>
              <a:srgbClr val="D9DDE3"/>
            </a:solidFill>
          </a:ln>
        </p:spPr>
        <p:txBody>
          <a:bodyPr wrap="square" lIns="762" tIns="762" rIns="762" bIns="762" rtlCol="0" anchor="ctr">
            <a:normAutofit/>
          </a:bodyPr>
          <a:lstStyle/>
          <a:p>
            <a:pPr marL="0" indent="0" algn="ctr">
              <a:buNone/>
            </a:pPr>
            <a:r>
              <a:rPr lang="en-US" sz="1250" dirty="0">
                <a:solidFill>
                  <a:srgbClr val="1F2328"/>
                </a:solidFill>
                <a:latin typeface="Arial" pitchFamily="34" charset="0"/>
                <a:ea typeface="Arial" pitchFamily="34" charset="-122"/>
                <a:cs typeface="Arial" pitchFamily="34" charset="-120"/>
              </a:rPr>
              <a:t>Trạng thái từng ô ngăn vật lý</a:t>
            </a:r>
            <a:endParaRPr lang="en-US" sz="1250" dirty="0"/>
          </a:p>
        </p:txBody>
      </p:sp>
      <p:sp>
        <p:nvSpPr>
          <p:cNvPr id="18" name="Text 16"/>
          <p:cNvSpPr/>
          <p:nvPr/>
        </p:nvSpPr>
        <p:spPr>
          <a:xfrm>
            <a:off x="8277411" y="2551291"/>
            <a:ext cx="3154680" cy="384048"/>
          </a:xfrm>
          <a:prstGeom prst="rect">
            <a:avLst/>
          </a:prstGeom>
          <a:solidFill>
            <a:srgbClr val="B50915"/>
          </a:solidFill>
          <a:ln>
            <a:solidFill>
              <a:srgbClr val="B50915"/>
            </a:solidFill>
          </a:ln>
        </p:spPr>
        <p:txBody>
          <a:bodyPr wrap="square" lIns="254" tIns="254" rIns="254" bIns="254"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GiaoDich</a:t>
            </a:r>
            <a:endParaRPr lang="en-US" sz="1600" dirty="0"/>
          </a:p>
        </p:txBody>
      </p:sp>
      <p:sp>
        <p:nvSpPr>
          <p:cNvPr id="19" name="Text 17"/>
          <p:cNvSpPr/>
          <p:nvPr/>
        </p:nvSpPr>
        <p:spPr>
          <a:xfrm>
            <a:off x="8277411" y="2990203"/>
            <a:ext cx="3154680" cy="566928"/>
          </a:xfrm>
          <a:prstGeom prst="rect">
            <a:avLst/>
          </a:prstGeom>
          <a:solidFill>
            <a:srgbClr val="FFFFFF"/>
          </a:solidFill>
          <a:ln>
            <a:solidFill>
              <a:srgbClr val="D9DDE3"/>
            </a:solidFill>
          </a:ln>
        </p:spPr>
        <p:txBody>
          <a:bodyPr wrap="square" lIns="762" tIns="762" rIns="762" bIns="762" rtlCol="0" anchor="ctr">
            <a:normAutofit/>
          </a:bodyPr>
          <a:lstStyle/>
          <a:p>
            <a:pPr marL="0" indent="0" algn="ctr">
              <a:buNone/>
            </a:pPr>
            <a:r>
              <a:rPr lang="en-US" sz="1250" dirty="0">
                <a:solidFill>
                  <a:srgbClr val="1F2328"/>
                </a:solidFill>
                <a:latin typeface="Arial" pitchFamily="34" charset="0"/>
                <a:ea typeface="Arial" pitchFamily="34" charset="-122"/>
                <a:cs typeface="Arial" pitchFamily="34" charset="-120"/>
              </a:rPr>
              <a:t>Vòng đời bưu kiện / đơn thuê tủ</a:t>
            </a:r>
            <a:endParaRPr lang="en-US" sz="1250" dirty="0"/>
          </a:p>
        </p:txBody>
      </p:sp>
      <p:sp>
        <p:nvSpPr>
          <p:cNvPr id="20" name="Text 18"/>
          <p:cNvSpPr/>
          <p:nvPr/>
        </p:nvSpPr>
        <p:spPr>
          <a:xfrm>
            <a:off x="8310937" y="3758946"/>
            <a:ext cx="3154680" cy="384048"/>
          </a:xfrm>
          <a:prstGeom prst="rect">
            <a:avLst/>
          </a:prstGeom>
          <a:solidFill>
            <a:srgbClr val="B50915"/>
          </a:solidFill>
          <a:ln>
            <a:solidFill>
              <a:srgbClr val="B50915"/>
            </a:solidFill>
          </a:ln>
        </p:spPr>
        <p:txBody>
          <a:bodyPr wrap="square" lIns="254" tIns="254" rIns="254" bIns="254"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ThanhToan</a:t>
            </a:r>
            <a:endParaRPr lang="en-US" sz="1600" dirty="0"/>
          </a:p>
        </p:txBody>
      </p:sp>
      <p:sp>
        <p:nvSpPr>
          <p:cNvPr id="21" name="Text 19"/>
          <p:cNvSpPr/>
          <p:nvPr/>
        </p:nvSpPr>
        <p:spPr>
          <a:xfrm>
            <a:off x="8310937" y="4197858"/>
            <a:ext cx="3154680" cy="566928"/>
          </a:xfrm>
          <a:prstGeom prst="rect">
            <a:avLst/>
          </a:prstGeom>
          <a:solidFill>
            <a:srgbClr val="FFFFFF"/>
          </a:solidFill>
          <a:ln>
            <a:solidFill>
              <a:srgbClr val="D9DDE3"/>
            </a:solidFill>
          </a:ln>
        </p:spPr>
        <p:txBody>
          <a:bodyPr wrap="square" lIns="762" tIns="762" rIns="762" bIns="762" rtlCol="0" anchor="ctr">
            <a:normAutofit/>
          </a:bodyPr>
          <a:lstStyle/>
          <a:p>
            <a:pPr marL="0" indent="0" algn="ctr">
              <a:buNone/>
            </a:pPr>
            <a:r>
              <a:rPr lang="en-US" sz="1250" dirty="0">
                <a:solidFill>
                  <a:srgbClr val="1F2328"/>
                </a:solidFill>
                <a:latin typeface="Arial" pitchFamily="34" charset="0"/>
                <a:ea typeface="Arial" pitchFamily="34" charset="-122"/>
                <a:cs typeface="Arial" pitchFamily="34" charset="-120"/>
              </a:rPr>
              <a:t>Chứng từ và lịch sử dòng tiền</a:t>
            </a:r>
            <a:endParaRPr lang="en-US" sz="1250" dirty="0"/>
          </a:p>
        </p:txBody>
      </p:sp>
      <p:sp>
        <p:nvSpPr>
          <p:cNvPr id="22" name="Text 20"/>
          <p:cNvSpPr/>
          <p:nvPr/>
        </p:nvSpPr>
        <p:spPr>
          <a:xfrm>
            <a:off x="1121511" y="6023449"/>
            <a:ext cx="10058400" cy="411480"/>
          </a:xfrm>
          <a:prstGeom prst="rect">
            <a:avLst/>
          </a:prstGeom>
          <a:noFill/>
          <a:ln/>
        </p:spPr>
        <p:txBody>
          <a:bodyPr wrap="square" lIns="762" tIns="762" rIns="762" bIns="762" rtlCol="0" anchor="t">
            <a:normAutofit fontScale="92500"/>
          </a:bodyPr>
          <a:lstStyle/>
          <a:p>
            <a:pPr marL="0" indent="0" algn="ctr">
              <a:buNone/>
            </a:pPr>
            <a:r>
              <a:rPr lang="en-US" sz="1550" b="1" dirty="0">
                <a:solidFill>
                  <a:srgbClr val="1F2328"/>
                </a:solidFill>
                <a:latin typeface="Arial" pitchFamily="34" charset="0"/>
                <a:ea typeface="Arial" pitchFamily="34" charset="-122"/>
                <a:cs typeface="Arial" pitchFamily="34" charset="-120"/>
              </a:rPr>
              <a:t>Thiết kế chọn 6 entity đủ để bao phủ toàn bộ nghiệp vụ: người dùng → trạm/ngăn → giao dịch → thanh toán.</a:t>
            </a:r>
            <a:endParaRPr lang="en-US" sz="1550" dirty="0"/>
          </a:p>
        </p:txBody>
      </p:sp>
      <p:sp>
        <p:nvSpPr>
          <p:cNvPr id="23" name="Shape 21"/>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24" name="Text 22"/>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25" name="Text 23"/>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28</a:t>
            </a:r>
            <a:endParaRPr lang="en-US" sz="1000" dirty="0"/>
          </a:p>
        </p:txBody>
      </p:sp>
      <p:sp>
        <p:nvSpPr>
          <p:cNvPr id="26" name="Text 5">
            <a:extLst>
              <a:ext uri="{FF2B5EF4-FFF2-40B4-BE49-F238E27FC236}">
                <a16:creationId xmlns:a16="http://schemas.microsoft.com/office/drawing/2014/main" id="{F4468135-235D-8C97-90CF-C155185922F3}"/>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III: THIẾT KẾ HỆ THỐNG</a:t>
            </a:r>
          </a:p>
          <a:p>
            <a:pPr marL="0" indent="0">
              <a:buNone/>
            </a:pPr>
            <a:r>
              <a:rPr lang="en-US" sz="1200" b="1">
                <a:solidFill>
                  <a:srgbClr val="B50915"/>
                </a:solidFill>
                <a:latin typeface="Arial" pitchFamily="34" charset="0"/>
                <a:cs typeface="Arial" pitchFamily="34" charset="-120"/>
              </a:rPr>
              <a:t>3.1  Thiết kế lớp chi tiết</a:t>
            </a:r>
            <a:endParaRPr lang="en-US" sz="1200" dirty="0"/>
          </a:p>
        </p:txBody>
      </p:sp>
      <p:sp>
        <p:nvSpPr>
          <p:cNvPr id="28" name="Shape 14">
            <a:extLst>
              <a:ext uri="{FF2B5EF4-FFF2-40B4-BE49-F238E27FC236}">
                <a16:creationId xmlns:a16="http://schemas.microsoft.com/office/drawing/2014/main" id="{A0F6F3C1-1010-4186-A5FC-DF9A547ACFCE}"/>
              </a:ext>
            </a:extLst>
          </p:cNvPr>
          <p:cNvSpPr/>
          <p:nvPr/>
        </p:nvSpPr>
        <p:spPr>
          <a:xfrm>
            <a:off x="1006929" y="1344835"/>
            <a:ext cx="2331720" cy="594360"/>
          </a:xfrm>
          <a:prstGeom prst="chevron">
            <a:avLst/>
          </a:prstGeom>
          <a:solidFill>
            <a:srgbClr val="B50915"/>
          </a:solidFill>
          <a:ln w="12700">
            <a:solidFill>
              <a:srgbClr val="B50915"/>
            </a:solidFill>
            <a:prstDash val="solid"/>
          </a:ln>
        </p:spPr>
        <p:txBody>
          <a:bodyPr/>
          <a:lstStyle/>
          <a:p>
            <a:endParaRPr lang="vi-VN"/>
          </a:p>
        </p:txBody>
      </p:sp>
      <p:sp>
        <p:nvSpPr>
          <p:cNvPr id="29" name="Text 17">
            <a:extLst>
              <a:ext uri="{FF2B5EF4-FFF2-40B4-BE49-F238E27FC236}">
                <a16:creationId xmlns:a16="http://schemas.microsoft.com/office/drawing/2014/main" id="{B20EBD84-3425-EF0E-915A-49E11421F32D}"/>
              </a:ext>
            </a:extLst>
          </p:cNvPr>
          <p:cNvSpPr/>
          <p:nvPr/>
        </p:nvSpPr>
        <p:spPr>
          <a:xfrm>
            <a:off x="1281249" y="1509427"/>
            <a:ext cx="1783080" cy="323742"/>
          </a:xfrm>
          <a:prstGeom prst="rect">
            <a:avLst/>
          </a:prstGeom>
          <a:noFill/>
          <a:ln/>
        </p:spPr>
        <p:txBody>
          <a:bodyPr wrap="square" lIns="0" tIns="0" rIns="0" bIns="0" rtlCol="0" anchor="ctr"/>
          <a:lstStyle/>
          <a:p>
            <a:pPr marL="0" indent="0" algn="ctr">
              <a:buNone/>
            </a:pPr>
            <a:r>
              <a:rPr lang="en-US" sz="950" b="1">
                <a:solidFill>
                  <a:srgbClr val="FFFFFF"/>
                </a:solidFill>
                <a:latin typeface="Arial" pitchFamily="34" charset="0"/>
                <a:ea typeface="Arial" pitchFamily="34" charset="-122"/>
                <a:cs typeface="Arial" pitchFamily="34" charset="-120"/>
              </a:rPr>
              <a:t>•Nhóm quản lý định danh</a:t>
            </a:r>
            <a:endParaRPr lang="en-US" sz="950" dirty="0"/>
          </a:p>
        </p:txBody>
      </p:sp>
      <p:sp>
        <p:nvSpPr>
          <p:cNvPr id="30" name="Shape 14">
            <a:extLst>
              <a:ext uri="{FF2B5EF4-FFF2-40B4-BE49-F238E27FC236}">
                <a16:creationId xmlns:a16="http://schemas.microsoft.com/office/drawing/2014/main" id="{117EF22A-6570-7FC0-93A3-159D3E2E6D3E}"/>
              </a:ext>
            </a:extLst>
          </p:cNvPr>
          <p:cNvSpPr/>
          <p:nvPr/>
        </p:nvSpPr>
        <p:spPr>
          <a:xfrm>
            <a:off x="4700365" y="1330618"/>
            <a:ext cx="2331720" cy="594360"/>
          </a:xfrm>
          <a:prstGeom prst="chevron">
            <a:avLst/>
          </a:prstGeom>
          <a:solidFill>
            <a:srgbClr val="B50915"/>
          </a:solidFill>
          <a:ln w="12700">
            <a:solidFill>
              <a:srgbClr val="B50915"/>
            </a:solidFill>
            <a:prstDash val="solid"/>
          </a:ln>
        </p:spPr>
        <p:txBody>
          <a:bodyPr/>
          <a:lstStyle/>
          <a:p>
            <a:endParaRPr lang="vi-VN"/>
          </a:p>
        </p:txBody>
      </p:sp>
      <p:sp>
        <p:nvSpPr>
          <p:cNvPr id="31" name="Text 17">
            <a:extLst>
              <a:ext uri="{FF2B5EF4-FFF2-40B4-BE49-F238E27FC236}">
                <a16:creationId xmlns:a16="http://schemas.microsoft.com/office/drawing/2014/main" id="{052F3B14-D371-356F-E034-821E9224D085}"/>
              </a:ext>
            </a:extLst>
          </p:cNvPr>
          <p:cNvSpPr/>
          <p:nvPr/>
        </p:nvSpPr>
        <p:spPr>
          <a:xfrm>
            <a:off x="4974685" y="1495209"/>
            <a:ext cx="1924594" cy="289125"/>
          </a:xfrm>
          <a:prstGeom prst="rect">
            <a:avLst/>
          </a:prstGeom>
          <a:noFill/>
          <a:ln/>
        </p:spPr>
        <p:txBody>
          <a:bodyPr wrap="square" lIns="0" tIns="0" rIns="0" bIns="0" rtlCol="0" anchor="ctr"/>
          <a:lstStyle/>
          <a:p>
            <a:pPr marL="0" indent="0" algn="ctr">
              <a:buNone/>
            </a:pPr>
            <a:r>
              <a:rPr lang="en-US" sz="950" b="1">
                <a:solidFill>
                  <a:srgbClr val="FFFFFF"/>
                </a:solidFill>
                <a:latin typeface="Arial" pitchFamily="34" charset="0"/>
                <a:ea typeface="Arial" pitchFamily="34" charset="-122"/>
                <a:cs typeface="Arial" pitchFamily="34" charset="-120"/>
              </a:rPr>
              <a:t>•Nhóm quản lý hạ tầng vật lý</a:t>
            </a:r>
            <a:endParaRPr lang="en-US" sz="950" dirty="0"/>
          </a:p>
        </p:txBody>
      </p:sp>
      <p:sp>
        <p:nvSpPr>
          <p:cNvPr id="32" name="Shape 14">
            <a:extLst>
              <a:ext uri="{FF2B5EF4-FFF2-40B4-BE49-F238E27FC236}">
                <a16:creationId xmlns:a16="http://schemas.microsoft.com/office/drawing/2014/main" id="{D9CD84ED-5CAF-9A87-FCAB-B529B2BBE7FE}"/>
              </a:ext>
            </a:extLst>
          </p:cNvPr>
          <p:cNvSpPr/>
          <p:nvPr/>
        </p:nvSpPr>
        <p:spPr>
          <a:xfrm>
            <a:off x="8600319" y="1334552"/>
            <a:ext cx="2331720" cy="594360"/>
          </a:xfrm>
          <a:prstGeom prst="chevron">
            <a:avLst/>
          </a:prstGeom>
          <a:solidFill>
            <a:srgbClr val="B50915"/>
          </a:solidFill>
          <a:ln w="12700">
            <a:solidFill>
              <a:srgbClr val="B50915"/>
            </a:solidFill>
            <a:prstDash val="solid"/>
          </a:ln>
        </p:spPr>
        <p:txBody>
          <a:bodyPr/>
          <a:lstStyle/>
          <a:p>
            <a:endParaRPr lang="vi-VN"/>
          </a:p>
        </p:txBody>
      </p:sp>
      <p:sp>
        <p:nvSpPr>
          <p:cNvPr id="33" name="Text 17">
            <a:extLst>
              <a:ext uri="{FF2B5EF4-FFF2-40B4-BE49-F238E27FC236}">
                <a16:creationId xmlns:a16="http://schemas.microsoft.com/office/drawing/2014/main" id="{513B30C2-A3E4-19D5-756B-BD4FDBB3BDF6}"/>
              </a:ext>
            </a:extLst>
          </p:cNvPr>
          <p:cNvSpPr/>
          <p:nvPr/>
        </p:nvSpPr>
        <p:spPr>
          <a:xfrm>
            <a:off x="8874639" y="1499143"/>
            <a:ext cx="1848394" cy="314487"/>
          </a:xfrm>
          <a:prstGeom prst="rect">
            <a:avLst/>
          </a:prstGeom>
          <a:noFill/>
          <a:ln/>
        </p:spPr>
        <p:txBody>
          <a:bodyPr wrap="square" lIns="0" tIns="0" rIns="0" bIns="0" rtlCol="0" anchor="ctr"/>
          <a:lstStyle/>
          <a:p>
            <a:pPr marL="0" indent="0" algn="ctr">
              <a:buNone/>
            </a:pPr>
            <a:r>
              <a:rPr lang="en-US" sz="950" b="1">
                <a:solidFill>
                  <a:srgbClr val="FFFFFF"/>
                </a:solidFill>
                <a:latin typeface="Arial" pitchFamily="34" charset="0"/>
                <a:ea typeface="Arial" pitchFamily="34" charset="-122"/>
                <a:cs typeface="Arial" pitchFamily="34" charset="-120"/>
              </a:rPr>
              <a:t>•Nhóm xử lý nghiệp vụ cốt lõi</a:t>
            </a:r>
            <a:endParaRPr lang="en-US" sz="950" dirty="0"/>
          </a:p>
        </p:txBody>
      </p:sp>
      <p:sp>
        <p:nvSpPr>
          <p:cNvPr id="34" name="Shape 7">
            <a:extLst>
              <a:ext uri="{FF2B5EF4-FFF2-40B4-BE49-F238E27FC236}">
                <a16:creationId xmlns:a16="http://schemas.microsoft.com/office/drawing/2014/main" id="{0D32DD9B-A425-EC73-3776-078FFBF3070A}"/>
              </a:ext>
            </a:extLst>
          </p:cNvPr>
          <p:cNvSpPr/>
          <p:nvPr/>
        </p:nvSpPr>
        <p:spPr>
          <a:xfrm>
            <a:off x="411479" y="2136695"/>
            <a:ext cx="11020611" cy="0"/>
          </a:xfrm>
          <a:prstGeom prst="line">
            <a:avLst/>
          </a:prstGeom>
          <a:noFill/>
          <a:ln w="27940">
            <a:solidFill>
              <a:srgbClr val="B50915"/>
            </a:solidFill>
            <a:prstDash val="solid"/>
          </a:ln>
        </p:spPr>
        <p:txBody>
          <a:bodyPr/>
          <a:lstStyle/>
          <a:p>
            <a:endParaRPr lang="vi-V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9">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III</a:t>
            </a:r>
            <a:endParaRPr lang="en-US" sz="750" dirty="0"/>
          </a:p>
        </p:txBody>
      </p:sp>
      <p:sp>
        <p:nvSpPr>
          <p:cNvPr id="8" name="Text 6"/>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a:solidFill>
                  <a:srgbClr val="1F2328"/>
                </a:solidFill>
                <a:latin typeface="Arial" pitchFamily="34" charset="0"/>
                <a:ea typeface="Arial" pitchFamily="34" charset="-122"/>
                <a:cs typeface="Arial" pitchFamily="34" charset="-120"/>
              </a:rPr>
              <a:t>Đặc tả chi tiết các lớp Thực thể: KhachHang </a:t>
            </a:r>
            <a:endParaRPr lang="en-US" sz="2400" dirty="0"/>
          </a:p>
        </p:txBody>
      </p:sp>
      <p:sp>
        <p:nvSpPr>
          <p:cNvPr id="9" name="Shape 7"/>
          <p:cNvSpPr/>
          <p:nvPr/>
        </p:nvSpPr>
        <p:spPr>
          <a:xfrm>
            <a:off x="502920" y="1040671"/>
            <a:ext cx="1188720" cy="0"/>
          </a:xfrm>
          <a:prstGeom prst="line">
            <a:avLst/>
          </a:prstGeom>
          <a:noFill/>
          <a:ln w="27940">
            <a:solidFill>
              <a:srgbClr val="B50915"/>
            </a:solidFill>
            <a:prstDash val="solid"/>
          </a:ln>
        </p:spPr>
        <p:txBody>
          <a:bodyPr/>
          <a:lstStyle/>
          <a:p>
            <a:endParaRPr lang="vi-VN"/>
          </a:p>
        </p:txBody>
      </p:sp>
      <p:sp>
        <p:nvSpPr>
          <p:cNvPr id="31" name="Shape 29"/>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32" name="Text 30"/>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33" name="Text 31"/>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29</a:t>
            </a:r>
            <a:endParaRPr lang="en-US" sz="1000" dirty="0"/>
          </a:p>
        </p:txBody>
      </p:sp>
      <p:sp>
        <p:nvSpPr>
          <p:cNvPr id="34" name="Text 5">
            <a:extLst>
              <a:ext uri="{FF2B5EF4-FFF2-40B4-BE49-F238E27FC236}">
                <a16:creationId xmlns:a16="http://schemas.microsoft.com/office/drawing/2014/main" id="{EF98C434-3589-570F-B099-5ADE0F518A5A}"/>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III: THIẾT KẾ HỆ THỐNG</a:t>
            </a:r>
          </a:p>
          <a:p>
            <a:pPr marL="0" indent="0">
              <a:buNone/>
            </a:pPr>
            <a:r>
              <a:rPr lang="en-US" sz="1200" b="1">
                <a:solidFill>
                  <a:srgbClr val="B50915"/>
                </a:solidFill>
                <a:latin typeface="Arial" pitchFamily="34" charset="0"/>
                <a:cs typeface="Arial" pitchFamily="34" charset="-120"/>
              </a:rPr>
              <a:t>3.1  Thiết kế lớp chi tiết</a:t>
            </a:r>
            <a:endParaRPr lang="en-US" sz="1200" dirty="0"/>
          </a:p>
        </p:txBody>
      </p:sp>
      <p:pic>
        <p:nvPicPr>
          <p:cNvPr id="79" name="Hình ảnh 78">
            <a:extLst>
              <a:ext uri="{FF2B5EF4-FFF2-40B4-BE49-F238E27FC236}">
                <a16:creationId xmlns:a16="http://schemas.microsoft.com/office/drawing/2014/main" id="{D245493B-B13A-39E7-CEA0-6B1A0567094B}"/>
              </a:ext>
            </a:extLst>
          </p:cNvPr>
          <p:cNvPicPr>
            <a:picLocks noChangeAspect="1"/>
          </p:cNvPicPr>
          <p:nvPr/>
        </p:nvPicPr>
        <p:blipFill>
          <a:blip r:embed="rId3"/>
          <a:stretch>
            <a:fillRect/>
          </a:stretch>
        </p:blipFill>
        <p:spPr>
          <a:xfrm>
            <a:off x="2394194" y="1137937"/>
            <a:ext cx="8318151" cy="544982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a:extLst>
            <a:ext uri="{FF2B5EF4-FFF2-40B4-BE49-F238E27FC236}">
              <a16:creationId xmlns:a16="http://schemas.microsoft.com/office/drawing/2014/main" id="{8A5A3B1C-4C62-A393-906E-A9556020C26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20073D5-B16F-0EA7-C575-E6E9321546A1}"/>
              </a:ext>
            </a:extLst>
          </p:cNvPr>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a:extLst>
              <a:ext uri="{FF2B5EF4-FFF2-40B4-BE49-F238E27FC236}">
                <a16:creationId xmlns:a16="http://schemas.microsoft.com/office/drawing/2014/main" id="{C92FD668-A9E0-FFD7-E72A-DBB8AE44F04A}"/>
              </a:ext>
            </a:extLst>
          </p:cNvPr>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a:extLst>
              <a:ext uri="{FF2B5EF4-FFF2-40B4-BE49-F238E27FC236}">
                <a16:creationId xmlns:a16="http://schemas.microsoft.com/office/drawing/2014/main" id="{B6470590-5F28-3666-C1B4-0C27C495DC31}"/>
              </a:ext>
            </a:extLst>
          </p:cNvPr>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a:extLst>
              <a:ext uri="{FF2B5EF4-FFF2-40B4-BE49-F238E27FC236}">
                <a16:creationId xmlns:a16="http://schemas.microsoft.com/office/drawing/2014/main" id="{425B98AB-A9BE-5CE8-60E7-DAC609B5C12A}"/>
              </a:ext>
            </a:extLst>
          </p:cNvPr>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a:extLst>
              <a:ext uri="{FF2B5EF4-FFF2-40B4-BE49-F238E27FC236}">
                <a16:creationId xmlns:a16="http://schemas.microsoft.com/office/drawing/2014/main" id="{B4C9F1A2-C894-3FB5-9444-748B34D5AA75}"/>
              </a:ext>
            </a:extLst>
          </p:cNvPr>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III</a:t>
            </a:r>
            <a:endParaRPr lang="en-US" sz="750" dirty="0"/>
          </a:p>
        </p:txBody>
      </p:sp>
      <p:sp>
        <p:nvSpPr>
          <p:cNvPr id="8" name="Text 6">
            <a:extLst>
              <a:ext uri="{FF2B5EF4-FFF2-40B4-BE49-F238E27FC236}">
                <a16:creationId xmlns:a16="http://schemas.microsoft.com/office/drawing/2014/main" id="{59E27831-CD87-003E-00A3-92FE431C484C}"/>
              </a:ext>
            </a:extLst>
          </p:cNvPr>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a:solidFill>
                  <a:srgbClr val="1F2328"/>
                </a:solidFill>
                <a:latin typeface="Arial" pitchFamily="34" charset="0"/>
                <a:ea typeface="Arial" pitchFamily="34" charset="-122"/>
                <a:cs typeface="Arial" pitchFamily="34" charset="-120"/>
              </a:rPr>
              <a:t>Đặc tả chi tiết các lớp Thực thể: TramTu </a:t>
            </a:r>
            <a:endParaRPr lang="en-US" sz="2400" dirty="0"/>
          </a:p>
        </p:txBody>
      </p:sp>
      <p:sp>
        <p:nvSpPr>
          <p:cNvPr id="9" name="Shape 7">
            <a:extLst>
              <a:ext uri="{FF2B5EF4-FFF2-40B4-BE49-F238E27FC236}">
                <a16:creationId xmlns:a16="http://schemas.microsoft.com/office/drawing/2014/main" id="{A02DAF98-4071-E828-7E68-B34EBD7F7543}"/>
              </a:ext>
            </a:extLst>
          </p:cNvPr>
          <p:cNvSpPr/>
          <p:nvPr/>
        </p:nvSpPr>
        <p:spPr>
          <a:xfrm>
            <a:off x="502920" y="1046494"/>
            <a:ext cx="1188720" cy="0"/>
          </a:xfrm>
          <a:prstGeom prst="line">
            <a:avLst/>
          </a:prstGeom>
          <a:noFill/>
          <a:ln w="27940">
            <a:solidFill>
              <a:srgbClr val="B50915"/>
            </a:solidFill>
            <a:prstDash val="solid"/>
          </a:ln>
        </p:spPr>
        <p:txBody>
          <a:bodyPr/>
          <a:lstStyle/>
          <a:p>
            <a:endParaRPr lang="vi-VN"/>
          </a:p>
        </p:txBody>
      </p:sp>
      <p:sp>
        <p:nvSpPr>
          <p:cNvPr id="31" name="Shape 29">
            <a:extLst>
              <a:ext uri="{FF2B5EF4-FFF2-40B4-BE49-F238E27FC236}">
                <a16:creationId xmlns:a16="http://schemas.microsoft.com/office/drawing/2014/main" id="{5EE5B378-D348-66D2-8F39-F58CB752AF23}"/>
              </a:ext>
            </a:extLst>
          </p:cNvPr>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32" name="Text 30">
            <a:extLst>
              <a:ext uri="{FF2B5EF4-FFF2-40B4-BE49-F238E27FC236}">
                <a16:creationId xmlns:a16="http://schemas.microsoft.com/office/drawing/2014/main" id="{87CCFC79-F586-1AA5-1244-0C63525DEF20}"/>
              </a:ext>
            </a:extLst>
          </p:cNvPr>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33" name="Text 31">
            <a:extLst>
              <a:ext uri="{FF2B5EF4-FFF2-40B4-BE49-F238E27FC236}">
                <a16:creationId xmlns:a16="http://schemas.microsoft.com/office/drawing/2014/main" id="{97898847-14CE-6410-F155-9E642859DC91}"/>
              </a:ext>
            </a:extLst>
          </p:cNvPr>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29</a:t>
            </a:r>
            <a:endParaRPr lang="en-US" sz="1000" dirty="0"/>
          </a:p>
        </p:txBody>
      </p:sp>
      <p:sp>
        <p:nvSpPr>
          <p:cNvPr id="34" name="Text 5">
            <a:extLst>
              <a:ext uri="{FF2B5EF4-FFF2-40B4-BE49-F238E27FC236}">
                <a16:creationId xmlns:a16="http://schemas.microsoft.com/office/drawing/2014/main" id="{4D5F856E-374C-9FA3-22DB-2B934B403E74}"/>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III: THIẾT KẾ HỆ THỐNG</a:t>
            </a:r>
          </a:p>
          <a:p>
            <a:pPr marL="0" indent="0">
              <a:buNone/>
            </a:pPr>
            <a:r>
              <a:rPr lang="en-US" sz="1200" b="1">
                <a:solidFill>
                  <a:srgbClr val="B50915"/>
                </a:solidFill>
                <a:latin typeface="Arial" pitchFamily="34" charset="0"/>
                <a:cs typeface="Arial" pitchFamily="34" charset="-120"/>
              </a:rPr>
              <a:t>3.1  Thiết kế lớp chi tiết</a:t>
            </a:r>
            <a:endParaRPr lang="en-US" sz="1200" dirty="0"/>
          </a:p>
        </p:txBody>
      </p:sp>
      <p:pic>
        <p:nvPicPr>
          <p:cNvPr id="12" name="Hình ảnh 11">
            <a:extLst>
              <a:ext uri="{FF2B5EF4-FFF2-40B4-BE49-F238E27FC236}">
                <a16:creationId xmlns:a16="http://schemas.microsoft.com/office/drawing/2014/main" id="{3024C8D5-9213-2CEE-F6FF-8E8E95BA22CF}"/>
              </a:ext>
            </a:extLst>
          </p:cNvPr>
          <p:cNvPicPr>
            <a:picLocks noChangeAspect="1"/>
          </p:cNvPicPr>
          <p:nvPr/>
        </p:nvPicPr>
        <p:blipFill>
          <a:blip r:embed="rId3"/>
          <a:stretch>
            <a:fillRect/>
          </a:stretch>
        </p:blipFill>
        <p:spPr>
          <a:xfrm>
            <a:off x="2632192" y="1141479"/>
            <a:ext cx="7676713" cy="5337046"/>
          </a:xfrm>
          <a:prstGeom prst="rect">
            <a:avLst/>
          </a:prstGeom>
        </p:spPr>
      </p:pic>
    </p:spTree>
    <p:extLst>
      <p:ext uri="{BB962C8B-B14F-4D97-AF65-F5344CB8AC3E}">
        <p14:creationId xmlns:p14="http://schemas.microsoft.com/office/powerpoint/2010/main" val="4254803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a:extLst>
            <a:ext uri="{FF2B5EF4-FFF2-40B4-BE49-F238E27FC236}">
              <a16:creationId xmlns:a16="http://schemas.microsoft.com/office/drawing/2014/main" id="{109E7C4B-1E74-9259-2321-06CB454D23D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105414E-7123-30BB-60D7-8810B8B166FF}"/>
              </a:ext>
            </a:extLst>
          </p:cNvPr>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a:extLst>
              <a:ext uri="{FF2B5EF4-FFF2-40B4-BE49-F238E27FC236}">
                <a16:creationId xmlns:a16="http://schemas.microsoft.com/office/drawing/2014/main" id="{7EDEF5CB-7DAE-DAF4-CB07-F435E837B7C8}"/>
              </a:ext>
            </a:extLst>
          </p:cNvPr>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a:extLst>
              <a:ext uri="{FF2B5EF4-FFF2-40B4-BE49-F238E27FC236}">
                <a16:creationId xmlns:a16="http://schemas.microsoft.com/office/drawing/2014/main" id="{C3D0426B-4554-61C0-4022-A95B1B739F34}"/>
              </a:ext>
            </a:extLst>
          </p:cNvPr>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a:extLst>
              <a:ext uri="{FF2B5EF4-FFF2-40B4-BE49-F238E27FC236}">
                <a16:creationId xmlns:a16="http://schemas.microsoft.com/office/drawing/2014/main" id="{DCBAA2B7-42BC-56CF-1A18-092000FDE888}"/>
              </a:ext>
            </a:extLst>
          </p:cNvPr>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a:extLst>
              <a:ext uri="{FF2B5EF4-FFF2-40B4-BE49-F238E27FC236}">
                <a16:creationId xmlns:a16="http://schemas.microsoft.com/office/drawing/2014/main" id="{884AEB99-5776-A7DF-BBF6-669261F8A201}"/>
              </a:ext>
            </a:extLst>
          </p:cNvPr>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III</a:t>
            </a:r>
            <a:endParaRPr lang="en-US" sz="750" dirty="0"/>
          </a:p>
        </p:txBody>
      </p:sp>
      <p:sp>
        <p:nvSpPr>
          <p:cNvPr id="8" name="Text 6">
            <a:extLst>
              <a:ext uri="{FF2B5EF4-FFF2-40B4-BE49-F238E27FC236}">
                <a16:creationId xmlns:a16="http://schemas.microsoft.com/office/drawing/2014/main" id="{336AC6CC-54BC-F054-236E-30676238DCFD}"/>
              </a:ext>
            </a:extLst>
          </p:cNvPr>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a:solidFill>
                  <a:srgbClr val="1F2328"/>
                </a:solidFill>
                <a:latin typeface="Arial" pitchFamily="34" charset="0"/>
                <a:ea typeface="Arial" pitchFamily="34" charset="-122"/>
                <a:cs typeface="Arial" pitchFamily="34" charset="-120"/>
              </a:rPr>
              <a:t>Đặc tả chi tiết các lớp Thực thể: LoaiNganTu </a:t>
            </a:r>
            <a:endParaRPr lang="en-US" sz="2400" dirty="0"/>
          </a:p>
        </p:txBody>
      </p:sp>
      <p:sp>
        <p:nvSpPr>
          <p:cNvPr id="9" name="Shape 7">
            <a:extLst>
              <a:ext uri="{FF2B5EF4-FFF2-40B4-BE49-F238E27FC236}">
                <a16:creationId xmlns:a16="http://schemas.microsoft.com/office/drawing/2014/main" id="{9AE856E4-00F1-5DC9-7BF6-6B118A56C885}"/>
              </a:ext>
            </a:extLst>
          </p:cNvPr>
          <p:cNvSpPr/>
          <p:nvPr/>
        </p:nvSpPr>
        <p:spPr>
          <a:xfrm>
            <a:off x="502920" y="1046494"/>
            <a:ext cx="1188720" cy="0"/>
          </a:xfrm>
          <a:prstGeom prst="line">
            <a:avLst/>
          </a:prstGeom>
          <a:noFill/>
          <a:ln w="27940">
            <a:solidFill>
              <a:srgbClr val="B50915"/>
            </a:solidFill>
            <a:prstDash val="solid"/>
          </a:ln>
        </p:spPr>
        <p:txBody>
          <a:bodyPr/>
          <a:lstStyle/>
          <a:p>
            <a:endParaRPr lang="vi-VN"/>
          </a:p>
        </p:txBody>
      </p:sp>
      <p:sp>
        <p:nvSpPr>
          <p:cNvPr id="31" name="Shape 29">
            <a:extLst>
              <a:ext uri="{FF2B5EF4-FFF2-40B4-BE49-F238E27FC236}">
                <a16:creationId xmlns:a16="http://schemas.microsoft.com/office/drawing/2014/main" id="{E5239F20-59B3-C077-2679-E23FA58B0F9B}"/>
              </a:ext>
            </a:extLst>
          </p:cNvPr>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32" name="Text 30">
            <a:extLst>
              <a:ext uri="{FF2B5EF4-FFF2-40B4-BE49-F238E27FC236}">
                <a16:creationId xmlns:a16="http://schemas.microsoft.com/office/drawing/2014/main" id="{CB9A69B6-6D84-12AC-C5DF-551559417C07}"/>
              </a:ext>
            </a:extLst>
          </p:cNvPr>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33" name="Text 31">
            <a:extLst>
              <a:ext uri="{FF2B5EF4-FFF2-40B4-BE49-F238E27FC236}">
                <a16:creationId xmlns:a16="http://schemas.microsoft.com/office/drawing/2014/main" id="{5FDDDF75-87F8-2670-D0C2-F1A69A09AF79}"/>
              </a:ext>
            </a:extLst>
          </p:cNvPr>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29</a:t>
            </a:r>
            <a:endParaRPr lang="en-US" sz="1000" dirty="0"/>
          </a:p>
        </p:txBody>
      </p:sp>
      <p:sp>
        <p:nvSpPr>
          <p:cNvPr id="34" name="Text 5">
            <a:extLst>
              <a:ext uri="{FF2B5EF4-FFF2-40B4-BE49-F238E27FC236}">
                <a16:creationId xmlns:a16="http://schemas.microsoft.com/office/drawing/2014/main" id="{0B76F269-7F8C-6F81-289D-91D027011E37}"/>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III: THIẾT KẾ HỆ THỐNG</a:t>
            </a:r>
          </a:p>
          <a:p>
            <a:pPr marL="0" indent="0">
              <a:buNone/>
            </a:pPr>
            <a:r>
              <a:rPr lang="en-US" sz="1200" b="1">
                <a:solidFill>
                  <a:srgbClr val="B50915"/>
                </a:solidFill>
                <a:latin typeface="Arial" pitchFamily="34" charset="0"/>
                <a:cs typeface="Arial" pitchFamily="34" charset="-120"/>
              </a:rPr>
              <a:t>3.1  Thiết kế lớp chi tiết</a:t>
            </a:r>
            <a:endParaRPr lang="en-US" sz="1200" dirty="0"/>
          </a:p>
        </p:txBody>
      </p:sp>
      <p:pic>
        <p:nvPicPr>
          <p:cNvPr id="7" name="Hình ảnh 6">
            <a:extLst>
              <a:ext uri="{FF2B5EF4-FFF2-40B4-BE49-F238E27FC236}">
                <a16:creationId xmlns:a16="http://schemas.microsoft.com/office/drawing/2014/main" id="{CF3F8A30-EFC8-FA3A-8BD8-050513AB4D05}"/>
              </a:ext>
            </a:extLst>
          </p:cNvPr>
          <p:cNvPicPr>
            <a:picLocks noChangeAspect="1"/>
          </p:cNvPicPr>
          <p:nvPr/>
        </p:nvPicPr>
        <p:blipFill>
          <a:blip r:embed="rId3"/>
          <a:stretch>
            <a:fillRect/>
          </a:stretch>
        </p:blipFill>
        <p:spPr>
          <a:xfrm>
            <a:off x="2629603" y="1106423"/>
            <a:ext cx="7956333" cy="5330954"/>
          </a:xfrm>
          <a:prstGeom prst="rect">
            <a:avLst/>
          </a:prstGeom>
        </p:spPr>
      </p:pic>
    </p:spTree>
    <p:extLst>
      <p:ext uri="{BB962C8B-B14F-4D97-AF65-F5344CB8AC3E}">
        <p14:creationId xmlns:p14="http://schemas.microsoft.com/office/powerpoint/2010/main" val="18560251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a:extLst>
            <a:ext uri="{FF2B5EF4-FFF2-40B4-BE49-F238E27FC236}">
              <a16:creationId xmlns:a16="http://schemas.microsoft.com/office/drawing/2014/main" id="{E37E9A8B-F7E2-B9C5-9F26-648C0EDAAB2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99C6920-1EF4-9B59-A5AD-A503A331628E}"/>
              </a:ext>
            </a:extLst>
          </p:cNvPr>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a:extLst>
              <a:ext uri="{FF2B5EF4-FFF2-40B4-BE49-F238E27FC236}">
                <a16:creationId xmlns:a16="http://schemas.microsoft.com/office/drawing/2014/main" id="{70302563-16F3-BD50-0E5A-01FCB37DFDC5}"/>
              </a:ext>
            </a:extLst>
          </p:cNvPr>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a:extLst>
              <a:ext uri="{FF2B5EF4-FFF2-40B4-BE49-F238E27FC236}">
                <a16:creationId xmlns:a16="http://schemas.microsoft.com/office/drawing/2014/main" id="{A1E4CB37-8CB3-278E-8136-F597362F11C8}"/>
              </a:ext>
            </a:extLst>
          </p:cNvPr>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a:extLst>
              <a:ext uri="{FF2B5EF4-FFF2-40B4-BE49-F238E27FC236}">
                <a16:creationId xmlns:a16="http://schemas.microsoft.com/office/drawing/2014/main" id="{32746797-329B-1BCD-1C6C-391E9AABEB5F}"/>
              </a:ext>
            </a:extLst>
          </p:cNvPr>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a:extLst>
              <a:ext uri="{FF2B5EF4-FFF2-40B4-BE49-F238E27FC236}">
                <a16:creationId xmlns:a16="http://schemas.microsoft.com/office/drawing/2014/main" id="{72DE6D21-41E2-5FC0-C442-4F7911080AEC}"/>
              </a:ext>
            </a:extLst>
          </p:cNvPr>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III</a:t>
            </a:r>
            <a:endParaRPr lang="en-US" sz="750" dirty="0"/>
          </a:p>
        </p:txBody>
      </p:sp>
      <p:sp>
        <p:nvSpPr>
          <p:cNvPr id="8" name="Text 6">
            <a:extLst>
              <a:ext uri="{FF2B5EF4-FFF2-40B4-BE49-F238E27FC236}">
                <a16:creationId xmlns:a16="http://schemas.microsoft.com/office/drawing/2014/main" id="{C7F70D3D-B3DC-6A4A-E082-98259BA6D374}"/>
              </a:ext>
            </a:extLst>
          </p:cNvPr>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a:solidFill>
                  <a:srgbClr val="1F2328"/>
                </a:solidFill>
                <a:latin typeface="Arial" pitchFamily="34" charset="0"/>
                <a:ea typeface="Arial" pitchFamily="34" charset="-122"/>
                <a:cs typeface="Arial" pitchFamily="34" charset="-120"/>
              </a:rPr>
              <a:t>Đặc tả chi tiết các lớp Thực thể: NganTu </a:t>
            </a:r>
            <a:endParaRPr lang="en-US" sz="2400" dirty="0"/>
          </a:p>
        </p:txBody>
      </p:sp>
      <p:sp>
        <p:nvSpPr>
          <p:cNvPr id="9" name="Shape 7">
            <a:extLst>
              <a:ext uri="{FF2B5EF4-FFF2-40B4-BE49-F238E27FC236}">
                <a16:creationId xmlns:a16="http://schemas.microsoft.com/office/drawing/2014/main" id="{DC695774-4EFA-220D-1D06-41DE11F7EF14}"/>
              </a:ext>
            </a:extLst>
          </p:cNvPr>
          <p:cNvSpPr/>
          <p:nvPr/>
        </p:nvSpPr>
        <p:spPr>
          <a:xfrm>
            <a:off x="502920" y="1040670"/>
            <a:ext cx="1188720" cy="0"/>
          </a:xfrm>
          <a:prstGeom prst="line">
            <a:avLst/>
          </a:prstGeom>
          <a:noFill/>
          <a:ln w="27940">
            <a:solidFill>
              <a:srgbClr val="B50915"/>
            </a:solidFill>
            <a:prstDash val="solid"/>
          </a:ln>
        </p:spPr>
        <p:txBody>
          <a:bodyPr/>
          <a:lstStyle/>
          <a:p>
            <a:endParaRPr lang="vi-VN"/>
          </a:p>
        </p:txBody>
      </p:sp>
      <p:sp>
        <p:nvSpPr>
          <p:cNvPr id="31" name="Shape 29">
            <a:extLst>
              <a:ext uri="{FF2B5EF4-FFF2-40B4-BE49-F238E27FC236}">
                <a16:creationId xmlns:a16="http://schemas.microsoft.com/office/drawing/2014/main" id="{6223E011-570C-643B-7E2D-B64EF2D6B4CE}"/>
              </a:ext>
            </a:extLst>
          </p:cNvPr>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32" name="Text 30">
            <a:extLst>
              <a:ext uri="{FF2B5EF4-FFF2-40B4-BE49-F238E27FC236}">
                <a16:creationId xmlns:a16="http://schemas.microsoft.com/office/drawing/2014/main" id="{E39AF345-6168-AD54-F424-53D79756BFA0}"/>
              </a:ext>
            </a:extLst>
          </p:cNvPr>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33" name="Text 31">
            <a:extLst>
              <a:ext uri="{FF2B5EF4-FFF2-40B4-BE49-F238E27FC236}">
                <a16:creationId xmlns:a16="http://schemas.microsoft.com/office/drawing/2014/main" id="{944735BA-9C00-3112-7AA4-9064D9B50232}"/>
              </a:ext>
            </a:extLst>
          </p:cNvPr>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29</a:t>
            </a:r>
            <a:endParaRPr lang="en-US" sz="1000" dirty="0"/>
          </a:p>
        </p:txBody>
      </p:sp>
      <p:sp>
        <p:nvSpPr>
          <p:cNvPr id="34" name="Text 5">
            <a:extLst>
              <a:ext uri="{FF2B5EF4-FFF2-40B4-BE49-F238E27FC236}">
                <a16:creationId xmlns:a16="http://schemas.microsoft.com/office/drawing/2014/main" id="{B8C21047-DB71-045B-5574-A24E9327BD20}"/>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III: THIẾT KẾ HỆ THỐNG</a:t>
            </a:r>
          </a:p>
          <a:p>
            <a:pPr marL="0" indent="0">
              <a:buNone/>
            </a:pPr>
            <a:r>
              <a:rPr lang="en-US" sz="1200" b="1">
                <a:solidFill>
                  <a:srgbClr val="B50915"/>
                </a:solidFill>
                <a:latin typeface="Arial" pitchFamily="34" charset="0"/>
                <a:cs typeface="Arial" pitchFamily="34" charset="-120"/>
              </a:rPr>
              <a:t>3.1  Thiết kế lớp chi tiết</a:t>
            </a:r>
            <a:endParaRPr lang="en-US" sz="1200" dirty="0"/>
          </a:p>
        </p:txBody>
      </p:sp>
      <p:pic>
        <p:nvPicPr>
          <p:cNvPr id="14" name="Hình ảnh 13">
            <a:extLst>
              <a:ext uri="{FF2B5EF4-FFF2-40B4-BE49-F238E27FC236}">
                <a16:creationId xmlns:a16="http://schemas.microsoft.com/office/drawing/2014/main" id="{4982B42C-0126-1E4D-C3FC-7420D2B87F90}"/>
              </a:ext>
            </a:extLst>
          </p:cNvPr>
          <p:cNvPicPr>
            <a:picLocks noChangeAspect="1"/>
          </p:cNvPicPr>
          <p:nvPr/>
        </p:nvPicPr>
        <p:blipFill>
          <a:blip r:embed="rId3"/>
          <a:stretch>
            <a:fillRect/>
          </a:stretch>
        </p:blipFill>
        <p:spPr>
          <a:xfrm>
            <a:off x="2753337" y="1191987"/>
            <a:ext cx="7865264" cy="5263677"/>
          </a:xfrm>
          <a:prstGeom prst="rect">
            <a:avLst/>
          </a:prstGeom>
        </p:spPr>
      </p:pic>
    </p:spTree>
    <p:extLst>
      <p:ext uri="{BB962C8B-B14F-4D97-AF65-F5344CB8AC3E}">
        <p14:creationId xmlns:p14="http://schemas.microsoft.com/office/powerpoint/2010/main" val="7714924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a:extLst>
            <a:ext uri="{FF2B5EF4-FFF2-40B4-BE49-F238E27FC236}">
              <a16:creationId xmlns:a16="http://schemas.microsoft.com/office/drawing/2014/main" id="{3614711B-6CAA-9F84-E3D6-C40DA7539EE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A3B4575-DED4-A252-7D06-57B9F21D363F}"/>
              </a:ext>
            </a:extLst>
          </p:cNvPr>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a:extLst>
              <a:ext uri="{FF2B5EF4-FFF2-40B4-BE49-F238E27FC236}">
                <a16:creationId xmlns:a16="http://schemas.microsoft.com/office/drawing/2014/main" id="{786B662A-4AD4-0E73-7F98-78949AC15981}"/>
              </a:ext>
            </a:extLst>
          </p:cNvPr>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a:extLst>
              <a:ext uri="{FF2B5EF4-FFF2-40B4-BE49-F238E27FC236}">
                <a16:creationId xmlns:a16="http://schemas.microsoft.com/office/drawing/2014/main" id="{1FE8D67F-6814-C4AD-242D-3CAE8494E70F}"/>
              </a:ext>
            </a:extLst>
          </p:cNvPr>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a:extLst>
              <a:ext uri="{FF2B5EF4-FFF2-40B4-BE49-F238E27FC236}">
                <a16:creationId xmlns:a16="http://schemas.microsoft.com/office/drawing/2014/main" id="{3D97C9DD-8DAD-925E-192E-C94827F4089A}"/>
              </a:ext>
            </a:extLst>
          </p:cNvPr>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a:extLst>
              <a:ext uri="{FF2B5EF4-FFF2-40B4-BE49-F238E27FC236}">
                <a16:creationId xmlns:a16="http://schemas.microsoft.com/office/drawing/2014/main" id="{74544F02-CE13-8B62-D394-8F04375E912F}"/>
              </a:ext>
            </a:extLst>
          </p:cNvPr>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III</a:t>
            </a:r>
            <a:endParaRPr lang="en-US" sz="750" dirty="0"/>
          </a:p>
        </p:txBody>
      </p:sp>
      <p:sp>
        <p:nvSpPr>
          <p:cNvPr id="8" name="Text 6">
            <a:extLst>
              <a:ext uri="{FF2B5EF4-FFF2-40B4-BE49-F238E27FC236}">
                <a16:creationId xmlns:a16="http://schemas.microsoft.com/office/drawing/2014/main" id="{DAB3B4B2-F77F-0423-6BA7-F31073F53D52}"/>
              </a:ext>
            </a:extLst>
          </p:cNvPr>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a:solidFill>
                  <a:srgbClr val="1F2328"/>
                </a:solidFill>
                <a:latin typeface="Arial" pitchFamily="34" charset="0"/>
                <a:ea typeface="Arial" pitchFamily="34" charset="-122"/>
                <a:cs typeface="Arial" pitchFamily="34" charset="-120"/>
              </a:rPr>
              <a:t>Đặc tả chi tiết các lớp Thực thể: GiaoDich </a:t>
            </a:r>
            <a:endParaRPr lang="en-US" sz="2400" dirty="0"/>
          </a:p>
        </p:txBody>
      </p:sp>
      <p:sp>
        <p:nvSpPr>
          <p:cNvPr id="9" name="Shape 7">
            <a:extLst>
              <a:ext uri="{FF2B5EF4-FFF2-40B4-BE49-F238E27FC236}">
                <a16:creationId xmlns:a16="http://schemas.microsoft.com/office/drawing/2014/main" id="{022E44F0-553E-3EE4-C2D0-BF9B642272F3}"/>
              </a:ext>
            </a:extLst>
          </p:cNvPr>
          <p:cNvSpPr/>
          <p:nvPr/>
        </p:nvSpPr>
        <p:spPr>
          <a:xfrm>
            <a:off x="502920" y="1046494"/>
            <a:ext cx="1188720" cy="0"/>
          </a:xfrm>
          <a:prstGeom prst="line">
            <a:avLst/>
          </a:prstGeom>
          <a:noFill/>
          <a:ln w="27940">
            <a:solidFill>
              <a:srgbClr val="B50915"/>
            </a:solidFill>
            <a:prstDash val="solid"/>
          </a:ln>
        </p:spPr>
        <p:txBody>
          <a:bodyPr/>
          <a:lstStyle/>
          <a:p>
            <a:endParaRPr lang="vi-VN"/>
          </a:p>
        </p:txBody>
      </p:sp>
      <p:sp>
        <p:nvSpPr>
          <p:cNvPr id="31" name="Shape 29">
            <a:extLst>
              <a:ext uri="{FF2B5EF4-FFF2-40B4-BE49-F238E27FC236}">
                <a16:creationId xmlns:a16="http://schemas.microsoft.com/office/drawing/2014/main" id="{2E546BAC-1E0C-1B3C-D386-99DCED1FBB05}"/>
              </a:ext>
            </a:extLst>
          </p:cNvPr>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32" name="Text 30">
            <a:extLst>
              <a:ext uri="{FF2B5EF4-FFF2-40B4-BE49-F238E27FC236}">
                <a16:creationId xmlns:a16="http://schemas.microsoft.com/office/drawing/2014/main" id="{6F59AD31-6A3D-C201-F778-BB4F2507CF69}"/>
              </a:ext>
            </a:extLst>
          </p:cNvPr>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33" name="Text 31">
            <a:extLst>
              <a:ext uri="{FF2B5EF4-FFF2-40B4-BE49-F238E27FC236}">
                <a16:creationId xmlns:a16="http://schemas.microsoft.com/office/drawing/2014/main" id="{151B65D1-A165-7D61-A526-0EC73A254505}"/>
              </a:ext>
            </a:extLst>
          </p:cNvPr>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29</a:t>
            </a:r>
            <a:endParaRPr lang="en-US" sz="1000" dirty="0"/>
          </a:p>
        </p:txBody>
      </p:sp>
      <p:sp>
        <p:nvSpPr>
          <p:cNvPr id="34" name="Text 5">
            <a:extLst>
              <a:ext uri="{FF2B5EF4-FFF2-40B4-BE49-F238E27FC236}">
                <a16:creationId xmlns:a16="http://schemas.microsoft.com/office/drawing/2014/main" id="{B7FE6106-B0BF-1DA3-4DED-40B52F5A33F2}"/>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III: THIẾT KẾ HỆ THỐNG</a:t>
            </a:r>
          </a:p>
          <a:p>
            <a:pPr marL="0" indent="0">
              <a:buNone/>
            </a:pPr>
            <a:r>
              <a:rPr lang="en-US" sz="1200" b="1">
                <a:solidFill>
                  <a:srgbClr val="B50915"/>
                </a:solidFill>
                <a:latin typeface="Arial" pitchFamily="34" charset="0"/>
                <a:cs typeface="Arial" pitchFamily="34" charset="-120"/>
              </a:rPr>
              <a:t>3.1  Thiết kế lớp chi tiết</a:t>
            </a:r>
            <a:endParaRPr lang="en-US" sz="1200" dirty="0"/>
          </a:p>
        </p:txBody>
      </p:sp>
      <p:pic>
        <p:nvPicPr>
          <p:cNvPr id="12" name="Hình ảnh 11">
            <a:extLst>
              <a:ext uri="{FF2B5EF4-FFF2-40B4-BE49-F238E27FC236}">
                <a16:creationId xmlns:a16="http://schemas.microsoft.com/office/drawing/2014/main" id="{AD48B195-3C2C-B969-8FDB-F5B5124CACDB}"/>
              </a:ext>
            </a:extLst>
          </p:cNvPr>
          <p:cNvPicPr>
            <a:picLocks noChangeAspect="1"/>
          </p:cNvPicPr>
          <p:nvPr/>
        </p:nvPicPr>
        <p:blipFill>
          <a:blip r:embed="rId3"/>
          <a:stretch>
            <a:fillRect/>
          </a:stretch>
        </p:blipFill>
        <p:spPr>
          <a:xfrm>
            <a:off x="3394709" y="1087075"/>
            <a:ext cx="5334092" cy="5588045"/>
          </a:xfrm>
          <a:prstGeom prst="rect">
            <a:avLst/>
          </a:prstGeom>
        </p:spPr>
      </p:pic>
    </p:spTree>
    <p:extLst>
      <p:ext uri="{BB962C8B-B14F-4D97-AF65-F5344CB8AC3E}">
        <p14:creationId xmlns:p14="http://schemas.microsoft.com/office/powerpoint/2010/main" val="4073129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a:extLst>
            <a:ext uri="{FF2B5EF4-FFF2-40B4-BE49-F238E27FC236}">
              <a16:creationId xmlns:a16="http://schemas.microsoft.com/office/drawing/2014/main" id="{64C315E4-1A8B-F815-7BFE-C71F8897BDF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2261E47-6E57-58C2-4012-80B4B6FE9D6C}"/>
              </a:ext>
            </a:extLst>
          </p:cNvPr>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a:extLst>
              <a:ext uri="{FF2B5EF4-FFF2-40B4-BE49-F238E27FC236}">
                <a16:creationId xmlns:a16="http://schemas.microsoft.com/office/drawing/2014/main" id="{D93DB853-6BCC-3F37-0BAB-5255552B3E50}"/>
              </a:ext>
            </a:extLst>
          </p:cNvPr>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a:extLst>
              <a:ext uri="{FF2B5EF4-FFF2-40B4-BE49-F238E27FC236}">
                <a16:creationId xmlns:a16="http://schemas.microsoft.com/office/drawing/2014/main" id="{D5B45ACD-1920-BE58-CBE4-31ACFD163265}"/>
              </a:ext>
            </a:extLst>
          </p:cNvPr>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a:extLst>
              <a:ext uri="{FF2B5EF4-FFF2-40B4-BE49-F238E27FC236}">
                <a16:creationId xmlns:a16="http://schemas.microsoft.com/office/drawing/2014/main" id="{FCF740C7-6530-E9D5-4CB5-8C1B589043E8}"/>
              </a:ext>
            </a:extLst>
          </p:cNvPr>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a:extLst>
              <a:ext uri="{FF2B5EF4-FFF2-40B4-BE49-F238E27FC236}">
                <a16:creationId xmlns:a16="http://schemas.microsoft.com/office/drawing/2014/main" id="{86513F6C-CEDC-CD78-A858-D67CE3262EA1}"/>
              </a:ext>
            </a:extLst>
          </p:cNvPr>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III</a:t>
            </a:r>
            <a:endParaRPr lang="en-US" sz="750" dirty="0"/>
          </a:p>
        </p:txBody>
      </p:sp>
      <p:sp>
        <p:nvSpPr>
          <p:cNvPr id="8" name="Text 6">
            <a:extLst>
              <a:ext uri="{FF2B5EF4-FFF2-40B4-BE49-F238E27FC236}">
                <a16:creationId xmlns:a16="http://schemas.microsoft.com/office/drawing/2014/main" id="{F3F7F985-10ED-6FE0-E5CD-DAC503A44418}"/>
              </a:ext>
            </a:extLst>
          </p:cNvPr>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a:solidFill>
                  <a:srgbClr val="1F2328"/>
                </a:solidFill>
                <a:latin typeface="Arial" pitchFamily="34" charset="0"/>
                <a:ea typeface="Arial" pitchFamily="34" charset="-122"/>
                <a:cs typeface="Arial" pitchFamily="34" charset="-120"/>
              </a:rPr>
              <a:t>Đặc tả chi tiết các lớp Thực thể: ThanhToan </a:t>
            </a:r>
            <a:endParaRPr lang="en-US" sz="2400" dirty="0"/>
          </a:p>
        </p:txBody>
      </p:sp>
      <p:sp>
        <p:nvSpPr>
          <p:cNvPr id="9" name="Shape 7">
            <a:extLst>
              <a:ext uri="{FF2B5EF4-FFF2-40B4-BE49-F238E27FC236}">
                <a16:creationId xmlns:a16="http://schemas.microsoft.com/office/drawing/2014/main" id="{34569E0C-CC28-2FCE-C2AD-FA9CBB26C1D2}"/>
              </a:ext>
            </a:extLst>
          </p:cNvPr>
          <p:cNvSpPr/>
          <p:nvPr/>
        </p:nvSpPr>
        <p:spPr>
          <a:xfrm>
            <a:off x="502920" y="1034846"/>
            <a:ext cx="1188720" cy="0"/>
          </a:xfrm>
          <a:prstGeom prst="line">
            <a:avLst/>
          </a:prstGeom>
          <a:noFill/>
          <a:ln w="27940">
            <a:solidFill>
              <a:srgbClr val="B50915"/>
            </a:solidFill>
            <a:prstDash val="solid"/>
          </a:ln>
        </p:spPr>
        <p:txBody>
          <a:bodyPr/>
          <a:lstStyle/>
          <a:p>
            <a:endParaRPr lang="vi-VN"/>
          </a:p>
        </p:txBody>
      </p:sp>
      <p:sp>
        <p:nvSpPr>
          <p:cNvPr id="31" name="Shape 29">
            <a:extLst>
              <a:ext uri="{FF2B5EF4-FFF2-40B4-BE49-F238E27FC236}">
                <a16:creationId xmlns:a16="http://schemas.microsoft.com/office/drawing/2014/main" id="{06CFFBB3-B846-10C5-C7BE-B9E70C95F952}"/>
              </a:ext>
            </a:extLst>
          </p:cNvPr>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32" name="Text 30">
            <a:extLst>
              <a:ext uri="{FF2B5EF4-FFF2-40B4-BE49-F238E27FC236}">
                <a16:creationId xmlns:a16="http://schemas.microsoft.com/office/drawing/2014/main" id="{4E3126E7-6D72-F767-80B5-44F3769AE92F}"/>
              </a:ext>
            </a:extLst>
          </p:cNvPr>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33" name="Text 31">
            <a:extLst>
              <a:ext uri="{FF2B5EF4-FFF2-40B4-BE49-F238E27FC236}">
                <a16:creationId xmlns:a16="http://schemas.microsoft.com/office/drawing/2014/main" id="{0C300C65-9ADC-FF2E-8F8A-ECF5C72A98A7}"/>
              </a:ext>
            </a:extLst>
          </p:cNvPr>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29</a:t>
            </a:r>
            <a:endParaRPr lang="en-US" sz="1000" dirty="0"/>
          </a:p>
        </p:txBody>
      </p:sp>
      <p:sp>
        <p:nvSpPr>
          <p:cNvPr id="34" name="Text 5">
            <a:extLst>
              <a:ext uri="{FF2B5EF4-FFF2-40B4-BE49-F238E27FC236}">
                <a16:creationId xmlns:a16="http://schemas.microsoft.com/office/drawing/2014/main" id="{162A52EE-A03D-1063-4674-42A570F402FA}"/>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III: THIẾT KẾ HỆ THỐNG</a:t>
            </a:r>
          </a:p>
          <a:p>
            <a:pPr marL="0" indent="0">
              <a:buNone/>
            </a:pPr>
            <a:r>
              <a:rPr lang="en-US" sz="1200" b="1">
                <a:solidFill>
                  <a:srgbClr val="B50915"/>
                </a:solidFill>
                <a:latin typeface="Arial" pitchFamily="34" charset="0"/>
                <a:cs typeface="Arial" pitchFamily="34" charset="-120"/>
              </a:rPr>
              <a:t>3.1  Thiết kế lớp chi tiết</a:t>
            </a:r>
            <a:endParaRPr lang="en-US" sz="1200" dirty="0"/>
          </a:p>
        </p:txBody>
      </p:sp>
      <p:pic>
        <p:nvPicPr>
          <p:cNvPr id="7" name="Hình ảnh 6">
            <a:extLst>
              <a:ext uri="{FF2B5EF4-FFF2-40B4-BE49-F238E27FC236}">
                <a16:creationId xmlns:a16="http://schemas.microsoft.com/office/drawing/2014/main" id="{DF4497CF-432F-49AF-515C-0A52B4AE4481}"/>
              </a:ext>
            </a:extLst>
          </p:cNvPr>
          <p:cNvPicPr>
            <a:picLocks noChangeAspect="1"/>
          </p:cNvPicPr>
          <p:nvPr/>
        </p:nvPicPr>
        <p:blipFill>
          <a:blip r:embed="rId3"/>
          <a:stretch>
            <a:fillRect/>
          </a:stretch>
        </p:blipFill>
        <p:spPr>
          <a:xfrm>
            <a:off x="2691601" y="1106423"/>
            <a:ext cx="7764128" cy="5296907"/>
          </a:xfrm>
          <a:prstGeom prst="rect">
            <a:avLst/>
          </a:prstGeom>
        </p:spPr>
      </p:pic>
    </p:spTree>
    <p:extLst>
      <p:ext uri="{BB962C8B-B14F-4D97-AF65-F5344CB8AC3E}">
        <p14:creationId xmlns:p14="http://schemas.microsoft.com/office/powerpoint/2010/main" val="39181979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0">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2094"/>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III</a:t>
            </a:r>
            <a:endParaRPr lang="en-US" sz="750" dirty="0"/>
          </a:p>
        </p:txBody>
      </p:sp>
      <p:sp>
        <p:nvSpPr>
          <p:cNvPr id="8" name="Text 6"/>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a:solidFill>
                  <a:srgbClr val="1F2328"/>
                </a:solidFill>
                <a:latin typeface="Arial" pitchFamily="34" charset="0"/>
                <a:ea typeface="Arial" pitchFamily="34" charset="-122"/>
                <a:cs typeface="Arial" pitchFamily="34" charset="-120"/>
              </a:rPr>
              <a:t>Đặc tả lớp Điều khiển (Control) </a:t>
            </a:r>
            <a:endParaRPr lang="en-US" sz="2400" dirty="0"/>
          </a:p>
        </p:txBody>
      </p:sp>
      <p:sp>
        <p:nvSpPr>
          <p:cNvPr id="9" name="Shape 7"/>
          <p:cNvSpPr/>
          <p:nvPr/>
        </p:nvSpPr>
        <p:spPr>
          <a:xfrm>
            <a:off x="502920" y="1029021"/>
            <a:ext cx="1188720" cy="0"/>
          </a:xfrm>
          <a:prstGeom prst="line">
            <a:avLst/>
          </a:prstGeom>
          <a:noFill/>
          <a:ln w="27940">
            <a:solidFill>
              <a:srgbClr val="B50915"/>
            </a:solidFill>
            <a:prstDash val="solid"/>
          </a:ln>
        </p:spPr>
        <p:txBody>
          <a:bodyPr/>
          <a:lstStyle/>
          <a:p>
            <a:endParaRPr lang="vi-VN"/>
          </a:p>
        </p:txBody>
      </p:sp>
      <p:sp>
        <p:nvSpPr>
          <p:cNvPr id="10" name="Text 8"/>
          <p:cNvSpPr/>
          <p:nvPr/>
        </p:nvSpPr>
        <p:spPr>
          <a:xfrm>
            <a:off x="868680" y="1265949"/>
            <a:ext cx="10424160" cy="612647"/>
          </a:xfrm>
          <a:prstGeom prst="rect">
            <a:avLst/>
          </a:prstGeom>
          <a:noFill/>
          <a:ln/>
        </p:spPr>
        <p:txBody>
          <a:bodyPr wrap="square" lIns="762" tIns="762" rIns="762" bIns="762" rtlCol="0" anchor="t">
            <a:normAutofit/>
          </a:bodyPr>
          <a:lstStyle/>
          <a:p>
            <a:pPr marL="0" indent="0" algn="ctr">
              <a:buNone/>
            </a:pPr>
            <a:r>
              <a:rPr lang="vi-VN" sz="1700" b="1">
                <a:solidFill>
                  <a:srgbClr val="1F2328"/>
                </a:solidFill>
                <a:latin typeface="Arial" pitchFamily="34" charset="0"/>
                <a:ea typeface="Arial" pitchFamily="34" charset="-122"/>
                <a:cs typeface="Arial" pitchFamily="34" charset="-120"/>
              </a:rPr>
              <a:t>Các lớp điều khiển không trường cửu (không ánh xạ xuống cơ sở dữ liệu);</a:t>
            </a:r>
          </a:p>
          <a:p>
            <a:pPr marL="0" indent="0" algn="ctr">
              <a:buNone/>
            </a:pPr>
            <a:r>
              <a:rPr lang="vi-VN" sz="1700" b="1">
                <a:solidFill>
                  <a:srgbClr val="1F2328"/>
                </a:solidFill>
                <a:latin typeface="Arial" pitchFamily="34" charset="0"/>
                <a:ea typeface="Arial" pitchFamily="34" charset="-122"/>
                <a:cs typeface="Arial" pitchFamily="34" charset="-120"/>
              </a:rPr>
              <a:t>chúng chứa quy tắc nghiệp vụ và điều phối luồng xử lý</a:t>
            </a:r>
            <a:endParaRPr lang="en-US" sz="1700" dirty="0"/>
          </a:p>
        </p:txBody>
      </p:sp>
      <p:sp>
        <p:nvSpPr>
          <p:cNvPr id="11" name="Text 9"/>
          <p:cNvSpPr/>
          <p:nvPr/>
        </p:nvSpPr>
        <p:spPr>
          <a:xfrm>
            <a:off x="731520" y="2148840"/>
            <a:ext cx="2926080" cy="365760"/>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en-US" sz="1600" b="1">
                <a:solidFill>
                  <a:srgbClr val="FFFFFF"/>
                </a:solidFill>
                <a:latin typeface="Arial" pitchFamily="34" charset="0"/>
                <a:ea typeface="Arial" pitchFamily="34" charset="-122"/>
                <a:cs typeface="Arial" pitchFamily="34" charset="-120"/>
              </a:rPr>
              <a:t>Lớp điều khiển</a:t>
            </a:r>
            <a:endParaRPr lang="en-US" sz="1600" dirty="0"/>
          </a:p>
        </p:txBody>
      </p:sp>
      <p:sp>
        <p:nvSpPr>
          <p:cNvPr id="12" name="Text 10"/>
          <p:cNvSpPr/>
          <p:nvPr/>
        </p:nvSpPr>
        <p:spPr>
          <a:xfrm>
            <a:off x="3657600" y="2148840"/>
            <a:ext cx="7772400" cy="365760"/>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en-US" sz="1600" b="1">
                <a:solidFill>
                  <a:srgbClr val="FFFFFF"/>
                </a:solidFill>
                <a:latin typeface="Arial" pitchFamily="34" charset="0"/>
                <a:ea typeface="Arial" pitchFamily="34" charset="-122"/>
                <a:cs typeface="Arial" pitchFamily="34" charset="-120"/>
              </a:rPr>
              <a:t>Các thao tác chính</a:t>
            </a:r>
            <a:endParaRPr lang="en-US" sz="1600" dirty="0"/>
          </a:p>
        </p:txBody>
      </p:sp>
      <p:sp>
        <p:nvSpPr>
          <p:cNvPr id="13" name="Text 11"/>
          <p:cNvSpPr/>
          <p:nvPr/>
        </p:nvSpPr>
        <p:spPr>
          <a:xfrm>
            <a:off x="731520" y="2514599"/>
            <a:ext cx="2926080" cy="632461"/>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980" dirty="0">
                <a:solidFill>
                  <a:srgbClr val="1F2328"/>
                </a:solidFill>
                <a:latin typeface="Arial" pitchFamily="34" charset="0"/>
                <a:ea typeface="Arial" pitchFamily="34" charset="-122"/>
                <a:cs typeface="Arial" pitchFamily="34" charset="-120"/>
              </a:rPr>
              <a:t>Ctrl_XacThuc</a:t>
            </a:r>
            <a:endParaRPr lang="en-US" sz="980" dirty="0"/>
          </a:p>
        </p:txBody>
      </p:sp>
      <p:sp>
        <p:nvSpPr>
          <p:cNvPr id="14" name="Text 12"/>
          <p:cNvSpPr/>
          <p:nvPr/>
        </p:nvSpPr>
        <p:spPr>
          <a:xfrm>
            <a:off x="3657600" y="2514600"/>
            <a:ext cx="7772400" cy="632461"/>
          </a:xfrm>
          <a:prstGeom prst="rect">
            <a:avLst/>
          </a:prstGeom>
          <a:solidFill>
            <a:srgbClr val="FFFFFF"/>
          </a:solidFill>
          <a:ln w="6350">
            <a:solidFill>
              <a:srgbClr val="D9DDE3"/>
            </a:solidFill>
          </a:ln>
        </p:spPr>
        <p:txBody>
          <a:bodyPr wrap="square" lIns="635" tIns="635" rIns="635" bIns="635" rtlCol="0" anchor="ctr">
            <a:normAutofit/>
          </a:bodyPr>
          <a:lstStyle/>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KiemTraThongTin(soDienThoai, matKhau): boolean</a:t>
            </a:r>
            <a:endParaRPr lang="vi-VN" sz="1100">
              <a:effectLst/>
              <a:latin typeface="Arial" panose="020B0604020202020204" pitchFamily="34" charset="0"/>
              <a:ea typeface="Arial" panose="020B0604020202020204" pitchFamily="34" charset="0"/>
              <a:cs typeface="Arial" panose="020B0604020202020204" pitchFamily="34" charset="0"/>
            </a:endParaRPr>
          </a:p>
          <a:p>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PhanQuyen(loaiTaiKhoan: String): void</a:t>
            </a:r>
            <a:endParaRPr lang="en-US" sz="980" dirty="0">
              <a:solidFill>
                <a:srgbClr val="1F2328"/>
              </a:solidFill>
              <a:latin typeface="Arial" pitchFamily="34" charset="0"/>
              <a:ea typeface="Arial" pitchFamily="34" charset="-122"/>
              <a:cs typeface="Arial" pitchFamily="34" charset="-120"/>
            </a:endParaRPr>
          </a:p>
        </p:txBody>
      </p:sp>
      <p:sp>
        <p:nvSpPr>
          <p:cNvPr id="15" name="Text 13"/>
          <p:cNvSpPr/>
          <p:nvPr/>
        </p:nvSpPr>
        <p:spPr>
          <a:xfrm>
            <a:off x="731520" y="3147061"/>
            <a:ext cx="2926080" cy="1009978"/>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980" dirty="0">
                <a:solidFill>
                  <a:srgbClr val="1F2328"/>
                </a:solidFill>
                <a:latin typeface="Arial" pitchFamily="34" charset="0"/>
                <a:ea typeface="Arial" pitchFamily="34" charset="-122"/>
                <a:cs typeface="Arial" pitchFamily="34" charset="-120"/>
              </a:rPr>
              <a:t>Ctrl_GiaoHang</a:t>
            </a:r>
            <a:endParaRPr lang="en-US" sz="980" dirty="0"/>
          </a:p>
        </p:txBody>
      </p:sp>
      <p:sp>
        <p:nvSpPr>
          <p:cNvPr id="16" name="Text 14"/>
          <p:cNvSpPr/>
          <p:nvPr/>
        </p:nvSpPr>
        <p:spPr>
          <a:xfrm>
            <a:off x="3657600" y="3147061"/>
            <a:ext cx="7772400" cy="1009978"/>
          </a:xfrm>
          <a:prstGeom prst="rect">
            <a:avLst/>
          </a:prstGeom>
          <a:solidFill>
            <a:srgbClr val="FFFFFF"/>
          </a:solidFill>
          <a:ln w="6350">
            <a:solidFill>
              <a:srgbClr val="D9DDE3"/>
            </a:solidFill>
          </a:ln>
        </p:spPr>
        <p:txBody>
          <a:bodyPr wrap="square" lIns="635" tIns="635" rIns="635" bIns="635" rtlCol="0" anchor="ctr">
            <a:normAutofit/>
          </a:bodyPr>
          <a:lstStyle/>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TruyVanNganTrong(maTram, maKichThuoc): List&lt;NganTu&gt;</a:t>
            </a:r>
            <a:endParaRPr lang="vi-VN" sz="11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TaoGiaoDichMoi(maNT, sdtNguoiNhan, tienCOD): String</a:t>
            </a:r>
            <a:endParaRPr lang="vi-VN" sz="11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XacNhanCatHang</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maGD, maNT</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String</a:t>
            </a:r>
            <a:endParaRPr lang="vi-VN" sz="11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SinhMaOTP(): String</a:t>
            </a:r>
            <a:endParaRPr lang="vi-VN" sz="11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GuiThongBaoSMS(sdtNguoiNhan, maOTP_QR): void</a:t>
            </a:r>
            <a:endParaRPr lang="vi-VN" sz="1100">
              <a:effectLst/>
              <a:latin typeface="Arial" panose="020B0604020202020204" pitchFamily="34" charset="0"/>
              <a:ea typeface="Arial" panose="020B0604020202020204" pitchFamily="34" charset="0"/>
              <a:cs typeface="Arial" panose="020B0604020202020204" pitchFamily="34" charset="0"/>
            </a:endParaRPr>
          </a:p>
          <a:p>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MoChotTu(maNT): void</a:t>
            </a:r>
            <a:endParaRPr lang="en-US" sz="980" dirty="0"/>
          </a:p>
        </p:txBody>
      </p:sp>
      <p:sp>
        <p:nvSpPr>
          <p:cNvPr id="17" name="Text 15"/>
          <p:cNvSpPr/>
          <p:nvPr/>
        </p:nvSpPr>
        <p:spPr>
          <a:xfrm>
            <a:off x="731520" y="4157039"/>
            <a:ext cx="2926080" cy="1124707"/>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980" dirty="0">
                <a:solidFill>
                  <a:srgbClr val="1F2328"/>
                </a:solidFill>
                <a:latin typeface="Arial" pitchFamily="34" charset="0"/>
                <a:ea typeface="Arial" pitchFamily="34" charset="-122"/>
                <a:cs typeface="Arial" pitchFamily="34" charset="-120"/>
              </a:rPr>
              <a:t>Ctrl_NhanHangVaThanhToan</a:t>
            </a:r>
            <a:endParaRPr lang="en-US" sz="980" dirty="0"/>
          </a:p>
        </p:txBody>
      </p:sp>
      <p:sp>
        <p:nvSpPr>
          <p:cNvPr id="18" name="Text 16"/>
          <p:cNvSpPr/>
          <p:nvPr/>
        </p:nvSpPr>
        <p:spPr>
          <a:xfrm>
            <a:off x="3657600" y="4157039"/>
            <a:ext cx="7772400" cy="1124711"/>
          </a:xfrm>
          <a:prstGeom prst="rect">
            <a:avLst/>
          </a:prstGeom>
          <a:solidFill>
            <a:srgbClr val="FFFFFF"/>
          </a:solidFill>
          <a:ln w="6350">
            <a:solidFill>
              <a:srgbClr val="D9DDE3"/>
            </a:solidFill>
          </a:ln>
        </p:spPr>
        <p:txBody>
          <a:bodyPr wrap="square" lIns="635" tIns="635" rIns="635" bIns="635" rtlCol="0" anchor="ctr">
            <a:normAutofit/>
          </a:bodyPr>
          <a:lstStyle/>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XacThucMaOTP(maOTP): boolean</a:t>
            </a:r>
            <a:endParaRPr lang="vi-VN" sz="11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TinhThoiGianLuuBai(thoiGianGui: Date): int</a:t>
            </a:r>
            <a:endParaRPr lang="vi-VN" sz="11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TinhTongTien(tienCOD: double, phiLuuBai: double): double</a:t>
            </a:r>
            <a:endParaRPr lang="vi-VN" sz="11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XuLyThanhToanThanhCong(maGD): void</a:t>
            </a:r>
            <a:endParaRPr lang="vi-VN" sz="11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80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MoChotTu(maNT): void</a:t>
            </a:r>
            <a:endParaRPr lang="vi-VN" sz="1100">
              <a:effectLst/>
              <a:latin typeface="Arial" panose="020B0604020202020204" pitchFamily="34" charset="0"/>
              <a:ea typeface="Arial" panose="020B0604020202020204" pitchFamily="34" charset="0"/>
              <a:cs typeface="Arial" panose="020B0604020202020204" pitchFamily="34" charset="0"/>
            </a:endParaRPr>
          </a:p>
          <a:p>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XacNhanNhanHang</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(ma</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GD, maNT</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String</a:t>
            </a:r>
            <a:endParaRPr lang="en-US" sz="980" dirty="0">
              <a:solidFill>
                <a:srgbClr val="1F2328"/>
              </a:solidFill>
              <a:latin typeface="Arial" pitchFamily="34" charset="0"/>
              <a:ea typeface="Arial" pitchFamily="34" charset="-122"/>
              <a:cs typeface="Arial" pitchFamily="34" charset="-120"/>
            </a:endParaRPr>
          </a:p>
        </p:txBody>
      </p:sp>
      <p:sp>
        <p:nvSpPr>
          <p:cNvPr id="23" name="Text 21"/>
          <p:cNvSpPr/>
          <p:nvPr/>
        </p:nvSpPr>
        <p:spPr>
          <a:xfrm>
            <a:off x="1005840" y="5786851"/>
            <a:ext cx="2420874"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Form_* nhận dữ liệu</a:t>
            </a:r>
            <a:endParaRPr lang="en-US" sz="1050" dirty="0"/>
          </a:p>
        </p:txBody>
      </p:sp>
      <p:sp>
        <p:nvSpPr>
          <p:cNvPr id="24" name="Shape 22"/>
          <p:cNvSpPr/>
          <p:nvPr/>
        </p:nvSpPr>
        <p:spPr>
          <a:xfrm>
            <a:off x="3445002" y="6053984"/>
            <a:ext cx="73152" cy="0"/>
          </a:xfrm>
          <a:prstGeom prst="line">
            <a:avLst/>
          </a:prstGeom>
          <a:noFill/>
          <a:ln w="17780">
            <a:solidFill>
              <a:srgbClr val="B50915"/>
            </a:solidFill>
            <a:prstDash val="solid"/>
            <a:headEnd type="none"/>
            <a:tailEnd type="triangle"/>
          </a:ln>
        </p:spPr>
        <p:txBody>
          <a:bodyPr/>
          <a:lstStyle/>
          <a:p>
            <a:endParaRPr lang="vi-VN"/>
          </a:p>
        </p:txBody>
      </p:sp>
      <p:sp>
        <p:nvSpPr>
          <p:cNvPr id="25" name="Text 23"/>
          <p:cNvSpPr/>
          <p:nvPr/>
        </p:nvSpPr>
        <p:spPr>
          <a:xfrm>
            <a:off x="3536442" y="5786851"/>
            <a:ext cx="2420874"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Ctrl_* xử lý quy tắc</a:t>
            </a:r>
            <a:endParaRPr lang="en-US" sz="1050" dirty="0"/>
          </a:p>
        </p:txBody>
      </p:sp>
      <p:sp>
        <p:nvSpPr>
          <p:cNvPr id="26" name="Shape 24"/>
          <p:cNvSpPr/>
          <p:nvPr/>
        </p:nvSpPr>
        <p:spPr>
          <a:xfrm>
            <a:off x="5975604" y="6053984"/>
            <a:ext cx="73152" cy="0"/>
          </a:xfrm>
          <a:prstGeom prst="line">
            <a:avLst/>
          </a:prstGeom>
          <a:noFill/>
          <a:ln w="17780">
            <a:solidFill>
              <a:srgbClr val="B50915"/>
            </a:solidFill>
            <a:prstDash val="solid"/>
            <a:headEnd type="none"/>
            <a:tailEnd type="triangle"/>
          </a:ln>
        </p:spPr>
        <p:txBody>
          <a:bodyPr/>
          <a:lstStyle/>
          <a:p>
            <a:endParaRPr lang="vi-VN"/>
          </a:p>
        </p:txBody>
      </p:sp>
      <p:sp>
        <p:nvSpPr>
          <p:cNvPr id="27" name="Text 25"/>
          <p:cNvSpPr/>
          <p:nvPr/>
        </p:nvSpPr>
        <p:spPr>
          <a:xfrm>
            <a:off x="6067044" y="5786851"/>
            <a:ext cx="2420874"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Entity cập nhật</a:t>
            </a:r>
            <a:endParaRPr lang="en-US" sz="1050" dirty="0"/>
          </a:p>
        </p:txBody>
      </p:sp>
      <p:sp>
        <p:nvSpPr>
          <p:cNvPr id="28" name="Shape 26"/>
          <p:cNvSpPr/>
          <p:nvPr/>
        </p:nvSpPr>
        <p:spPr>
          <a:xfrm>
            <a:off x="8506206" y="6053984"/>
            <a:ext cx="73152" cy="0"/>
          </a:xfrm>
          <a:prstGeom prst="line">
            <a:avLst/>
          </a:prstGeom>
          <a:noFill/>
          <a:ln w="17780">
            <a:solidFill>
              <a:srgbClr val="B50915"/>
            </a:solidFill>
            <a:prstDash val="solid"/>
            <a:headEnd type="none"/>
            <a:tailEnd type="triangle"/>
          </a:ln>
        </p:spPr>
        <p:txBody>
          <a:bodyPr/>
          <a:lstStyle/>
          <a:p>
            <a:endParaRPr lang="vi-VN"/>
          </a:p>
        </p:txBody>
      </p:sp>
      <p:sp>
        <p:nvSpPr>
          <p:cNvPr id="29" name="Text 27"/>
          <p:cNvSpPr/>
          <p:nvPr/>
        </p:nvSpPr>
        <p:spPr>
          <a:xfrm>
            <a:off x="8597646" y="5786851"/>
            <a:ext cx="2420874"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Form_* phản hồi</a:t>
            </a:r>
            <a:endParaRPr lang="en-US" sz="1050" dirty="0"/>
          </a:p>
        </p:txBody>
      </p:sp>
      <p:sp>
        <p:nvSpPr>
          <p:cNvPr id="30" name="Shape 28"/>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31" name="Text 29"/>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32" name="Text 30"/>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30</a:t>
            </a:r>
            <a:endParaRPr lang="en-US" sz="1000" dirty="0"/>
          </a:p>
        </p:txBody>
      </p:sp>
      <p:sp>
        <p:nvSpPr>
          <p:cNvPr id="33" name="Text 5">
            <a:extLst>
              <a:ext uri="{FF2B5EF4-FFF2-40B4-BE49-F238E27FC236}">
                <a16:creationId xmlns:a16="http://schemas.microsoft.com/office/drawing/2014/main" id="{7AB66839-FDFD-186E-168F-9389763C8B40}"/>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III: THIẾT KẾ HỆ THỐNG</a:t>
            </a:r>
          </a:p>
          <a:p>
            <a:pPr marL="0" indent="0">
              <a:buNone/>
            </a:pPr>
            <a:r>
              <a:rPr lang="en-US" sz="1200" b="1">
                <a:solidFill>
                  <a:srgbClr val="B50915"/>
                </a:solidFill>
                <a:latin typeface="Arial" pitchFamily="34" charset="0"/>
                <a:cs typeface="Arial" pitchFamily="34" charset="-120"/>
              </a:rPr>
              <a:t>3.1  Thiết kế lớp chi tiết</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a:extLst>
            <a:ext uri="{FF2B5EF4-FFF2-40B4-BE49-F238E27FC236}">
              <a16:creationId xmlns:a16="http://schemas.microsoft.com/office/drawing/2014/main" id="{7D6568CC-15EE-3654-7660-F9AECB42121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C5D6C32-723F-2E45-79D1-C8C66B4FFA20}"/>
              </a:ext>
            </a:extLst>
          </p:cNvPr>
          <p:cNvSpPr/>
          <p:nvPr/>
        </p:nvSpPr>
        <p:spPr>
          <a:xfrm>
            <a:off x="0" y="373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a:extLst>
              <a:ext uri="{FF2B5EF4-FFF2-40B4-BE49-F238E27FC236}">
                <a16:creationId xmlns:a16="http://schemas.microsoft.com/office/drawing/2014/main" id="{DF73466B-060B-9F66-23DB-9E61591F797D}"/>
              </a:ext>
            </a:extLst>
          </p:cNvPr>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a:extLst>
              <a:ext uri="{FF2B5EF4-FFF2-40B4-BE49-F238E27FC236}">
                <a16:creationId xmlns:a16="http://schemas.microsoft.com/office/drawing/2014/main" id="{1BFE5C39-F26F-2956-CCDA-DC760F624CF6}"/>
              </a:ext>
            </a:extLst>
          </p:cNvPr>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a:extLst>
              <a:ext uri="{FF2B5EF4-FFF2-40B4-BE49-F238E27FC236}">
                <a16:creationId xmlns:a16="http://schemas.microsoft.com/office/drawing/2014/main" id="{317E1082-2BFA-1F76-042B-C9C8D762FE32}"/>
              </a:ext>
            </a:extLst>
          </p:cNvPr>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a:extLst>
              <a:ext uri="{FF2B5EF4-FFF2-40B4-BE49-F238E27FC236}">
                <a16:creationId xmlns:a16="http://schemas.microsoft.com/office/drawing/2014/main" id="{595FAE3C-5A4A-9BC0-A740-E45DDD7B039D}"/>
              </a:ext>
            </a:extLst>
          </p:cNvPr>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III</a:t>
            </a:r>
            <a:endParaRPr lang="en-US" sz="750" dirty="0"/>
          </a:p>
        </p:txBody>
      </p:sp>
      <p:sp>
        <p:nvSpPr>
          <p:cNvPr id="8" name="Text 6">
            <a:extLst>
              <a:ext uri="{FF2B5EF4-FFF2-40B4-BE49-F238E27FC236}">
                <a16:creationId xmlns:a16="http://schemas.microsoft.com/office/drawing/2014/main" id="{352E9FFE-E927-7379-9A3D-9E776E1B0D75}"/>
              </a:ext>
            </a:extLst>
          </p:cNvPr>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a:solidFill>
                  <a:srgbClr val="1F2328"/>
                </a:solidFill>
                <a:latin typeface="Arial" pitchFamily="34" charset="0"/>
                <a:ea typeface="Arial" pitchFamily="34" charset="-122"/>
                <a:cs typeface="Arial" pitchFamily="34" charset="-120"/>
              </a:rPr>
              <a:t>Đặc tả lớp Điều khiển (Control) </a:t>
            </a:r>
            <a:endParaRPr lang="en-US" sz="2400" dirty="0"/>
          </a:p>
        </p:txBody>
      </p:sp>
      <p:sp>
        <p:nvSpPr>
          <p:cNvPr id="9" name="Shape 7">
            <a:extLst>
              <a:ext uri="{FF2B5EF4-FFF2-40B4-BE49-F238E27FC236}">
                <a16:creationId xmlns:a16="http://schemas.microsoft.com/office/drawing/2014/main" id="{9FCEA06D-FDC9-F051-08B8-FC4CB40AF740}"/>
              </a:ext>
            </a:extLst>
          </p:cNvPr>
          <p:cNvSpPr/>
          <p:nvPr/>
        </p:nvSpPr>
        <p:spPr>
          <a:xfrm>
            <a:off x="502920" y="1058143"/>
            <a:ext cx="1188720" cy="0"/>
          </a:xfrm>
          <a:prstGeom prst="line">
            <a:avLst/>
          </a:prstGeom>
          <a:noFill/>
          <a:ln w="27940">
            <a:solidFill>
              <a:srgbClr val="B50915"/>
            </a:solidFill>
            <a:prstDash val="solid"/>
          </a:ln>
        </p:spPr>
        <p:txBody>
          <a:bodyPr/>
          <a:lstStyle/>
          <a:p>
            <a:endParaRPr lang="vi-VN"/>
          </a:p>
        </p:txBody>
      </p:sp>
      <p:sp>
        <p:nvSpPr>
          <p:cNvPr id="10" name="Text 8">
            <a:extLst>
              <a:ext uri="{FF2B5EF4-FFF2-40B4-BE49-F238E27FC236}">
                <a16:creationId xmlns:a16="http://schemas.microsoft.com/office/drawing/2014/main" id="{59DF0460-C590-C032-7EF5-0F131EF368CC}"/>
              </a:ext>
            </a:extLst>
          </p:cNvPr>
          <p:cNvSpPr/>
          <p:nvPr/>
        </p:nvSpPr>
        <p:spPr>
          <a:xfrm>
            <a:off x="868680" y="1353312"/>
            <a:ext cx="10424160" cy="457200"/>
          </a:xfrm>
          <a:prstGeom prst="rect">
            <a:avLst/>
          </a:prstGeom>
          <a:noFill/>
          <a:ln/>
        </p:spPr>
        <p:txBody>
          <a:bodyPr wrap="square" lIns="762" tIns="762" rIns="762" bIns="762" rtlCol="0" anchor="t">
            <a:normAutofit fontScale="92500" lnSpcReduction="10000"/>
          </a:bodyPr>
          <a:lstStyle/>
          <a:p>
            <a:pPr marL="0" indent="0" algn="ctr">
              <a:buNone/>
            </a:pPr>
            <a:r>
              <a:rPr lang="vi-VN" sz="1700" b="1">
                <a:solidFill>
                  <a:srgbClr val="1F2328"/>
                </a:solidFill>
                <a:latin typeface="Arial" pitchFamily="34" charset="0"/>
                <a:ea typeface="Arial" pitchFamily="34" charset="-122"/>
                <a:cs typeface="Arial" pitchFamily="34" charset="-120"/>
              </a:rPr>
              <a:t>Các lớp điều khiển không trường cửu (không ánh xạ xuống cơ sở dữ liệu);</a:t>
            </a:r>
          </a:p>
          <a:p>
            <a:pPr marL="0" indent="0" algn="ctr">
              <a:buNone/>
            </a:pPr>
            <a:r>
              <a:rPr lang="vi-VN" sz="1700" b="1">
                <a:solidFill>
                  <a:srgbClr val="1F2328"/>
                </a:solidFill>
                <a:latin typeface="Arial" pitchFamily="34" charset="0"/>
                <a:ea typeface="Arial" pitchFamily="34" charset="-122"/>
                <a:cs typeface="Arial" pitchFamily="34" charset="-120"/>
              </a:rPr>
              <a:t>chúng chứa quy tắc nghiệp vụ và điều phối luồng xử lý</a:t>
            </a:r>
            <a:endParaRPr lang="en-US" sz="1700" dirty="0"/>
          </a:p>
        </p:txBody>
      </p:sp>
      <p:sp>
        <p:nvSpPr>
          <p:cNvPr id="11" name="Text 9">
            <a:extLst>
              <a:ext uri="{FF2B5EF4-FFF2-40B4-BE49-F238E27FC236}">
                <a16:creationId xmlns:a16="http://schemas.microsoft.com/office/drawing/2014/main" id="{07EAA593-7487-9E09-A6E9-396E9064B15C}"/>
              </a:ext>
            </a:extLst>
          </p:cNvPr>
          <p:cNvSpPr/>
          <p:nvPr/>
        </p:nvSpPr>
        <p:spPr>
          <a:xfrm>
            <a:off x="731520" y="2148840"/>
            <a:ext cx="2926080" cy="365760"/>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en-US" sz="1600" b="1">
                <a:solidFill>
                  <a:srgbClr val="FFFFFF"/>
                </a:solidFill>
                <a:latin typeface="Arial" pitchFamily="34" charset="0"/>
                <a:ea typeface="Arial" pitchFamily="34" charset="-122"/>
                <a:cs typeface="Arial" pitchFamily="34" charset="-120"/>
              </a:rPr>
              <a:t>Lớp điều khiển</a:t>
            </a:r>
            <a:endParaRPr lang="en-US" sz="1600" dirty="0"/>
          </a:p>
        </p:txBody>
      </p:sp>
      <p:sp>
        <p:nvSpPr>
          <p:cNvPr id="12" name="Text 10">
            <a:extLst>
              <a:ext uri="{FF2B5EF4-FFF2-40B4-BE49-F238E27FC236}">
                <a16:creationId xmlns:a16="http://schemas.microsoft.com/office/drawing/2014/main" id="{CB11CAB7-004D-CA8B-30F5-1B552ABEC805}"/>
              </a:ext>
            </a:extLst>
          </p:cNvPr>
          <p:cNvSpPr/>
          <p:nvPr/>
        </p:nvSpPr>
        <p:spPr>
          <a:xfrm>
            <a:off x="3657600" y="2148840"/>
            <a:ext cx="7772400" cy="365760"/>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en-US" sz="1600" b="1">
                <a:solidFill>
                  <a:srgbClr val="FFFFFF"/>
                </a:solidFill>
                <a:latin typeface="Arial" pitchFamily="34" charset="0"/>
                <a:ea typeface="Arial" pitchFamily="34" charset="-122"/>
                <a:cs typeface="Arial" pitchFamily="34" charset="-120"/>
              </a:rPr>
              <a:t>Các thao tác chính</a:t>
            </a:r>
            <a:endParaRPr lang="en-US" sz="1600" dirty="0"/>
          </a:p>
        </p:txBody>
      </p:sp>
      <p:sp>
        <p:nvSpPr>
          <p:cNvPr id="13" name="Text 11">
            <a:extLst>
              <a:ext uri="{FF2B5EF4-FFF2-40B4-BE49-F238E27FC236}">
                <a16:creationId xmlns:a16="http://schemas.microsoft.com/office/drawing/2014/main" id="{4CF7BF4A-FBCC-35FF-0BED-82DEB7CF5B6F}"/>
              </a:ext>
            </a:extLst>
          </p:cNvPr>
          <p:cNvSpPr/>
          <p:nvPr/>
        </p:nvSpPr>
        <p:spPr>
          <a:xfrm>
            <a:off x="731520" y="2514599"/>
            <a:ext cx="2926080" cy="1421680"/>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980">
                <a:solidFill>
                  <a:srgbClr val="1F2328"/>
                </a:solidFill>
                <a:latin typeface="Arial" pitchFamily="34" charset="0"/>
                <a:ea typeface="Arial" pitchFamily="34" charset="-122"/>
                <a:cs typeface="Arial" pitchFamily="34" charset="-120"/>
              </a:rPr>
              <a:t>Ctrl_ThueTuCaNhan</a:t>
            </a:r>
            <a:endParaRPr lang="en-US" sz="980" dirty="0"/>
          </a:p>
        </p:txBody>
      </p:sp>
      <p:sp>
        <p:nvSpPr>
          <p:cNvPr id="14" name="Text 12">
            <a:extLst>
              <a:ext uri="{FF2B5EF4-FFF2-40B4-BE49-F238E27FC236}">
                <a16:creationId xmlns:a16="http://schemas.microsoft.com/office/drawing/2014/main" id="{D3E2C407-9575-5525-4796-038FE152B08E}"/>
              </a:ext>
            </a:extLst>
          </p:cNvPr>
          <p:cNvSpPr/>
          <p:nvPr/>
        </p:nvSpPr>
        <p:spPr>
          <a:xfrm>
            <a:off x="3657600" y="2514600"/>
            <a:ext cx="7772400" cy="1421679"/>
          </a:xfrm>
          <a:prstGeom prst="rect">
            <a:avLst/>
          </a:prstGeom>
          <a:solidFill>
            <a:srgbClr val="FFFFFF"/>
          </a:solidFill>
          <a:ln w="6350">
            <a:solidFill>
              <a:srgbClr val="D9DDE3"/>
            </a:solidFill>
          </a:ln>
        </p:spPr>
        <p:txBody>
          <a:bodyPr wrap="square" lIns="635" tIns="635" rIns="635" bIns="635" rtlCol="0" anchor="ctr">
            <a:normAutofit/>
          </a:bodyPr>
          <a:lstStyle/>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T</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ruyVanNganTrongVaBieuPhi</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maTram, </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maKichThuo</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c</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double</a:t>
            </a:r>
            <a:endParaRPr lang="vi-VN" sz="11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ChuyenDuLieuThue</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(ma</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NT, sdtNguoiNhan</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String</a:t>
            </a:r>
            <a:endParaRPr lang="vi-VN" sz="11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XuLyThanhToanThanhCong(): void</a:t>
            </a:r>
            <a:endParaRPr lang="vi-VN" sz="11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XacNhanCatDo</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(ma</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GD</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maNT</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String</a:t>
            </a:r>
            <a:endParaRPr lang="vi-VN" sz="11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SinhMaOTP(): String</a:t>
            </a:r>
            <a:endParaRPr lang="vi-VN" sz="11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80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MoChotTu(maNT): void</a:t>
            </a:r>
            <a:endParaRPr lang="vi-VN" sz="1100">
              <a:effectLst/>
              <a:latin typeface="Arial" panose="020B0604020202020204" pitchFamily="34" charset="0"/>
              <a:ea typeface="Arial" panose="020B0604020202020204" pitchFamily="34" charset="0"/>
              <a:cs typeface="Arial" panose="020B0604020202020204" pitchFamily="34" charset="0"/>
            </a:endParaRPr>
          </a:p>
          <a:p>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GuiThongBaoSMS</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sdtNguoiNhan, maOTP_QR</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String</a:t>
            </a:r>
            <a:endParaRPr lang="en-US" sz="980" dirty="0">
              <a:solidFill>
                <a:srgbClr val="1F2328"/>
              </a:solidFill>
              <a:latin typeface="Arial" pitchFamily="34" charset="0"/>
              <a:ea typeface="Arial" pitchFamily="34" charset="-122"/>
              <a:cs typeface="Arial" pitchFamily="34" charset="-120"/>
            </a:endParaRPr>
          </a:p>
        </p:txBody>
      </p:sp>
      <p:sp>
        <p:nvSpPr>
          <p:cNvPr id="15" name="Text 13">
            <a:extLst>
              <a:ext uri="{FF2B5EF4-FFF2-40B4-BE49-F238E27FC236}">
                <a16:creationId xmlns:a16="http://schemas.microsoft.com/office/drawing/2014/main" id="{E29C274E-E600-25BC-F73E-640C8709B3B6}"/>
              </a:ext>
            </a:extLst>
          </p:cNvPr>
          <p:cNvSpPr/>
          <p:nvPr/>
        </p:nvSpPr>
        <p:spPr>
          <a:xfrm>
            <a:off x="731520" y="3936279"/>
            <a:ext cx="2926080" cy="1009978"/>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980">
                <a:solidFill>
                  <a:srgbClr val="1F2328"/>
                </a:solidFill>
                <a:latin typeface="Arial" pitchFamily="34" charset="0"/>
                <a:ea typeface="Arial" pitchFamily="34" charset="-122"/>
                <a:cs typeface="Arial" pitchFamily="34" charset="-120"/>
              </a:rPr>
              <a:t>Ctrl_QuanTriHeThong</a:t>
            </a:r>
            <a:endParaRPr lang="en-US" sz="980" dirty="0"/>
          </a:p>
        </p:txBody>
      </p:sp>
      <p:sp>
        <p:nvSpPr>
          <p:cNvPr id="16" name="Text 14">
            <a:extLst>
              <a:ext uri="{FF2B5EF4-FFF2-40B4-BE49-F238E27FC236}">
                <a16:creationId xmlns:a16="http://schemas.microsoft.com/office/drawing/2014/main" id="{EF716C93-EEA1-7D7F-4E7D-D10022B8058E}"/>
              </a:ext>
            </a:extLst>
          </p:cNvPr>
          <p:cNvSpPr/>
          <p:nvPr/>
        </p:nvSpPr>
        <p:spPr>
          <a:xfrm>
            <a:off x="3657600" y="3936279"/>
            <a:ext cx="7772400" cy="1009978"/>
          </a:xfrm>
          <a:prstGeom prst="rect">
            <a:avLst/>
          </a:prstGeom>
          <a:solidFill>
            <a:srgbClr val="FFFFFF"/>
          </a:solidFill>
          <a:ln w="6350">
            <a:solidFill>
              <a:srgbClr val="D9DDE3"/>
            </a:solidFill>
          </a:ln>
        </p:spPr>
        <p:txBody>
          <a:bodyPr wrap="square" lIns="635" tIns="635" rIns="635" bIns="635" rtlCol="0" anchor="ctr">
            <a:normAutofit/>
          </a:bodyPr>
          <a:lstStyle/>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YeuCau</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LayDuLieuQuanLy(): void</a:t>
            </a:r>
            <a:endParaRPr lang="vi-VN" sz="11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CapNhatBieuPhi(maKichThuoc, phiDichVu, phiLuuBaiQuaHan): void</a:t>
            </a:r>
            <a:endParaRPr lang="vi-VN" sz="1100">
              <a:effectLst/>
              <a:latin typeface="Arial" panose="020B0604020202020204" pitchFamily="34" charset="0"/>
              <a:ea typeface="Arial" panose="020B0604020202020204" pitchFamily="34" charset="0"/>
              <a:cs typeface="Arial" panose="020B0604020202020204" pitchFamily="34" charset="0"/>
            </a:endParaRPr>
          </a:p>
          <a:p>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CapNhatThongTinTramTu(maTram, tenTram, diaChi, trangThai): void</a:t>
            </a:r>
            <a:endParaRPr lang="en-US" sz="980" dirty="0"/>
          </a:p>
        </p:txBody>
      </p:sp>
      <p:sp>
        <p:nvSpPr>
          <p:cNvPr id="23" name="Text 21">
            <a:extLst>
              <a:ext uri="{FF2B5EF4-FFF2-40B4-BE49-F238E27FC236}">
                <a16:creationId xmlns:a16="http://schemas.microsoft.com/office/drawing/2014/main" id="{51B27368-7A91-BA0E-5EE9-EBEF6AB925CF}"/>
              </a:ext>
            </a:extLst>
          </p:cNvPr>
          <p:cNvSpPr/>
          <p:nvPr/>
        </p:nvSpPr>
        <p:spPr>
          <a:xfrm>
            <a:off x="1005840" y="5786851"/>
            <a:ext cx="2420874"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Form_* nhận dữ liệu</a:t>
            </a:r>
            <a:endParaRPr lang="en-US" sz="1050" dirty="0"/>
          </a:p>
        </p:txBody>
      </p:sp>
      <p:sp>
        <p:nvSpPr>
          <p:cNvPr id="24" name="Shape 22">
            <a:extLst>
              <a:ext uri="{FF2B5EF4-FFF2-40B4-BE49-F238E27FC236}">
                <a16:creationId xmlns:a16="http://schemas.microsoft.com/office/drawing/2014/main" id="{0F051BE8-9073-2333-9EB0-D133499FC985}"/>
              </a:ext>
            </a:extLst>
          </p:cNvPr>
          <p:cNvSpPr/>
          <p:nvPr/>
        </p:nvSpPr>
        <p:spPr>
          <a:xfrm>
            <a:off x="3445002" y="6053984"/>
            <a:ext cx="73152" cy="0"/>
          </a:xfrm>
          <a:prstGeom prst="line">
            <a:avLst/>
          </a:prstGeom>
          <a:noFill/>
          <a:ln w="17780">
            <a:solidFill>
              <a:srgbClr val="B50915"/>
            </a:solidFill>
            <a:prstDash val="solid"/>
            <a:headEnd type="none"/>
            <a:tailEnd type="triangle"/>
          </a:ln>
        </p:spPr>
        <p:txBody>
          <a:bodyPr/>
          <a:lstStyle/>
          <a:p>
            <a:endParaRPr lang="vi-VN"/>
          </a:p>
        </p:txBody>
      </p:sp>
      <p:sp>
        <p:nvSpPr>
          <p:cNvPr id="25" name="Text 23">
            <a:extLst>
              <a:ext uri="{FF2B5EF4-FFF2-40B4-BE49-F238E27FC236}">
                <a16:creationId xmlns:a16="http://schemas.microsoft.com/office/drawing/2014/main" id="{B733EFFF-9CA4-9C32-FB54-E2686A717F13}"/>
              </a:ext>
            </a:extLst>
          </p:cNvPr>
          <p:cNvSpPr/>
          <p:nvPr/>
        </p:nvSpPr>
        <p:spPr>
          <a:xfrm>
            <a:off x="3536442" y="5786851"/>
            <a:ext cx="2420874"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Ctrl_* xử lý quy tắc</a:t>
            </a:r>
            <a:endParaRPr lang="en-US" sz="1050" dirty="0"/>
          </a:p>
        </p:txBody>
      </p:sp>
      <p:sp>
        <p:nvSpPr>
          <p:cNvPr id="26" name="Shape 24">
            <a:extLst>
              <a:ext uri="{FF2B5EF4-FFF2-40B4-BE49-F238E27FC236}">
                <a16:creationId xmlns:a16="http://schemas.microsoft.com/office/drawing/2014/main" id="{06FB66B4-7D43-5ECD-207B-7749949C4326}"/>
              </a:ext>
            </a:extLst>
          </p:cNvPr>
          <p:cNvSpPr/>
          <p:nvPr/>
        </p:nvSpPr>
        <p:spPr>
          <a:xfrm>
            <a:off x="5975604" y="6053984"/>
            <a:ext cx="73152" cy="0"/>
          </a:xfrm>
          <a:prstGeom prst="line">
            <a:avLst/>
          </a:prstGeom>
          <a:noFill/>
          <a:ln w="17780">
            <a:solidFill>
              <a:srgbClr val="B50915"/>
            </a:solidFill>
            <a:prstDash val="solid"/>
            <a:headEnd type="none"/>
            <a:tailEnd type="triangle"/>
          </a:ln>
        </p:spPr>
        <p:txBody>
          <a:bodyPr/>
          <a:lstStyle/>
          <a:p>
            <a:endParaRPr lang="vi-VN"/>
          </a:p>
        </p:txBody>
      </p:sp>
      <p:sp>
        <p:nvSpPr>
          <p:cNvPr id="27" name="Text 25">
            <a:extLst>
              <a:ext uri="{FF2B5EF4-FFF2-40B4-BE49-F238E27FC236}">
                <a16:creationId xmlns:a16="http://schemas.microsoft.com/office/drawing/2014/main" id="{36BC6A15-4054-45CE-7354-56ABE1EDB9DF}"/>
              </a:ext>
            </a:extLst>
          </p:cNvPr>
          <p:cNvSpPr/>
          <p:nvPr/>
        </p:nvSpPr>
        <p:spPr>
          <a:xfrm>
            <a:off x="6067044" y="5786851"/>
            <a:ext cx="2420874"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Entity cập nhật</a:t>
            </a:r>
            <a:endParaRPr lang="en-US" sz="1050" dirty="0"/>
          </a:p>
        </p:txBody>
      </p:sp>
      <p:sp>
        <p:nvSpPr>
          <p:cNvPr id="28" name="Shape 26">
            <a:extLst>
              <a:ext uri="{FF2B5EF4-FFF2-40B4-BE49-F238E27FC236}">
                <a16:creationId xmlns:a16="http://schemas.microsoft.com/office/drawing/2014/main" id="{AE3ED935-3440-0871-AE75-2F5374D565E9}"/>
              </a:ext>
            </a:extLst>
          </p:cNvPr>
          <p:cNvSpPr/>
          <p:nvPr/>
        </p:nvSpPr>
        <p:spPr>
          <a:xfrm>
            <a:off x="8506206" y="6053984"/>
            <a:ext cx="73152" cy="0"/>
          </a:xfrm>
          <a:prstGeom prst="line">
            <a:avLst/>
          </a:prstGeom>
          <a:noFill/>
          <a:ln w="17780">
            <a:solidFill>
              <a:srgbClr val="B50915"/>
            </a:solidFill>
            <a:prstDash val="solid"/>
            <a:headEnd type="none"/>
            <a:tailEnd type="triangle"/>
          </a:ln>
        </p:spPr>
        <p:txBody>
          <a:bodyPr/>
          <a:lstStyle/>
          <a:p>
            <a:endParaRPr lang="vi-VN"/>
          </a:p>
        </p:txBody>
      </p:sp>
      <p:sp>
        <p:nvSpPr>
          <p:cNvPr id="29" name="Text 27">
            <a:extLst>
              <a:ext uri="{FF2B5EF4-FFF2-40B4-BE49-F238E27FC236}">
                <a16:creationId xmlns:a16="http://schemas.microsoft.com/office/drawing/2014/main" id="{7B333573-42C3-5AAC-7273-DF4285D6FE62}"/>
              </a:ext>
            </a:extLst>
          </p:cNvPr>
          <p:cNvSpPr/>
          <p:nvPr/>
        </p:nvSpPr>
        <p:spPr>
          <a:xfrm>
            <a:off x="8597646" y="5786851"/>
            <a:ext cx="2420874"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Form_* phản hồi</a:t>
            </a:r>
            <a:endParaRPr lang="en-US" sz="1050" dirty="0"/>
          </a:p>
        </p:txBody>
      </p:sp>
      <p:sp>
        <p:nvSpPr>
          <p:cNvPr id="30" name="Shape 28">
            <a:extLst>
              <a:ext uri="{FF2B5EF4-FFF2-40B4-BE49-F238E27FC236}">
                <a16:creationId xmlns:a16="http://schemas.microsoft.com/office/drawing/2014/main" id="{4F42A0EF-8161-BAF5-1495-1C1D047E30F5}"/>
              </a:ext>
            </a:extLst>
          </p:cNvPr>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31" name="Text 29">
            <a:extLst>
              <a:ext uri="{FF2B5EF4-FFF2-40B4-BE49-F238E27FC236}">
                <a16:creationId xmlns:a16="http://schemas.microsoft.com/office/drawing/2014/main" id="{A8076E30-AD59-335B-9B2A-C3ADFD1DB6CC}"/>
              </a:ext>
            </a:extLst>
          </p:cNvPr>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32" name="Text 30">
            <a:extLst>
              <a:ext uri="{FF2B5EF4-FFF2-40B4-BE49-F238E27FC236}">
                <a16:creationId xmlns:a16="http://schemas.microsoft.com/office/drawing/2014/main" id="{3AA5B915-2180-4590-E773-F4DAA36388C3}"/>
              </a:ext>
            </a:extLst>
          </p:cNvPr>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30</a:t>
            </a:r>
            <a:endParaRPr lang="en-US" sz="1000" dirty="0"/>
          </a:p>
        </p:txBody>
      </p:sp>
      <p:sp>
        <p:nvSpPr>
          <p:cNvPr id="33" name="Text 5">
            <a:extLst>
              <a:ext uri="{FF2B5EF4-FFF2-40B4-BE49-F238E27FC236}">
                <a16:creationId xmlns:a16="http://schemas.microsoft.com/office/drawing/2014/main" id="{702933ED-0C84-21ED-1DA0-457E08DE9A1C}"/>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III: THIẾT KẾ HỆ THỐNG</a:t>
            </a:r>
          </a:p>
          <a:p>
            <a:pPr marL="0" indent="0">
              <a:buNone/>
            </a:pPr>
            <a:r>
              <a:rPr lang="en-US" sz="1200" b="1">
                <a:solidFill>
                  <a:srgbClr val="B50915"/>
                </a:solidFill>
                <a:latin typeface="Arial" pitchFamily="34" charset="0"/>
                <a:cs typeface="Arial" pitchFamily="34" charset="-120"/>
              </a:rPr>
              <a:t>3.1  Thiết kế lớp chi tiết</a:t>
            </a:r>
            <a:endParaRPr lang="en-US" sz="1200" dirty="0"/>
          </a:p>
        </p:txBody>
      </p:sp>
    </p:spTree>
    <p:extLst>
      <p:ext uri="{BB962C8B-B14F-4D97-AF65-F5344CB8AC3E}">
        <p14:creationId xmlns:p14="http://schemas.microsoft.com/office/powerpoint/2010/main" val="9777985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a:extLst>
            <a:ext uri="{FF2B5EF4-FFF2-40B4-BE49-F238E27FC236}">
              <a16:creationId xmlns:a16="http://schemas.microsoft.com/office/drawing/2014/main" id="{AAC37DF0-82BF-76CB-973F-5BF2B283D4A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20FF14A-1B91-38C7-ECA9-CA57BDF1D252}"/>
              </a:ext>
            </a:extLst>
          </p:cNvPr>
          <p:cNvSpPr/>
          <p:nvPr/>
        </p:nvSpPr>
        <p:spPr>
          <a:xfrm>
            <a:off x="0" y="-2094"/>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a:extLst>
              <a:ext uri="{FF2B5EF4-FFF2-40B4-BE49-F238E27FC236}">
                <a16:creationId xmlns:a16="http://schemas.microsoft.com/office/drawing/2014/main" id="{8EDDAF7A-6244-9A37-FAAE-415A30E9E3E4}"/>
              </a:ext>
            </a:extLst>
          </p:cNvPr>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a:extLst>
              <a:ext uri="{FF2B5EF4-FFF2-40B4-BE49-F238E27FC236}">
                <a16:creationId xmlns:a16="http://schemas.microsoft.com/office/drawing/2014/main" id="{2590086A-9E4A-4E44-51DB-DB7DE7B4987F}"/>
              </a:ext>
            </a:extLst>
          </p:cNvPr>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a:extLst>
              <a:ext uri="{FF2B5EF4-FFF2-40B4-BE49-F238E27FC236}">
                <a16:creationId xmlns:a16="http://schemas.microsoft.com/office/drawing/2014/main" id="{40607807-C027-832B-EECF-E17E53AF4C4A}"/>
              </a:ext>
            </a:extLst>
          </p:cNvPr>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a:extLst>
              <a:ext uri="{FF2B5EF4-FFF2-40B4-BE49-F238E27FC236}">
                <a16:creationId xmlns:a16="http://schemas.microsoft.com/office/drawing/2014/main" id="{D0F8EA39-76FA-54FE-6445-ADFE6F2A0E65}"/>
              </a:ext>
            </a:extLst>
          </p:cNvPr>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III</a:t>
            </a:r>
            <a:endParaRPr lang="en-US" sz="750" dirty="0"/>
          </a:p>
        </p:txBody>
      </p:sp>
      <p:sp>
        <p:nvSpPr>
          <p:cNvPr id="8" name="Text 6">
            <a:extLst>
              <a:ext uri="{FF2B5EF4-FFF2-40B4-BE49-F238E27FC236}">
                <a16:creationId xmlns:a16="http://schemas.microsoft.com/office/drawing/2014/main" id="{0918FD7F-2CFA-BFAE-9166-98012A03C8EA}"/>
              </a:ext>
            </a:extLst>
          </p:cNvPr>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a:solidFill>
                  <a:srgbClr val="1F2328"/>
                </a:solidFill>
                <a:latin typeface="Arial" pitchFamily="34" charset="0"/>
                <a:ea typeface="Arial" pitchFamily="34" charset="-122"/>
                <a:cs typeface="Arial" pitchFamily="34" charset="-120"/>
              </a:rPr>
              <a:t>Đặc tả các lớp biên (&lt;&lt;boundary&gt;&gt;) </a:t>
            </a:r>
            <a:endParaRPr lang="en-US" sz="2400" dirty="0"/>
          </a:p>
        </p:txBody>
      </p:sp>
      <p:sp>
        <p:nvSpPr>
          <p:cNvPr id="9" name="Shape 7">
            <a:extLst>
              <a:ext uri="{FF2B5EF4-FFF2-40B4-BE49-F238E27FC236}">
                <a16:creationId xmlns:a16="http://schemas.microsoft.com/office/drawing/2014/main" id="{25BA13C9-A2B2-B7EB-F096-F8D19D17CE37}"/>
              </a:ext>
            </a:extLst>
          </p:cNvPr>
          <p:cNvSpPr/>
          <p:nvPr/>
        </p:nvSpPr>
        <p:spPr>
          <a:xfrm>
            <a:off x="502920" y="1034846"/>
            <a:ext cx="1188720" cy="0"/>
          </a:xfrm>
          <a:prstGeom prst="line">
            <a:avLst/>
          </a:prstGeom>
          <a:noFill/>
          <a:ln w="27940">
            <a:solidFill>
              <a:srgbClr val="B50915"/>
            </a:solidFill>
            <a:prstDash val="solid"/>
          </a:ln>
        </p:spPr>
        <p:txBody>
          <a:bodyPr/>
          <a:lstStyle/>
          <a:p>
            <a:endParaRPr lang="vi-VN"/>
          </a:p>
        </p:txBody>
      </p:sp>
      <p:sp>
        <p:nvSpPr>
          <p:cNvPr id="10" name="Text 8">
            <a:extLst>
              <a:ext uri="{FF2B5EF4-FFF2-40B4-BE49-F238E27FC236}">
                <a16:creationId xmlns:a16="http://schemas.microsoft.com/office/drawing/2014/main" id="{CA3DAF1F-2563-9CAE-074F-020794070DF7}"/>
              </a:ext>
            </a:extLst>
          </p:cNvPr>
          <p:cNvSpPr/>
          <p:nvPr/>
        </p:nvSpPr>
        <p:spPr>
          <a:xfrm>
            <a:off x="868680" y="1248477"/>
            <a:ext cx="10424160" cy="457200"/>
          </a:xfrm>
          <a:prstGeom prst="rect">
            <a:avLst/>
          </a:prstGeom>
          <a:noFill/>
          <a:ln/>
        </p:spPr>
        <p:txBody>
          <a:bodyPr wrap="square" lIns="762" tIns="762" rIns="762" bIns="762" rtlCol="0" anchor="t">
            <a:normAutofit/>
          </a:bodyPr>
          <a:lstStyle/>
          <a:p>
            <a:pPr marL="0" indent="0" algn="ctr">
              <a:buNone/>
            </a:pPr>
            <a:r>
              <a:rPr lang="vi-VN" sz="1700" b="1">
                <a:solidFill>
                  <a:srgbClr val="1F2328"/>
                </a:solidFill>
                <a:latin typeface="Arial" pitchFamily="34" charset="0"/>
                <a:ea typeface="Arial" pitchFamily="34" charset="-122"/>
                <a:cs typeface="Arial" pitchFamily="34" charset="-120"/>
              </a:rPr>
              <a:t>Các lớp biên chịu trách nhiệm thu thập và hiển thị thông tin.</a:t>
            </a:r>
            <a:endParaRPr lang="en-US" sz="1700" dirty="0"/>
          </a:p>
        </p:txBody>
      </p:sp>
      <p:sp>
        <p:nvSpPr>
          <p:cNvPr id="11" name="Text 9">
            <a:extLst>
              <a:ext uri="{FF2B5EF4-FFF2-40B4-BE49-F238E27FC236}">
                <a16:creationId xmlns:a16="http://schemas.microsoft.com/office/drawing/2014/main" id="{B37C1F1F-806A-3F2C-7907-5910A8E91A04}"/>
              </a:ext>
            </a:extLst>
          </p:cNvPr>
          <p:cNvSpPr/>
          <p:nvPr/>
        </p:nvSpPr>
        <p:spPr>
          <a:xfrm>
            <a:off x="731520" y="1735181"/>
            <a:ext cx="2926080" cy="365760"/>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en-US" sz="1600" b="1">
                <a:solidFill>
                  <a:srgbClr val="FFFFFF"/>
                </a:solidFill>
                <a:latin typeface="Arial" pitchFamily="34" charset="0"/>
                <a:ea typeface="Arial" pitchFamily="34" charset="-122"/>
                <a:cs typeface="Arial" pitchFamily="34" charset="-120"/>
              </a:rPr>
              <a:t>Lớp biên</a:t>
            </a:r>
            <a:endParaRPr lang="en-US" sz="1600" dirty="0"/>
          </a:p>
        </p:txBody>
      </p:sp>
      <p:sp>
        <p:nvSpPr>
          <p:cNvPr id="12" name="Text 10">
            <a:extLst>
              <a:ext uri="{FF2B5EF4-FFF2-40B4-BE49-F238E27FC236}">
                <a16:creationId xmlns:a16="http://schemas.microsoft.com/office/drawing/2014/main" id="{A97448C5-1E0A-0074-22B8-9BA5840D80AF}"/>
              </a:ext>
            </a:extLst>
          </p:cNvPr>
          <p:cNvSpPr/>
          <p:nvPr/>
        </p:nvSpPr>
        <p:spPr>
          <a:xfrm>
            <a:off x="3657600" y="1735181"/>
            <a:ext cx="7772400" cy="365760"/>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en-US" sz="1600" b="1">
                <a:solidFill>
                  <a:srgbClr val="FFFFFF"/>
                </a:solidFill>
                <a:latin typeface="Arial" pitchFamily="34" charset="0"/>
                <a:ea typeface="Arial" pitchFamily="34" charset="-122"/>
                <a:cs typeface="Arial" pitchFamily="34" charset="-120"/>
              </a:rPr>
              <a:t>Thuộc tính / Thao tác chính</a:t>
            </a:r>
            <a:endParaRPr lang="en-US" sz="1600" dirty="0"/>
          </a:p>
        </p:txBody>
      </p:sp>
      <p:sp>
        <p:nvSpPr>
          <p:cNvPr id="13" name="Text 11">
            <a:extLst>
              <a:ext uri="{FF2B5EF4-FFF2-40B4-BE49-F238E27FC236}">
                <a16:creationId xmlns:a16="http://schemas.microsoft.com/office/drawing/2014/main" id="{06417641-F049-F684-5E18-9241E7AA65AD}"/>
              </a:ext>
            </a:extLst>
          </p:cNvPr>
          <p:cNvSpPr/>
          <p:nvPr/>
        </p:nvSpPr>
        <p:spPr>
          <a:xfrm>
            <a:off x="731520" y="2100940"/>
            <a:ext cx="2926080" cy="1421680"/>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980">
                <a:solidFill>
                  <a:srgbClr val="1F2328"/>
                </a:solidFill>
                <a:latin typeface="Arial" pitchFamily="34" charset="0"/>
                <a:ea typeface="Arial" pitchFamily="34" charset="-122"/>
                <a:cs typeface="Arial" pitchFamily="34" charset="-120"/>
              </a:rPr>
              <a:t>Form_DangNhap</a:t>
            </a:r>
            <a:endParaRPr lang="en-US" sz="980" dirty="0"/>
          </a:p>
        </p:txBody>
      </p:sp>
      <p:sp>
        <p:nvSpPr>
          <p:cNvPr id="14" name="Text 12">
            <a:extLst>
              <a:ext uri="{FF2B5EF4-FFF2-40B4-BE49-F238E27FC236}">
                <a16:creationId xmlns:a16="http://schemas.microsoft.com/office/drawing/2014/main" id="{68F91E4B-B8FE-F631-7AEC-81B7CD4A8510}"/>
              </a:ext>
            </a:extLst>
          </p:cNvPr>
          <p:cNvSpPr/>
          <p:nvPr/>
        </p:nvSpPr>
        <p:spPr>
          <a:xfrm>
            <a:off x="3657600" y="2100941"/>
            <a:ext cx="7772400" cy="1421679"/>
          </a:xfrm>
          <a:prstGeom prst="rect">
            <a:avLst/>
          </a:prstGeom>
          <a:solidFill>
            <a:srgbClr val="FFFFFF"/>
          </a:solidFill>
          <a:ln w="6350">
            <a:solidFill>
              <a:srgbClr val="D9DDE3"/>
            </a:solidFill>
          </a:ln>
        </p:spPr>
        <p:txBody>
          <a:bodyPr wrap="square" lIns="635" tIns="635" rIns="635" bIns="635" rtlCol="0" anchor="ctr">
            <a:normAutofit/>
          </a:bodyPr>
          <a:lstStyle/>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soDienThoai: String, </a:t>
            </a:r>
            <a:endParaRPr lang="vi-VN" sz="11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matKhau: String</a:t>
            </a:r>
            <a:endParaRPr lang="vi-VN" sz="11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NhapThongTin(</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soDienThoai, matKhau</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void  </a:t>
            </a:r>
            <a:endParaRPr lang="vi-VN" sz="1100">
              <a:effectLst/>
              <a:latin typeface="Arial" panose="020B0604020202020204" pitchFamily="34" charset="0"/>
              <a:ea typeface="Arial" panose="020B0604020202020204" pitchFamily="34" charset="0"/>
              <a:cs typeface="Arial" panose="020B0604020202020204" pitchFamily="34" charset="0"/>
            </a:endParaRPr>
          </a:p>
          <a:p>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HienThiThongBaoLoi(): void</a:t>
            </a:r>
            <a:endParaRPr lang="en-US" sz="980" dirty="0">
              <a:solidFill>
                <a:srgbClr val="1F2328"/>
              </a:solidFill>
              <a:latin typeface="Arial" pitchFamily="34" charset="0"/>
              <a:ea typeface="Arial" pitchFamily="34" charset="-122"/>
              <a:cs typeface="Arial" pitchFamily="34" charset="-120"/>
            </a:endParaRPr>
          </a:p>
        </p:txBody>
      </p:sp>
      <p:sp>
        <p:nvSpPr>
          <p:cNvPr id="15" name="Text 13">
            <a:extLst>
              <a:ext uri="{FF2B5EF4-FFF2-40B4-BE49-F238E27FC236}">
                <a16:creationId xmlns:a16="http://schemas.microsoft.com/office/drawing/2014/main" id="{7F9422B1-5887-8A53-0836-C0E2401A832C}"/>
              </a:ext>
            </a:extLst>
          </p:cNvPr>
          <p:cNvSpPr/>
          <p:nvPr/>
        </p:nvSpPr>
        <p:spPr>
          <a:xfrm>
            <a:off x="731520" y="3522620"/>
            <a:ext cx="2926080" cy="1009978"/>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980">
                <a:solidFill>
                  <a:srgbClr val="1F2328"/>
                </a:solidFill>
                <a:latin typeface="Arial" pitchFamily="34" charset="0"/>
                <a:ea typeface="Arial" pitchFamily="34" charset="-122"/>
                <a:cs typeface="Arial" pitchFamily="34" charset="-120"/>
              </a:rPr>
              <a:t>Form_GiaoHang</a:t>
            </a:r>
            <a:endParaRPr lang="en-US" sz="980" dirty="0"/>
          </a:p>
        </p:txBody>
      </p:sp>
      <p:sp>
        <p:nvSpPr>
          <p:cNvPr id="16" name="Text 14">
            <a:extLst>
              <a:ext uri="{FF2B5EF4-FFF2-40B4-BE49-F238E27FC236}">
                <a16:creationId xmlns:a16="http://schemas.microsoft.com/office/drawing/2014/main" id="{91740D86-8114-EE38-CF94-26695D6E99F4}"/>
              </a:ext>
            </a:extLst>
          </p:cNvPr>
          <p:cNvSpPr/>
          <p:nvPr/>
        </p:nvSpPr>
        <p:spPr>
          <a:xfrm>
            <a:off x="3657600" y="3522620"/>
            <a:ext cx="7772400" cy="1009978"/>
          </a:xfrm>
          <a:prstGeom prst="rect">
            <a:avLst/>
          </a:prstGeom>
          <a:solidFill>
            <a:srgbClr val="FFFFFF"/>
          </a:solidFill>
          <a:ln w="6350">
            <a:solidFill>
              <a:srgbClr val="D9DDE3"/>
            </a:solidFill>
          </a:ln>
        </p:spPr>
        <p:txBody>
          <a:bodyPr wrap="square" lIns="635" tIns="635" rIns="635" bIns="635" rtlCol="0" anchor="ctr">
            <a:normAutofit/>
          </a:bodyPr>
          <a:lstStyle/>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sdtNguoiNhan, </a:t>
            </a:r>
            <a:endParaRPr lang="vi-VN" sz="11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kichThuocNgan, </a:t>
            </a:r>
            <a:endParaRPr lang="vi-VN" sz="11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tienCOD</a:t>
            </a:r>
            <a:endParaRPr lang="vi-VN" sz="11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Chon</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TramVaKichThuoc</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maTram, maKichThuoc</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void  </a:t>
            </a:r>
            <a:endParaRPr lang="vi-VN" sz="11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NhapThongTinDonHang(</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maNT, sdtNguoiNhan, tienCOD</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void</a:t>
            </a:r>
            <a:endParaRPr lang="vi-VN" sz="1100">
              <a:effectLst/>
              <a:latin typeface="Arial" panose="020B0604020202020204" pitchFamily="34" charset="0"/>
              <a:ea typeface="Arial" panose="020B0604020202020204" pitchFamily="34" charset="0"/>
              <a:cs typeface="Arial" panose="020B0604020202020204" pitchFamily="34" charset="0"/>
            </a:endParaRPr>
          </a:p>
          <a:p>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XacNhanDaDongCua(</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maNT</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void</a:t>
            </a:r>
            <a:endParaRPr lang="en-US" sz="980" dirty="0"/>
          </a:p>
        </p:txBody>
      </p:sp>
      <p:sp>
        <p:nvSpPr>
          <p:cNvPr id="23" name="Text 21">
            <a:extLst>
              <a:ext uri="{FF2B5EF4-FFF2-40B4-BE49-F238E27FC236}">
                <a16:creationId xmlns:a16="http://schemas.microsoft.com/office/drawing/2014/main" id="{D4DE0073-CF9D-C897-92FA-5CDA571E475A}"/>
              </a:ext>
            </a:extLst>
          </p:cNvPr>
          <p:cNvSpPr/>
          <p:nvPr/>
        </p:nvSpPr>
        <p:spPr>
          <a:xfrm>
            <a:off x="1005840" y="5786851"/>
            <a:ext cx="2420874"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Form_* nhận dữ liệu</a:t>
            </a:r>
            <a:endParaRPr lang="en-US" sz="1050" dirty="0"/>
          </a:p>
        </p:txBody>
      </p:sp>
      <p:sp>
        <p:nvSpPr>
          <p:cNvPr id="24" name="Shape 22">
            <a:extLst>
              <a:ext uri="{FF2B5EF4-FFF2-40B4-BE49-F238E27FC236}">
                <a16:creationId xmlns:a16="http://schemas.microsoft.com/office/drawing/2014/main" id="{876C53FF-31E7-2B14-96B2-8482F543AA37}"/>
              </a:ext>
            </a:extLst>
          </p:cNvPr>
          <p:cNvSpPr/>
          <p:nvPr/>
        </p:nvSpPr>
        <p:spPr>
          <a:xfrm>
            <a:off x="3445002" y="6053984"/>
            <a:ext cx="73152" cy="0"/>
          </a:xfrm>
          <a:prstGeom prst="line">
            <a:avLst/>
          </a:prstGeom>
          <a:noFill/>
          <a:ln w="17780">
            <a:solidFill>
              <a:srgbClr val="B50915"/>
            </a:solidFill>
            <a:prstDash val="solid"/>
            <a:headEnd type="none"/>
            <a:tailEnd type="triangle"/>
          </a:ln>
        </p:spPr>
        <p:txBody>
          <a:bodyPr/>
          <a:lstStyle/>
          <a:p>
            <a:endParaRPr lang="vi-VN"/>
          </a:p>
        </p:txBody>
      </p:sp>
      <p:sp>
        <p:nvSpPr>
          <p:cNvPr id="25" name="Text 23">
            <a:extLst>
              <a:ext uri="{FF2B5EF4-FFF2-40B4-BE49-F238E27FC236}">
                <a16:creationId xmlns:a16="http://schemas.microsoft.com/office/drawing/2014/main" id="{B9D2C7C5-6036-DD76-0FFF-211EE18DADFB}"/>
              </a:ext>
            </a:extLst>
          </p:cNvPr>
          <p:cNvSpPr/>
          <p:nvPr/>
        </p:nvSpPr>
        <p:spPr>
          <a:xfrm>
            <a:off x="3536442" y="5786851"/>
            <a:ext cx="2420874"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Ctrl_* xử lý quy tắc</a:t>
            </a:r>
            <a:endParaRPr lang="en-US" sz="1050" dirty="0"/>
          </a:p>
        </p:txBody>
      </p:sp>
      <p:sp>
        <p:nvSpPr>
          <p:cNvPr id="26" name="Shape 24">
            <a:extLst>
              <a:ext uri="{FF2B5EF4-FFF2-40B4-BE49-F238E27FC236}">
                <a16:creationId xmlns:a16="http://schemas.microsoft.com/office/drawing/2014/main" id="{DF153F65-64F0-AF9A-07E5-C100791ABFB2}"/>
              </a:ext>
            </a:extLst>
          </p:cNvPr>
          <p:cNvSpPr/>
          <p:nvPr/>
        </p:nvSpPr>
        <p:spPr>
          <a:xfrm>
            <a:off x="5975604" y="6053984"/>
            <a:ext cx="73152" cy="0"/>
          </a:xfrm>
          <a:prstGeom prst="line">
            <a:avLst/>
          </a:prstGeom>
          <a:noFill/>
          <a:ln w="17780">
            <a:solidFill>
              <a:srgbClr val="B50915"/>
            </a:solidFill>
            <a:prstDash val="solid"/>
            <a:headEnd type="none"/>
            <a:tailEnd type="triangle"/>
          </a:ln>
        </p:spPr>
        <p:txBody>
          <a:bodyPr/>
          <a:lstStyle/>
          <a:p>
            <a:endParaRPr lang="vi-VN"/>
          </a:p>
        </p:txBody>
      </p:sp>
      <p:sp>
        <p:nvSpPr>
          <p:cNvPr id="27" name="Text 25">
            <a:extLst>
              <a:ext uri="{FF2B5EF4-FFF2-40B4-BE49-F238E27FC236}">
                <a16:creationId xmlns:a16="http://schemas.microsoft.com/office/drawing/2014/main" id="{0365E659-0EA2-5880-124E-E6EE192CECE4}"/>
              </a:ext>
            </a:extLst>
          </p:cNvPr>
          <p:cNvSpPr/>
          <p:nvPr/>
        </p:nvSpPr>
        <p:spPr>
          <a:xfrm>
            <a:off x="6067044" y="5786851"/>
            <a:ext cx="2420874"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Entity cập nhật</a:t>
            </a:r>
            <a:endParaRPr lang="en-US" sz="1050" dirty="0"/>
          </a:p>
        </p:txBody>
      </p:sp>
      <p:sp>
        <p:nvSpPr>
          <p:cNvPr id="28" name="Shape 26">
            <a:extLst>
              <a:ext uri="{FF2B5EF4-FFF2-40B4-BE49-F238E27FC236}">
                <a16:creationId xmlns:a16="http://schemas.microsoft.com/office/drawing/2014/main" id="{AC3157B9-FD24-FE6B-FD72-73965F37AB10}"/>
              </a:ext>
            </a:extLst>
          </p:cNvPr>
          <p:cNvSpPr/>
          <p:nvPr/>
        </p:nvSpPr>
        <p:spPr>
          <a:xfrm>
            <a:off x="8506206" y="6053984"/>
            <a:ext cx="73152" cy="0"/>
          </a:xfrm>
          <a:prstGeom prst="line">
            <a:avLst/>
          </a:prstGeom>
          <a:noFill/>
          <a:ln w="17780">
            <a:solidFill>
              <a:srgbClr val="B50915"/>
            </a:solidFill>
            <a:prstDash val="solid"/>
            <a:headEnd type="none"/>
            <a:tailEnd type="triangle"/>
          </a:ln>
        </p:spPr>
        <p:txBody>
          <a:bodyPr/>
          <a:lstStyle/>
          <a:p>
            <a:endParaRPr lang="vi-VN"/>
          </a:p>
        </p:txBody>
      </p:sp>
      <p:sp>
        <p:nvSpPr>
          <p:cNvPr id="29" name="Text 27">
            <a:extLst>
              <a:ext uri="{FF2B5EF4-FFF2-40B4-BE49-F238E27FC236}">
                <a16:creationId xmlns:a16="http://schemas.microsoft.com/office/drawing/2014/main" id="{88037258-128C-1855-C043-15B9C88B5FA4}"/>
              </a:ext>
            </a:extLst>
          </p:cNvPr>
          <p:cNvSpPr/>
          <p:nvPr/>
        </p:nvSpPr>
        <p:spPr>
          <a:xfrm>
            <a:off x="8597646" y="5786851"/>
            <a:ext cx="2420874"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Form_* phản hồi</a:t>
            </a:r>
            <a:endParaRPr lang="en-US" sz="1050" dirty="0"/>
          </a:p>
        </p:txBody>
      </p:sp>
      <p:sp>
        <p:nvSpPr>
          <p:cNvPr id="30" name="Shape 28">
            <a:extLst>
              <a:ext uri="{FF2B5EF4-FFF2-40B4-BE49-F238E27FC236}">
                <a16:creationId xmlns:a16="http://schemas.microsoft.com/office/drawing/2014/main" id="{65F3AE7B-65CA-FA7A-A656-456C44228B92}"/>
              </a:ext>
            </a:extLst>
          </p:cNvPr>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31" name="Text 29">
            <a:extLst>
              <a:ext uri="{FF2B5EF4-FFF2-40B4-BE49-F238E27FC236}">
                <a16:creationId xmlns:a16="http://schemas.microsoft.com/office/drawing/2014/main" id="{F3F74291-372B-A6A7-F7E5-09A1D4DD3505}"/>
              </a:ext>
            </a:extLst>
          </p:cNvPr>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32" name="Text 30">
            <a:extLst>
              <a:ext uri="{FF2B5EF4-FFF2-40B4-BE49-F238E27FC236}">
                <a16:creationId xmlns:a16="http://schemas.microsoft.com/office/drawing/2014/main" id="{EA1698AB-C481-F024-4369-21AE5F8826E0}"/>
              </a:ext>
            </a:extLst>
          </p:cNvPr>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30</a:t>
            </a:r>
            <a:endParaRPr lang="en-US" sz="1000" dirty="0"/>
          </a:p>
        </p:txBody>
      </p:sp>
      <p:sp>
        <p:nvSpPr>
          <p:cNvPr id="33" name="Text 5">
            <a:extLst>
              <a:ext uri="{FF2B5EF4-FFF2-40B4-BE49-F238E27FC236}">
                <a16:creationId xmlns:a16="http://schemas.microsoft.com/office/drawing/2014/main" id="{86D887B7-88D0-E131-B21F-AB7ECF7108FA}"/>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III: THIẾT KẾ HỆ THỐNG</a:t>
            </a:r>
          </a:p>
          <a:p>
            <a:pPr marL="0" indent="0">
              <a:buNone/>
            </a:pPr>
            <a:r>
              <a:rPr lang="en-US" sz="1200" b="1">
                <a:solidFill>
                  <a:srgbClr val="B50915"/>
                </a:solidFill>
                <a:latin typeface="Arial" pitchFamily="34" charset="0"/>
                <a:cs typeface="Arial" pitchFamily="34" charset="-120"/>
              </a:rPr>
              <a:t>3.1  Thiết kế lớp chi tiết</a:t>
            </a:r>
            <a:endParaRPr lang="en-US" sz="1200" dirty="0"/>
          </a:p>
        </p:txBody>
      </p:sp>
      <p:sp>
        <p:nvSpPr>
          <p:cNvPr id="7" name="Text 13">
            <a:extLst>
              <a:ext uri="{FF2B5EF4-FFF2-40B4-BE49-F238E27FC236}">
                <a16:creationId xmlns:a16="http://schemas.microsoft.com/office/drawing/2014/main" id="{FA0AC755-8EED-9813-7965-77D8D2EE08FA}"/>
              </a:ext>
            </a:extLst>
          </p:cNvPr>
          <p:cNvSpPr/>
          <p:nvPr/>
        </p:nvSpPr>
        <p:spPr>
          <a:xfrm>
            <a:off x="731519" y="4534992"/>
            <a:ext cx="2926080" cy="1009978"/>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980">
                <a:solidFill>
                  <a:srgbClr val="1F2328"/>
                </a:solidFill>
                <a:latin typeface="Arial" pitchFamily="34" charset="0"/>
                <a:ea typeface="Arial" pitchFamily="34" charset="-122"/>
                <a:cs typeface="Arial" pitchFamily="34" charset="-120"/>
              </a:rPr>
              <a:t>Form_NhanHang</a:t>
            </a:r>
            <a:endParaRPr lang="en-US" sz="980" dirty="0"/>
          </a:p>
        </p:txBody>
      </p:sp>
      <p:sp>
        <p:nvSpPr>
          <p:cNvPr id="17" name="Text 14">
            <a:extLst>
              <a:ext uri="{FF2B5EF4-FFF2-40B4-BE49-F238E27FC236}">
                <a16:creationId xmlns:a16="http://schemas.microsoft.com/office/drawing/2014/main" id="{7D565DFB-B5AC-B16F-560F-A21E48B27344}"/>
              </a:ext>
            </a:extLst>
          </p:cNvPr>
          <p:cNvSpPr/>
          <p:nvPr/>
        </p:nvSpPr>
        <p:spPr>
          <a:xfrm>
            <a:off x="3657599" y="4534992"/>
            <a:ext cx="7772400" cy="1009978"/>
          </a:xfrm>
          <a:prstGeom prst="rect">
            <a:avLst/>
          </a:prstGeom>
          <a:solidFill>
            <a:srgbClr val="FFFFFF"/>
          </a:solidFill>
          <a:ln w="6350">
            <a:solidFill>
              <a:srgbClr val="D9DDE3"/>
            </a:solidFill>
          </a:ln>
        </p:spPr>
        <p:txBody>
          <a:bodyPr wrap="square" lIns="635" tIns="635" rIns="635" bIns="635" rtlCol="0" anchor="ctr">
            <a:normAutofit/>
          </a:bodyPr>
          <a:lstStyle/>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maOTP_QR_Input: String</a:t>
            </a:r>
          </a:p>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NhapMaXacThuc(): void  </a:t>
            </a:r>
          </a:p>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HienThiThongBao(): void</a:t>
            </a:r>
          </a:p>
        </p:txBody>
      </p:sp>
    </p:spTree>
    <p:extLst>
      <p:ext uri="{BB962C8B-B14F-4D97-AF65-F5344CB8AC3E}">
        <p14:creationId xmlns:p14="http://schemas.microsoft.com/office/powerpoint/2010/main" val="22013915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a:extLst>
            <a:ext uri="{FF2B5EF4-FFF2-40B4-BE49-F238E27FC236}">
              <a16:creationId xmlns:a16="http://schemas.microsoft.com/office/drawing/2014/main" id="{D45FEFF9-68DB-2D4F-D2B4-506677305AF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358CB4E-02C4-835D-06A7-B8EAAFCC41E8}"/>
              </a:ext>
            </a:extLst>
          </p:cNvPr>
          <p:cNvSpPr/>
          <p:nvPr/>
        </p:nvSpPr>
        <p:spPr>
          <a:xfrm>
            <a:off x="0" y="3729"/>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a:extLst>
              <a:ext uri="{FF2B5EF4-FFF2-40B4-BE49-F238E27FC236}">
                <a16:creationId xmlns:a16="http://schemas.microsoft.com/office/drawing/2014/main" id="{8FEDD3D3-073A-6F6C-601A-536ACE771FC6}"/>
              </a:ext>
            </a:extLst>
          </p:cNvPr>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a:extLst>
              <a:ext uri="{FF2B5EF4-FFF2-40B4-BE49-F238E27FC236}">
                <a16:creationId xmlns:a16="http://schemas.microsoft.com/office/drawing/2014/main" id="{93034E2E-5F5C-9279-F645-9FB830B5EF62}"/>
              </a:ext>
            </a:extLst>
          </p:cNvPr>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a:extLst>
              <a:ext uri="{FF2B5EF4-FFF2-40B4-BE49-F238E27FC236}">
                <a16:creationId xmlns:a16="http://schemas.microsoft.com/office/drawing/2014/main" id="{70509D05-683F-9B70-1AA0-16A5AFB77116}"/>
              </a:ext>
            </a:extLst>
          </p:cNvPr>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a:extLst>
              <a:ext uri="{FF2B5EF4-FFF2-40B4-BE49-F238E27FC236}">
                <a16:creationId xmlns:a16="http://schemas.microsoft.com/office/drawing/2014/main" id="{7A46EF1C-E5DD-E1F5-24B6-776F498BDB46}"/>
              </a:ext>
            </a:extLst>
          </p:cNvPr>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III</a:t>
            </a:r>
            <a:endParaRPr lang="en-US" sz="750" dirty="0"/>
          </a:p>
        </p:txBody>
      </p:sp>
      <p:sp>
        <p:nvSpPr>
          <p:cNvPr id="8" name="Text 6">
            <a:extLst>
              <a:ext uri="{FF2B5EF4-FFF2-40B4-BE49-F238E27FC236}">
                <a16:creationId xmlns:a16="http://schemas.microsoft.com/office/drawing/2014/main" id="{63F8DBAD-3D4D-5DB1-9EC7-E5A1444BEDF3}"/>
              </a:ext>
            </a:extLst>
          </p:cNvPr>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a:solidFill>
                  <a:srgbClr val="1F2328"/>
                </a:solidFill>
                <a:latin typeface="Arial" pitchFamily="34" charset="0"/>
                <a:ea typeface="Arial" pitchFamily="34" charset="-122"/>
                <a:cs typeface="Arial" pitchFamily="34" charset="-120"/>
              </a:rPr>
              <a:t>Đặc tả các lớp biên (&lt;&lt;boundary&gt;&gt;) </a:t>
            </a:r>
            <a:endParaRPr lang="en-US" sz="2400" dirty="0"/>
          </a:p>
        </p:txBody>
      </p:sp>
      <p:sp>
        <p:nvSpPr>
          <p:cNvPr id="9" name="Shape 7">
            <a:extLst>
              <a:ext uri="{FF2B5EF4-FFF2-40B4-BE49-F238E27FC236}">
                <a16:creationId xmlns:a16="http://schemas.microsoft.com/office/drawing/2014/main" id="{CEB93641-D948-B5BB-86F7-92C7D779150B}"/>
              </a:ext>
            </a:extLst>
          </p:cNvPr>
          <p:cNvSpPr/>
          <p:nvPr/>
        </p:nvSpPr>
        <p:spPr>
          <a:xfrm>
            <a:off x="502920" y="1046496"/>
            <a:ext cx="1188720" cy="0"/>
          </a:xfrm>
          <a:prstGeom prst="line">
            <a:avLst/>
          </a:prstGeom>
          <a:noFill/>
          <a:ln w="27940">
            <a:solidFill>
              <a:srgbClr val="B50915"/>
            </a:solidFill>
            <a:prstDash val="solid"/>
          </a:ln>
        </p:spPr>
        <p:txBody>
          <a:bodyPr/>
          <a:lstStyle/>
          <a:p>
            <a:endParaRPr lang="vi-VN"/>
          </a:p>
        </p:txBody>
      </p:sp>
      <p:sp>
        <p:nvSpPr>
          <p:cNvPr id="10" name="Text 8">
            <a:extLst>
              <a:ext uri="{FF2B5EF4-FFF2-40B4-BE49-F238E27FC236}">
                <a16:creationId xmlns:a16="http://schemas.microsoft.com/office/drawing/2014/main" id="{BF16FAB6-07DB-6764-25BF-9EC3B4A895A9}"/>
              </a:ext>
            </a:extLst>
          </p:cNvPr>
          <p:cNvSpPr/>
          <p:nvPr/>
        </p:nvSpPr>
        <p:spPr>
          <a:xfrm>
            <a:off x="868680" y="1265952"/>
            <a:ext cx="10424160" cy="457200"/>
          </a:xfrm>
          <a:prstGeom prst="rect">
            <a:avLst/>
          </a:prstGeom>
          <a:noFill/>
          <a:ln/>
        </p:spPr>
        <p:txBody>
          <a:bodyPr wrap="square" lIns="762" tIns="762" rIns="762" bIns="762" rtlCol="0" anchor="t">
            <a:normAutofit/>
          </a:bodyPr>
          <a:lstStyle/>
          <a:p>
            <a:pPr marL="0" indent="0" algn="ctr">
              <a:buNone/>
            </a:pPr>
            <a:r>
              <a:rPr lang="vi-VN" sz="1700" b="1">
                <a:solidFill>
                  <a:srgbClr val="1F2328"/>
                </a:solidFill>
                <a:latin typeface="Arial" pitchFamily="34" charset="0"/>
                <a:ea typeface="Arial" pitchFamily="34" charset="-122"/>
                <a:cs typeface="Arial" pitchFamily="34" charset="-120"/>
              </a:rPr>
              <a:t>Các lớp biên chịu trách nhiệm thu thập và hiển thị thông tin.</a:t>
            </a:r>
            <a:endParaRPr lang="en-US" sz="1700" dirty="0"/>
          </a:p>
        </p:txBody>
      </p:sp>
      <p:sp>
        <p:nvSpPr>
          <p:cNvPr id="11" name="Text 9">
            <a:extLst>
              <a:ext uri="{FF2B5EF4-FFF2-40B4-BE49-F238E27FC236}">
                <a16:creationId xmlns:a16="http://schemas.microsoft.com/office/drawing/2014/main" id="{0B406A4E-4224-F285-66F8-0C9DFF3468C6}"/>
              </a:ext>
            </a:extLst>
          </p:cNvPr>
          <p:cNvSpPr/>
          <p:nvPr/>
        </p:nvSpPr>
        <p:spPr>
          <a:xfrm>
            <a:off x="731520" y="1735181"/>
            <a:ext cx="2926080" cy="365760"/>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en-US" sz="1600" b="1">
                <a:solidFill>
                  <a:srgbClr val="FFFFFF"/>
                </a:solidFill>
                <a:latin typeface="Arial" pitchFamily="34" charset="0"/>
                <a:ea typeface="Arial" pitchFamily="34" charset="-122"/>
                <a:cs typeface="Arial" pitchFamily="34" charset="-120"/>
              </a:rPr>
              <a:t>Lớp biên</a:t>
            </a:r>
            <a:endParaRPr lang="en-US" sz="1600" dirty="0"/>
          </a:p>
        </p:txBody>
      </p:sp>
      <p:sp>
        <p:nvSpPr>
          <p:cNvPr id="12" name="Text 10">
            <a:extLst>
              <a:ext uri="{FF2B5EF4-FFF2-40B4-BE49-F238E27FC236}">
                <a16:creationId xmlns:a16="http://schemas.microsoft.com/office/drawing/2014/main" id="{3B9D0023-0710-A2C4-7D37-8923AC4FFF30}"/>
              </a:ext>
            </a:extLst>
          </p:cNvPr>
          <p:cNvSpPr/>
          <p:nvPr/>
        </p:nvSpPr>
        <p:spPr>
          <a:xfrm>
            <a:off x="3657600" y="1735181"/>
            <a:ext cx="7772400" cy="365760"/>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en-US" sz="1600" b="1">
                <a:solidFill>
                  <a:srgbClr val="FFFFFF"/>
                </a:solidFill>
                <a:latin typeface="Arial" pitchFamily="34" charset="0"/>
                <a:ea typeface="Arial" pitchFamily="34" charset="-122"/>
                <a:cs typeface="Arial" pitchFamily="34" charset="-120"/>
              </a:rPr>
              <a:t>Thuộc tính / Thao tác chính</a:t>
            </a:r>
            <a:endParaRPr lang="en-US" sz="1600" dirty="0"/>
          </a:p>
        </p:txBody>
      </p:sp>
      <p:sp>
        <p:nvSpPr>
          <p:cNvPr id="13" name="Text 11">
            <a:extLst>
              <a:ext uri="{FF2B5EF4-FFF2-40B4-BE49-F238E27FC236}">
                <a16:creationId xmlns:a16="http://schemas.microsoft.com/office/drawing/2014/main" id="{DAF5E7A8-C9AE-386E-0D4B-0D8292F5956C}"/>
              </a:ext>
            </a:extLst>
          </p:cNvPr>
          <p:cNvSpPr/>
          <p:nvPr/>
        </p:nvSpPr>
        <p:spPr>
          <a:xfrm>
            <a:off x="731520" y="2100940"/>
            <a:ext cx="2926080" cy="1421680"/>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980">
                <a:solidFill>
                  <a:srgbClr val="1F2328"/>
                </a:solidFill>
                <a:latin typeface="Arial" pitchFamily="34" charset="0"/>
                <a:ea typeface="Arial" pitchFamily="34" charset="-122"/>
                <a:cs typeface="Arial" pitchFamily="34" charset="-120"/>
              </a:rPr>
              <a:t>Form_ThanhToan</a:t>
            </a:r>
            <a:endParaRPr lang="en-US" sz="980" dirty="0"/>
          </a:p>
        </p:txBody>
      </p:sp>
      <p:sp>
        <p:nvSpPr>
          <p:cNvPr id="14" name="Text 12">
            <a:extLst>
              <a:ext uri="{FF2B5EF4-FFF2-40B4-BE49-F238E27FC236}">
                <a16:creationId xmlns:a16="http://schemas.microsoft.com/office/drawing/2014/main" id="{52198344-A69E-CC25-4A2F-0C1555052702}"/>
              </a:ext>
            </a:extLst>
          </p:cNvPr>
          <p:cNvSpPr/>
          <p:nvPr/>
        </p:nvSpPr>
        <p:spPr>
          <a:xfrm>
            <a:off x="3657600" y="2100941"/>
            <a:ext cx="7772400" cy="1421679"/>
          </a:xfrm>
          <a:prstGeom prst="rect">
            <a:avLst/>
          </a:prstGeom>
          <a:solidFill>
            <a:srgbClr val="FFFFFF"/>
          </a:solidFill>
          <a:ln w="6350">
            <a:solidFill>
              <a:srgbClr val="D9DDE3"/>
            </a:solidFill>
          </a:ln>
        </p:spPr>
        <p:txBody>
          <a:bodyPr wrap="square" lIns="635" tIns="635" rIns="635" bIns="635" rtlCol="0" anchor="ctr">
            <a:normAutofit/>
          </a:bodyPr>
          <a:lstStyle/>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maQRThanhToan: image</a:t>
            </a:r>
            <a:endParaRPr lang="vi-VN" sz="11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80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HienThiMaQR(): void</a:t>
            </a:r>
            <a:endParaRPr lang="vi-VN" sz="1100">
              <a:effectLst/>
              <a:latin typeface="Arial" panose="020B0604020202020204" pitchFamily="34" charset="0"/>
              <a:ea typeface="Arial" panose="020B0604020202020204" pitchFamily="34" charset="0"/>
              <a:cs typeface="Arial" panose="020B0604020202020204" pitchFamily="34" charset="0"/>
            </a:endParaRPr>
          </a:p>
          <a:p>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QuetMaThanhToan</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void</a:t>
            </a:r>
            <a:endParaRPr lang="en-US" sz="980" dirty="0">
              <a:solidFill>
                <a:srgbClr val="1F2328"/>
              </a:solidFill>
              <a:latin typeface="Arial" pitchFamily="34" charset="0"/>
              <a:ea typeface="Arial" pitchFamily="34" charset="-122"/>
              <a:cs typeface="Arial" pitchFamily="34" charset="-120"/>
            </a:endParaRPr>
          </a:p>
        </p:txBody>
      </p:sp>
      <p:sp>
        <p:nvSpPr>
          <p:cNvPr id="15" name="Text 13">
            <a:extLst>
              <a:ext uri="{FF2B5EF4-FFF2-40B4-BE49-F238E27FC236}">
                <a16:creationId xmlns:a16="http://schemas.microsoft.com/office/drawing/2014/main" id="{B9BE398C-B873-922B-553F-11AEBD2B0309}"/>
              </a:ext>
            </a:extLst>
          </p:cNvPr>
          <p:cNvSpPr/>
          <p:nvPr/>
        </p:nvSpPr>
        <p:spPr>
          <a:xfrm>
            <a:off x="731520" y="3522620"/>
            <a:ext cx="2926080" cy="1009978"/>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980">
                <a:solidFill>
                  <a:srgbClr val="1F2328"/>
                </a:solidFill>
                <a:latin typeface="Arial" pitchFamily="34" charset="0"/>
                <a:ea typeface="Arial" pitchFamily="34" charset="-122"/>
                <a:cs typeface="Arial" pitchFamily="34" charset="-120"/>
              </a:rPr>
              <a:t>Form_ThueTu</a:t>
            </a:r>
            <a:endParaRPr lang="en-US" sz="980" dirty="0"/>
          </a:p>
        </p:txBody>
      </p:sp>
      <p:sp>
        <p:nvSpPr>
          <p:cNvPr id="16" name="Text 14">
            <a:extLst>
              <a:ext uri="{FF2B5EF4-FFF2-40B4-BE49-F238E27FC236}">
                <a16:creationId xmlns:a16="http://schemas.microsoft.com/office/drawing/2014/main" id="{471D8675-8D8A-AE43-2AC0-F85AF8999A9E}"/>
              </a:ext>
            </a:extLst>
          </p:cNvPr>
          <p:cNvSpPr/>
          <p:nvPr/>
        </p:nvSpPr>
        <p:spPr>
          <a:xfrm>
            <a:off x="3657600" y="3522620"/>
            <a:ext cx="7772400" cy="1009978"/>
          </a:xfrm>
          <a:prstGeom prst="rect">
            <a:avLst/>
          </a:prstGeom>
          <a:solidFill>
            <a:srgbClr val="FFFFFF"/>
          </a:solidFill>
          <a:ln w="6350">
            <a:solidFill>
              <a:srgbClr val="D9DDE3"/>
            </a:solidFill>
          </a:ln>
        </p:spPr>
        <p:txBody>
          <a:bodyPr wrap="square" lIns="635" tIns="635" rIns="635" bIns="635" rtlCol="0" anchor="ctr">
            <a:normAutofit/>
          </a:bodyPr>
          <a:lstStyle/>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kichThuocChon, </a:t>
            </a:r>
            <a:endParaRPr lang="vi-VN" sz="11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sdtNguoiNhan</a:t>
            </a:r>
            <a:endParaRPr lang="vi-VN" sz="11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Chon</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TramVaKichThuoc</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maTram, maKichThuoc</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void  </a:t>
            </a:r>
            <a:endParaRPr lang="vi-VN" sz="11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NhapThongTinThue(</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maNT, sdtNguoiNhan</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void</a:t>
            </a:r>
            <a:endParaRPr lang="vi-VN" sz="1100">
              <a:effectLst/>
              <a:latin typeface="Arial" panose="020B0604020202020204" pitchFamily="34" charset="0"/>
              <a:ea typeface="Arial" panose="020B0604020202020204" pitchFamily="34" charset="0"/>
              <a:cs typeface="Arial" panose="020B0604020202020204" pitchFamily="34" charset="0"/>
            </a:endParaRPr>
          </a:p>
          <a:p>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XacNhanDaDongCua</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maNT</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void</a:t>
            </a:r>
            <a:endParaRPr lang="en-US" sz="980" dirty="0"/>
          </a:p>
        </p:txBody>
      </p:sp>
      <p:sp>
        <p:nvSpPr>
          <p:cNvPr id="23" name="Text 21">
            <a:extLst>
              <a:ext uri="{FF2B5EF4-FFF2-40B4-BE49-F238E27FC236}">
                <a16:creationId xmlns:a16="http://schemas.microsoft.com/office/drawing/2014/main" id="{000D2CDE-9A2B-E5DE-1B82-03B259C50456}"/>
              </a:ext>
            </a:extLst>
          </p:cNvPr>
          <p:cNvSpPr/>
          <p:nvPr/>
        </p:nvSpPr>
        <p:spPr>
          <a:xfrm>
            <a:off x="1005840" y="5786851"/>
            <a:ext cx="2420874"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Form_* nhận dữ liệu</a:t>
            </a:r>
            <a:endParaRPr lang="en-US" sz="1050" dirty="0"/>
          </a:p>
        </p:txBody>
      </p:sp>
      <p:sp>
        <p:nvSpPr>
          <p:cNvPr id="24" name="Shape 22">
            <a:extLst>
              <a:ext uri="{FF2B5EF4-FFF2-40B4-BE49-F238E27FC236}">
                <a16:creationId xmlns:a16="http://schemas.microsoft.com/office/drawing/2014/main" id="{220D28D4-B254-4F8C-EF3F-F8AC85646139}"/>
              </a:ext>
            </a:extLst>
          </p:cNvPr>
          <p:cNvSpPr/>
          <p:nvPr/>
        </p:nvSpPr>
        <p:spPr>
          <a:xfrm>
            <a:off x="3445002" y="6053984"/>
            <a:ext cx="73152" cy="0"/>
          </a:xfrm>
          <a:prstGeom prst="line">
            <a:avLst/>
          </a:prstGeom>
          <a:noFill/>
          <a:ln w="17780">
            <a:solidFill>
              <a:srgbClr val="B50915"/>
            </a:solidFill>
            <a:prstDash val="solid"/>
            <a:headEnd type="none"/>
            <a:tailEnd type="triangle"/>
          </a:ln>
        </p:spPr>
        <p:txBody>
          <a:bodyPr/>
          <a:lstStyle/>
          <a:p>
            <a:endParaRPr lang="vi-VN"/>
          </a:p>
        </p:txBody>
      </p:sp>
      <p:sp>
        <p:nvSpPr>
          <p:cNvPr id="25" name="Text 23">
            <a:extLst>
              <a:ext uri="{FF2B5EF4-FFF2-40B4-BE49-F238E27FC236}">
                <a16:creationId xmlns:a16="http://schemas.microsoft.com/office/drawing/2014/main" id="{D16A7164-EB55-D582-4E40-DAF570738BA9}"/>
              </a:ext>
            </a:extLst>
          </p:cNvPr>
          <p:cNvSpPr/>
          <p:nvPr/>
        </p:nvSpPr>
        <p:spPr>
          <a:xfrm>
            <a:off x="3536442" y="5786851"/>
            <a:ext cx="2420874"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Ctrl_* xử lý quy tắc</a:t>
            </a:r>
            <a:endParaRPr lang="en-US" sz="1050" dirty="0"/>
          </a:p>
        </p:txBody>
      </p:sp>
      <p:sp>
        <p:nvSpPr>
          <p:cNvPr id="26" name="Shape 24">
            <a:extLst>
              <a:ext uri="{FF2B5EF4-FFF2-40B4-BE49-F238E27FC236}">
                <a16:creationId xmlns:a16="http://schemas.microsoft.com/office/drawing/2014/main" id="{A104705D-834C-8881-9E77-B88228D22023}"/>
              </a:ext>
            </a:extLst>
          </p:cNvPr>
          <p:cNvSpPr/>
          <p:nvPr/>
        </p:nvSpPr>
        <p:spPr>
          <a:xfrm>
            <a:off x="5975604" y="6053984"/>
            <a:ext cx="73152" cy="0"/>
          </a:xfrm>
          <a:prstGeom prst="line">
            <a:avLst/>
          </a:prstGeom>
          <a:noFill/>
          <a:ln w="17780">
            <a:solidFill>
              <a:srgbClr val="B50915"/>
            </a:solidFill>
            <a:prstDash val="solid"/>
            <a:headEnd type="none"/>
            <a:tailEnd type="triangle"/>
          </a:ln>
        </p:spPr>
        <p:txBody>
          <a:bodyPr/>
          <a:lstStyle/>
          <a:p>
            <a:endParaRPr lang="vi-VN"/>
          </a:p>
        </p:txBody>
      </p:sp>
      <p:sp>
        <p:nvSpPr>
          <p:cNvPr id="27" name="Text 25">
            <a:extLst>
              <a:ext uri="{FF2B5EF4-FFF2-40B4-BE49-F238E27FC236}">
                <a16:creationId xmlns:a16="http://schemas.microsoft.com/office/drawing/2014/main" id="{50F1D68A-DAD4-DF36-D103-C97CB374C0C4}"/>
              </a:ext>
            </a:extLst>
          </p:cNvPr>
          <p:cNvSpPr/>
          <p:nvPr/>
        </p:nvSpPr>
        <p:spPr>
          <a:xfrm>
            <a:off x="6067044" y="5786851"/>
            <a:ext cx="2420874"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Entity cập nhật</a:t>
            </a:r>
            <a:endParaRPr lang="en-US" sz="1050" dirty="0"/>
          </a:p>
        </p:txBody>
      </p:sp>
      <p:sp>
        <p:nvSpPr>
          <p:cNvPr id="28" name="Shape 26">
            <a:extLst>
              <a:ext uri="{FF2B5EF4-FFF2-40B4-BE49-F238E27FC236}">
                <a16:creationId xmlns:a16="http://schemas.microsoft.com/office/drawing/2014/main" id="{820BFC58-A308-0262-357A-182671149DA4}"/>
              </a:ext>
            </a:extLst>
          </p:cNvPr>
          <p:cNvSpPr/>
          <p:nvPr/>
        </p:nvSpPr>
        <p:spPr>
          <a:xfrm>
            <a:off x="8506206" y="6053984"/>
            <a:ext cx="73152" cy="0"/>
          </a:xfrm>
          <a:prstGeom prst="line">
            <a:avLst/>
          </a:prstGeom>
          <a:noFill/>
          <a:ln w="17780">
            <a:solidFill>
              <a:srgbClr val="B50915"/>
            </a:solidFill>
            <a:prstDash val="solid"/>
            <a:headEnd type="none"/>
            <a:tailEnd type="triangle"/>
          </a:ln>
        </p:spPr>
        <p:txBody>
          <a:bodyPr/>
          <a:lstStyle/>
          <a:p>
            <a:endParaRPr lang="vi-VN"/>
          </a:p>
        </p:txBody>
      </p:sp>
      <p:sp>
        <p:nvSpPr>
          <p:cNvPr id="29" name="Text 27">
            <a:extLst>
              <a:ext uri="{FF2B5EF4-FFF2-40B4-BE49-F238E27FC236}">
                <a16:creationId xmlns:a16="http://schemas.microsoft.com/office/drawing/2014/main" id="{DB07CCAC-76EA-BD25-2C0D-515AAFB6427E}"/>
              </a:ext>
            </a:extLst>
          </p:cNvPr>
          <p:cNvSpPr/>
          <p:nvPr/>
        </p:nvSpPr>
        <p:spPr>
          <a:xfrm>
            <a:off x="8597646" y="5786851"/>
            <a:ext cx="2420874" cy="566928"/>
          </a:xfrm>
          <a:prstGeom prst="rect">
            <a:avLst/>
          </a:prstGeom>
          <a:solidFill>
            <a:srgbClr val="FFFFFF"/>
          </a:solidFill>
          <a:ln w="16510">
            <a:solidFill>
              <a:srgbClr val="B50915"/>
            </a:solidFill>
          </a:ln>
        </p:spPr>
        <p:txBody>
          <a:bodyPr wrap="square" lIns="508" tIns="508" rIns="508" bIns="508" rtlCol="0" anchor="ctr">
            <a:normAutofit/>
          </a:bodyPr>
          <a:lstStyle/>
          <a:p>
            <a:pPr marL="0" indent="0" algn="ctr">
              <a:buNone/>
            </a:pPr>
            <a:r>
              <a:rPr lang="en-US" sz="1050" b="1" dirty="0">
                <a:solidFill>
                  <a:srgbClr val="1F2328"/>
                </a:solidFill>
                <a:latin typeface="Arial" pitchFamily="34" charset="0"/>
                <a:ea typeface="Arial" pitchFamily="34" charset="-122"/>
                <a:cs typeface="Arial" pitchFamily="34" charset="-120"/>
              </a:rPr>
              <a:t>Form_* phản hồi</a:t>
            </a:r>
            <a:endParaRPr lang="en-US" sz="1050" dirty="0"/>
          </a:p>
        </p:txBody>
      </p:sp>
      <p:sp>
        <p:nvSpPr>
          <p:cNvPr id="30" name="Shape 28">
            <a:extLst>
              <a:ext uri="{FF2B5EF4-FFF2-40B4-BE49-F238E27FC236}">
                <a16:creationId xmlns:a16="http://schemas.microsoft.com/office/drawing/2014/main" id="{9C5D8DDA-37A2-7C52-6061-CF0FF1575A17}"/>
              </a:ext>
            </a:extLst>
          </p:cNvPr>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31" name="Text 29">
            <a:extLst>
              <a:ext uri="{FF2B5EF4-FFF2-40B4-BE49-F238E27FC236}">
                <a16:creationId xmlns:a16="http://schemas.microsoft.com/office/drawing/2014/main" id="{8F0129D9-72B1-4E5B-BB52-E348134583C7}"/>
              </a:ext>
            </a:extLst>
          </p:cNvPr>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32" name="Text 30">
            <a:extLst>
              <a:ext uri="{FF2B5EF4-FFF2-40B4-BE49-F238E27FC236}">
                <a16:creationId xmlns:a16="http://schemas.microsoft.com/office/drawing/2014/main" id="{6742E745-77F4-FBEE-A499-20FC1FBB6380}"/>
              </a:ext>
            </a:extLst>
          </p:cNvPr>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30</a:t>
            </a:r>
            <a:endParaRPr lang="en-US" sz="1000" dirty="0"/>
          </a:p>
        </p:txBody>
      </p:sp>
      <p:sp>
        <p:nvSpPr>
          <p:cNvPr id="33" name="Text 5">
            <a:extLst>
              <a:ext uri="{FF2B5EF4-FFF2-40B4-BE49-F238E27FC236}">
                <a16:creationId xmlns:a16="http://schemas.microsoft.com/office/drawing/2014/main" id="{58AAFEFD-AC8E-83D4-6894-146D19BA6C55}"/>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III: THIẾT KẾ HỆ THỐNG</a:t>
            </a:r>
          </a:p>
          <a:p>
            <a:pPr marL="0" indent="0">
              <a:buNone/>
            </a:pPr>
            <a:r>
              <a:rPr lang="en-US" sz="1200" b="1">
                <a:solidFill>
                  <a:srgbClr val="B50915"/>
                </a:solidFill>
                <a:latin typeface="Arial" pitchFamily="34" charset="0"/>
                <a:cs typeface="Arial" pitchFamily="34" charset="-120"/>
              </a:rPr>
              <a:t>3.1  Thiết kế lớp chi tiết</a:t>
            </a:r>
            <a:endParaRPr lang="en-US" sz="1200" dirty="0"/>
          </a:p>
        </p:txBody>
      </p:sp>
      <p:sp>
        <p:nvSpPr>
          <p:cNvPr id="7" name="Text 13">
            <a:extLst>
              <a:ext uri="{FF2B5EF4-FFF2-40B4-BE49-F238E27FC236}">
                <a16:creationId xmlns:a16="http://schemas.microsoft.com/office/drawing/2014/main" id="{A6CB1CF3-9D9B-DBBB-510D-6C592A1C8D2F}"/>
              </a:ext>
            </a:extLst>
          </p:cNvPr>
          <p:cNvSpPr/>
          <p:nvPr/>
        </p:nvSpPr>
        <p:spPr>
          <a:xfrm>
            <a:off x="731519" y="4534992"/>
            <a:ext cx="2926080" cy="1009978"/>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980">
                <a:solidFill>
                  <a:srgbClr val="1F2328"/>
                </a:solidFill>
                <a:latin typeface="Arial" pitchFamily="34" charset="0"/>
                <a:ea typeface="Arial" pitchFamily="34" charset="-122"/>
                <a:cs typeface="Arial" pitchFamily="34" charset="-120"/>
              </a:rPr>
              <a:t>Form_QuanLyTramTu</a:t>
            </a:r>
            <a:endParaRPr lang="en-US" sz="980" dirty="0"/>
          </a:p>
        </p:txBody>
      </p:sp>
      <p:sp>
        <p:nvSpPr>
          <p:cNvPr id="17" name="Text 14">
            <a:extLst>
              <a:ext uri="{FF2B5EF4-FFF2-40B4-BE49-F238E27FC236}">
                <a16:creationId xmlns:a16="http://schemas.microsoft.com/office/drawing/2014/main" id="{26E1FC41-F90D-29EC-F952-714E51D44191}"/>
              </a:ext>
            </a:extLst>
          </p:cNvPr>
          <p:cNvSpPr/>
          <p:nvPr/>
        </p:nvSpPr>
        <p:spPr>
          <a:xfrm>
            <a:off x="3657599" y="4534992"/>
            <a:ext cx="7772400" cy="1009978"/>
          </a:xfrm>
          <a:prstGeom prst="rect">
            <a:avLst/>
          </a:prstGeom>
          <a:solidFill>
            <a:srgbClr val="FFFFFF"/>
          </a:solidFill>
          <a:ln w="6350">
            <a:solidFill>
              <a:srgbClr val="D9DDE3"/>
            </a:solidFill>
          </a:ln>
        </p:spPr>
        <p:txBody>
          <a:bodyPr wrap="square" lIns="635" tIns="635" rIns="635" bIns="635" rtlCol="0" anchor="ctr">
            <a:normAutofit/>
          </a:bodyPr>
          <a:lstStyle/>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danhSachTramTu: list, </a:t>
            </a:r>
            <a:endParaRPr lang="vi-VN" sz="11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danhSachBieuPhi: list</a:t>
            </a:r>
            <a:endParaRPr lang="vi-VN" sz="1100">
              <a:effectLst/>
              <a:latin typeface="Arial" panose="020B0604020202020204" pitchFamily="34" charset="0"/>
              <a:ea typeface="Arial" panose="020B0604020202020204" pitchFamily="34" charset="0"/>
              <a:cs typeface="Arial" panose="020B0604020202020204" pitchFamily="34" charset="0"/>
            </a:endParaRPr>
          </a:p>
          <a:p>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NhapThongTinBieuPhiMoi</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maKichThuoc, giaMoi</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void  + NhapTho</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ngTinTramTuMoi</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a:t>
            </a:r>
            <a:r>
              <a:rPr lang="en-US"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maTram, tenTram, diaChi, trangThai</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void</a:t>
            </a:r>
          </a:p>
        </p:txBody>
      </p:sp>
    </p:spTree>
    <p:extLst>
      <p:ext uri="{BB962C8B-B14F-4D97-AF65-F5344CB8AC3E}">
        <p14:creationId xmlns:p14="http://schemas.microsoft.com/office/powerpoint/2010/main" val="16003906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1">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III</a:t>
            </a:r>
            <a:endParaRPr lang="en-US" sz="750" dirty="0"/>
          </a:p>
        </p:txBody>
      </p:sp>
      <p:sp>
        <p:nvSpPr>
          <p:cNvPr id="8" name="Text 6"/>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a:solidFill>
                  <a:srgbClr val="1F2328"/>
                </a:solidFill>
                <a:latin typeface="Arial" pitchFamily="34" charset="0"/>
                <a:ea typeface="Arial" pitchFamily="34" charset="-122"/>
                <a:cs typeface="Arial" pitchFamily="34" charset="-120"/>
              </a:rPr>
              <a:t>Biểu đồ lớp thiết kế tổng hợp và quan hệ giữa các lớp</a:t>
            </a:r>
            <a:endParaRPr lang="en-US" sz="2400" dirty="0"/>
          </a:p>
        </p:txBody>
      </p:sp>
      <p:sp>
        <p:nvSpPr>
          <p:cNvPr id="9" name="Shape 7"/>
          <p:cNvSpPr/>
          <p:nvPr/>
        </p:nvSpPr>
        <p:spPr>
          <a:xfrm>
            <a:off x="502920" y="1023197"/>
            <a:ext cx="1188720" cy="0"/>
          </a:xfrm>
          <a:prstGeom prst="line">
            <a:avLst/>
          </a:prstGeom>
          <a:noFill/>
          <a:ln w="27940">
            <a:solidFill>
              <a:srgbClr val="B50915"/>
            </a:solidFill>
            <a:prstDash val="solid"/>
          </a:ln>
        </p:spPr>
        <p:txBody>
          <a:bodyPr/>
          <a:lstStyle/>
          <a:p>
            <a:endParaRPr lang="vi-VN"/>
          </a:p>
        </p:txBody>
      </p:sp>
      <p:sp>
        <p:nvSpPr>
          <p:cNvPr id="12" name="Text 9"/>
          <p:cNvSpPr/>
          <p:nvPr/>
        </p:nvSpPr>
        <p:spPr>
          <a:xfrm>
            <a:off x="7543800" y="1463040"/>
            <a:ext cx="1463040" cy="457200"/>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en-US" sz="1400" b="1" dirty="0">
                <a:solidFill>
                  <a:srgbClr val="FFFFFF"/>
                </a:solidFill>
                <a:latin typeface="Arial" pitchFamily="34" charset="0"/>
                <a:ea typeface="Arial" pitchFamily="34" charset="-122"/>
                <a:cs typeface="Arial" pitchFamily="34" charset="-120"/>
              </a:rPr>
              <a:t>Quan hệ</a:t>
            </a:r>
            <a:endParaRPr lang="en-US" sz="1400" dirty="0"/>
          </a:p>
        </p:txBody>
      </p:sp>
      <p:sp>
        <p:nvSpPr>
          <p:cNvPr id="13" name="Text 10"/>
          <p:cNvSpPr/>
          <p:nvPr/>
        </p:nvSpPr>
        <p:spPr>
          <a:xfrm>
            <a:off x="9006840" y="1463040"/>
            <a:ext cx="2331720" cy="457200"/>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en-US" sz="1400" b="1" dirty="0">
                <a:solidFill>
                  <a:srgbClr val="FFFFFF"/>
                </a:solidFill>
                <a:latin typeface="Arial" pitchFamily="34" charset="0"/>
                <a:ea typeface="Arial" pitchFamily="34" charset="-122"/>
                <a:cs typeface="Arial" pitchFamily="34" charset="-120"/>
              </a:rPr>
              <a:t>Bội số / cài đặt</a:t>
            </a:r>
            <a:endParaRPr lang="en-US" sz="1400" dirty="0"/>
          </a:p>
        </p:txBody>
      </p:sp>
      <p:sp>
        <p:nvSpPr>
          <p:cNvPr id="14" name="Text 11"/>
          <p:cNvSpPr/>
          <p:nvPr/>
        </p:nvSpPr>
        <p:spPr>
          <a:xfrm>
            <a:off x="7543800" y="1920240"/>
            <a:ext cx="1463040" cy="457200"/>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970" dirty="0">
                <a:solidFill>
                  <a:srgbClr val="1F2328"/>
                </a:solidFill>
                <a:latin typeface="Arial" pitchFamily="34" charset="0"/>
                <a:ea typeface="Arial" pitchFamily="34" charset="-122"/>
                <a:cs typeface="Arial" pitchFamily="34" charset="-120"/>
              </a:rPr>
              <a:t>TramTu – NganTu</a:t>
            </a:r>
            <a:endParaRPr lang="en-US" sz="970" dirty="0"/>
          </a:p>
        </p:txBody>
      </p:sp>
      <p:sp>
        <p:nvSpPr>
          <p:cNvPr id="15" name="Text 12"/>
          <p:cNvSpPr/>
          <p:nvPr/>
        </p:nvSpPr>
        <p:spPr>
          <a:xfrm>
            <a:off x="9006840" y="1920240"/>
            <a:ext cx="2331720" cy="457200"/>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970" dirty="0">
                <a:solidFill>
                  <a:srgbClr val="1F2328"/>
                </a:solidFill>
                <a:latin typeface="Arial" pitchFamily="34" charset="0"/>
                <a:ea typeface="Arial" pitchFamily="34" charset="-122"/>
                <a:cs typeface="Arial" pitchFamily="34" charset="-120"/>
              </a:rPr>
              <a:t>1 – nhiều, FK maTram tại NganTu</a:t>
            </a:r>
            <a:endParaRPr lang="en-US" sz="970" dirty="0"/>
          </a:p>
        </p:txBody>
      </p:sp>
      <p:sp>
        <p:nvSpPr>
          <p:cNvPr id="16" name="Text 13"/>
          <p:cNvSpPr/>
          <p:nvPr/>
        </p:nvSpPr>
        <p:spPr>
          <a:xfrm>
            <a:off x="7543800" y="2377440"/>
            <a:ext cx="1463040" cy="457200"/>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970" dirty="0">
                <a:solidFill>
                  <a:srgbClr val="1F2328"/>
                </a:solidFill>
                <a:latin typeface="Arial" pitchFamily="34" charset="0"/>
                <a:ea typeface="Arial" pitchFamily="34" charset="-122"/>
                <a:cs typeface="Arial" pitchFamily="34" charset="-120"/>
              </a:rPr>
              <a:t>LoaiNganTu – NganTu</a:t>
            </a:r>
            <a:endParaRPr lang="en-US" sz="970" dirty="0"/>
          </a:p>
        </p:txBody>
      </p:sp>
      <p:sp>
        <p:nvSpPr>
          <p:cNvPr id="17" name="Text 14"/>
          <p:cNvSpPr/>
          <p:nvPr/>
        </p:nvSpPr>
        <p:spPr>
          <a:xfrm>
            <a:off x="9006840" y="2377440"/>
            <a:ext cx="2331720" cy="457200"/>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970" dirty="0">
                <a:solidFill>
                  <a:srgbClr val="1F2328"/>
                </a:solidFill>
                <a:latin typeface="Arial" pitchFamily="34" charset="0"/>
                <a:ea typeface="Arial" pitchFamily="34" charset="-122"/>
                <a:cs typeface="Arial" pitchFamily="34" charset="-120"/>
              </a:rPr>
              <a:t>1 – nhiều, FK maKichThuoc</a:t>
            </a:r>
            <a:endParaRPr lang="en-US" sz="970" dirty="0"/>
          </a:p>
        </p:txBody>
      </p:sp>
      <p:sp>
        <p:nvSpPr>
          <p:cNvPr id="18" name="Text 15"/>
          <p:cNvSpPr/>
          <p:nvPr/>
        </p:nvSpPr>
        <p:spPr>
          <a:xfrm>
            <a:off x="7543800" y="2834640"/>
            <a:ext cx="1463040" cy="457200"/>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970" dirty="0">
                <a:solidFill>
                  <a:srgbClr val="1F2328"/>
                </a:solidFill>
                <a:latin typeface="Arial" pitchFamily="34" charset="0"/>
                <a:ea typeface="Arial" pitchFamily="34" charset="-122"/>
                <a:cs typeface="Arial" pitchFamily="34" charset="-120"/>
              </a:rPr>
              <a:t>NganTu – GiaoDich</a:t>
            </a:r>
            <a:endParaRPr lang="en-US" sz="970" dirty="0"/>
          </a:p>
        </p:txBody>
      </p:sp>
      <p:sp>
        <p:nvSpPr>
          <p:cNvPr id="19" name="Text 16"/>
          <p:cNvSpPr/>
          <p:nvPr/>
        </p:nvSpPr>
        <p:spPr>
          <a:xfrm>
            <a:off x="9006840" y="2834640"/>
            <a:ext cx="2331720" cy="457200"/>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970" dirty="0">
                <a:solidFill>
                  <a:srgbClr val="1F2328"/>
                </a:solidFill>
                <a:latin typeface="Arial" pitchFamily="34" charset="0"/>
                <a:ea typeface="Arial" pitchFamily="34" charset="-122"/>
                <a:cs typeface="Arial" pitchFamily="34" charset="-120"/>
              </a:rPr>
              <a:t>1 – nhiều theo thời gian, FK maNT</a:t>
            </a:r>
            <a:endParaRPr lang="en-US" sz="970" dirty="0"/>
          </a:p>
        </p:txBody>
      </p:sp>
      <p:sp>
        <p:nvSpPr>
          <p:cNvPr id="20" name="Text 17"/>
          <p:cNvSpPr/>
          <p:nvPr/>
        </p:nvSpPr>
        <p:spPr>
          <a:xfrm>
            <a:off x="7543800" y="3291840"/>
            <a:ext cx="1463040" cy="457200"/>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970" dirty="0">
                <a:solidFill>
                  <a:srgbClr val="1F2328"/>
                </a:solidFill>
                <a:latin typeface="Arial" pitchFamily="34" charset="0"/>
                <a:ea typeface="Arial" pitchFamily="34" charset="-122"/>
                <a:cs typeface="Arial" pitchFamily="34" charset="-120"/>
              </a:rPr>
              <a:t>KhachHang – GiaoDich</a:t>
            </a:r>
            <a:endParaRPr lang="en-US" sz="970" dirty="0"/>
          </a:p>
        </p:txBody>
      </p:sp>
      <p:sp>
        <p:nvSpPr>
          <p:cNvPr id="21" name="Text 18"/>
          <p:cNvSpPr/>
          <p:nvPr/>
        </p:nvSpPr>
        <p:spPr>
          <a:xfrm>
            <a:off x="9006840" y="3291840"/>
            <a:ext cx="2331720" cy="457200"/>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970" dirty="0">
                <a:solidFill>
                  <a:srgbClr val="1F2328"/>
                </a:solidFill>
                <a:latin typeface="Arial" pitchFamily="34" charset="0"/>
                <a:ea typeface="Arial" pitchFamily="34" charset="-122"/>
                <a:cs typeface="Arial" pitchFamily="34" charset="-120"/>
              </a:rPr>
              <a:t>1 – nhiều, FK maKH</a:t>
            </a:r>
            <a:endParaRPr lang="en-US" sz="970" dirty="0"/>
          </a:p>
        </p:txBody>
      </p:sp>
      <p:sp>
        <p:nvSpPr>
          <p:cNvPr id="22" name="Text 19"/>
          <p:cNvSpPr/>
          <p:nvPr/>
        </p:nvSpPr>
        <p:spPr>
          <a:xfrm>
            <a:off x="7543800" y="3749040"/>
            <a:ext cx="1463040" cy="457200"/>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970" dirty="0">
                <a:solidFill>
                  <a:srgbClr val="1F2328"/>
                </a:solidFill>
                <a:latin typeface="Arial" pitchFamily="34" charset="0"/>
                <a:ea typeface="Arial" pitchFamily="34" charset="-122"/>
                <a:cs typeface="Arial" pitchFamily="34" charset="-120"/>
              </a:rPr>
              <a:t>GiaoDich – ThanhToan</a:t>
            </a:r>
            <a:endParaRPr lang="en-US" sz="970" dirty="0"/>
          </a:p>
        </p:txBody>
      </p:sp>
      <p:sp>
        <p:nvSpPr>
          <p:cNvPr id="23" name="Text 20"/>
          <p:cNvSpPr/>
          <p:nvPr/>
        </p:nvSpPr>
        <p:spPr>
          <a:xfrm>
            <a:off x="9006840" y="3749040"/>
            <a:ext cx="2331720" cy="457200"/>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970" dirty="0">
                <a:solidFill>
                  <a:srgbClr val="1F2328"/>
                </a:solidFill>
                <a:latin typeface="Arial" pitchFamily="34" charset="0"/>
                <a:ea typeface="Arial" pitchFamily="34" charset="-122"/>
                <a:cs typeface="Arial" pitchFamily="34" charset="-120"/>
              </a:rPr>
              <a:t>1 – nhiều, FK maGD</a:t>
            </a:r>
            <a:endParaRPr lang="en-US" sz="970" dirty="0"/>
          </a:p>
        </p:txBody>
      </p:sp>
      <p:sp>
        <p:nvSpPr>
          <p:cNvPr id="24" name="Text 21"/>
          <p:cNvSpPr/>
          <p:nvPr/>
        </p:nvSpPr>
        <p:spPr>
          <a:xfrm>
            <a:off x="7635240" y="4892040"/>
            <a:ext cx="3566160" cy="566928"/>
          </a:xfrm>
          <a:prstGeom prst="rect">
            <a:avLst/>
          </a:prstGeom>
          <a:noFill/>
          <a:ln/>
        </p:spPr>
        <p:txBody>
          <a:bodyPr wrap="square" lIns="762" tIns="762" rIns="762" bIns="762" rtlCol="0" anchor="t">
            <a:normAutofit lnSpcReduction="10000"/>
          </a:bodyPr>
          <a:lstStyle/>
          <a:p>
            <a:pPr marL="0" indent="0" algn="ctr">
              <a:buNone/>
            </a:pPr>
            <a:r>
              <a:rPr lang="en-US" sz="1320" b="1" dirty="0">
                <a:solidFill>
                  <a:srgbClr val="B50915"/>
                </a:solidFill>
                <a:latin typeface="Arial" pitchFamily="34" charset="0"/>
                <a:ea typeface="Arial" pitchFamily="34" charset="-122"/>
                <a:cs typeface="Arial" pitchFamily="34" charset="-120"/>
              </a:rPr>
              <a:t>Thiết kế dùng khóa ngoại để hiện thực hóa liên kết giữa các lớp, tạo cơ sở trực tiếp cho lược đồ quan hệ.</a:t>
            </a:r>
            <a:endParaRPr lang="en-US" sz="1320" dirty="0"/>
          </a:p>
        </p:txBody>
      </p:sp>
      <p:sp>
        <p:nvSpPr>
          <p:cNvPr id="25" name="Shape 22"/>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26" name="Text 23"/>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27" name="Text 24"/>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31</a:t>
            </a:r>
            <a:endParaRPr lang="en-US" sz="1000" dirty="0"/>
          </a:p>
        </p:txBody>
      </p:sp>
      <p:sp>
        <p:nvSpPr>
          <p:cNvPr id="28" name="Text 5">
            <a:extLst>
              <a:ext uri="{FF2B5EF4-FFF2-40B4-BE49-F238E27FC236}">
                <a16:creationId xmlns:a16="http://schemas.microsoft.com/office/drawing/2014/main" id="{EF93A47E-6F1B-0E48-268E-BA9D76F0BD0B}"/>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III: THIẾT KẾ HỆ THỐNG</a:t>
            </a:r>
          </a:p>
          <a:p>
            <a:pPr marL="0" indent="0">
              <a:buNone/>
            </a:pPr>
            <a:r>
              <a:rPr lang="en-US" sz="1200" b="1">
                <a:solidFill>
                  <a:srgbClr val="B50915"/>
                </a:solidFill>
                <a:latin typeface="Arial" pitchFamily="34" charset="0"/>
                <a:cs typeface="Arial" pitchFamily="34" charset="-120"/>
              </a:rPr>
              <a:t>3.1  Thiết kế lớp chi tiết</a:t>
            </a:r>
            <a:endParaRPr lang="en-US" sz="1200" dirty="0"/>
          </a:p>
        </p:txBody>
      </p:sp>
      <p:pic>
        <p:nvPicPr>
          <p:cNvPr id="29" name="Hình ảnh 28" descr="Ảnh có chứa văn bản, biểu đồ, Phông chữ, số">
            <a:extLst>
              <a:ext uri="{FF2B5EF4-FFF2-40B4-BE49-F238E27FC236}">
                <a16:creationId xmlns:a16="http://schemas.microsoft.com/office/drawing/2014/main" id="{33AA87D8-C389-7A2D-BA1B-D78EAC575CB9}"/>
              </a:ext>
            </a:extLst>
          </p:cNvPr>
          <p:cNvPicPr>
            <a:picLocks noChangeAspect="1"/>
          </p:cNvPicPr>
          <p:nvPr/>
        </p:nvPicPr>
        <p:blipFill>
          <a:blip r:embed="rId3"/>
          <a:stretch>
            <a:fillRect/>
          </a:stretch>
        </p:blipFill>
        <p:spPr>
          <a:xfrm>
            <a:off x="1201574" y="1106423"/>
            <a:ext cx="5664764" cy="5314191"/>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2">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III</a:t>
            </a:r>
            <a:endParaRPr lang="en-US" sz="750" dirty="0"/>
          </a:p>
        </p:txBody>
      </p:sp>
      <p:sp>
        <p:nvSpPr>
          <p:cNvPr id="8" name="Text 6"/>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a:solidFill>
                  <a:srgbClr val="1F2328"/>
                </a:solidFill>
                <a:latin typeface="Arial" pitchFamily="34" charset="0"/>
                <a:ea typeface="Arial" pitchFamily="34" charset="-122"/>
                <a:cs typeface="Arial" pitchFamily="34" charset="-120"/>
              </a:rPr>
              <a:t>Nguyên tắc ánh xạ từ mô hình lớp sang mô hình quan hệ</a:t>
            </a:r>
            <a:endParaRPr lang="en-US" sz="2400" dirty="0"/>
          </a:p>
        </p:txBody>
      </p:sp>
      <p:sp>
        <p:nvSpPr>
          <p:cNvPr id="9" name="Shape 7"/>
          <p:cNvSpPr/>
          <p:nvPr/>
        </p:nvSpPr>
        <p:spPr>
          <a:xfrm>
            <a:off x="502920" y="1046494"/>
            <a:ext cx="1188720" cy="0"/>
          </a:xfrm>
          <a:prstGeom prst="line">
            <a:avLst/>
          </a:prstGeom>
          <a:noFill/>
          <a:ln w="27940">
            <a:solidFill>
              <a:srgbClr val="B50915"/>
            </a:solidFill>
            <a:prstDash val="solid"/>
          </a:ln>
        </p:spPr>
        <p:txBody>
          <a:bodyPr/>
          <a:lstStyle/>
          <a:p>
            <a:endParaRPr lang="vi-VN"/>
          </a:p>
        </p:txBody>
      </p:sp>
      <p:sp>
        <p:nvSpPr>
          <p:cNvPr id="10" name="Text 8"/>
          <p:cNvSpPr/>
          <p:nvPr/>
        </p:nvSpPr>
        <p:spPr>
          <a:xfrm>
            <a:off x="822960" y="1803463"/>
            <a:ext cx="2651760" cy="647700"/>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en-US" sz="1400" b="1" dirty="0">
                <a:solidFill>
                  <a:srgbClr val="FFFFFF"/>
                </a:solidFill>
                <a:latin typeface="Arial" pitchFamily="34" charset="0"/>
                <a:ea typeface="Arial" pitchFamily="34" charset="-122"/>
                <a:cs typeface="Arial" pitchFamily="34" charset="-120"/>
              </a:rPr>
              <a:t>Mô hình hướng đối tượng</a:t>
            </a:r>
            <a:endParaRPr lang="en-US" sz="1400" dirty="0"/>
          </a:p>
        </p:txBody>
      </p:sp>
      <p:sp>
        <p:nvSpPr>
          <p:cNvPr id="11" name="Text 9"/>
          <p:cNvSpPr/>
          <p:nvPr/>
        </p:nvSpPr>
        <p:spPr>
          <a:xfrm>
            <a:off x="3474720" y="1803463"/>
            <a:ext cx="2651760" cy="647700"/>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en-US" sz="1400" b="1" dirty="0">
                <a:solidFill>
                  <a:srgbClr val="FFFFFF"/>
                </a:solidFill>
                <a:latin typeface="Arial" pitchFamily="34" charset="0"/>
                <a:ea typeface="Arial" pitchFamily="34" charset="-122"/>
                <a:cs typeface="Arial" pitchFamily="34" charset="-120"/>
              </a:rPr>
              <a:t>Mô hình quan hệ</a:t>
            </a:r>
            <a:endParaRPr lang="en-US" sz="1400" dirty="0"/>
          </a:p>
        </p:txBody>
      </p:sp>
      <p:sp>
        <p:nvSpPr>
          <p:cNvPr id="12" name="Text 10"/>
          <p:cNvSpPr/>
          <p:nvPr/>
        </p:nvSpPr>
        <p:spPr>
          <a:xfrm>
            <a:off x="822960" y="2451163"/>
            <a:ext cx="2651760" cy="647700"/>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1400" dirty="0">
                <a:solidFill>
                  <a:srgbClr val="1F2328"/>
                </a:solidFill>
                <a:latin typeface="Arial" pitchFamily="34" charset="0"/>
                <a:ea typeface="Arial" pitchFamily="34" charset="-122"/>
                <a:cs typeface="Arial" pitchFamily="34" charset="-120"/>
              </a:rPr>
              <a:t>Lớp trường cửu</a:t>
            </a:r>
            <a:endParaRPr lang="en-US" sz="1400" dirty="0"/>
          </a:p>
        </p:txBody>
      </p:sp>
      <p:sp>
        <p:nvSpPr>
          <p:cNvPr id="13" name="Text 11"/>
          <p:cNvSpPr/>
          <p:nvPr/>
        </p:nvSpPr>
        <p:spPr>
          <a:xfrm>
            <a:off x="3474720" y="2451163"/>
            <a:ext cx="2651760" cy="647700"/>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1400" dirty="0">
                <a:solidFill>
                  <a:srgbClr val="1F2328"/>
                </a:solidFill>
                <a:latin typeface="Arial" pitchFamily="34" charset="0"/>
                <a:ea typeface="Arial" pitchFamily="34" charset="-122"/>
                <a:cs typeface="Arial" pitchFamily="34" charset="-120"/>
              </a:rPr>
              <a:t>Bảng</a:t>
            </a:r>
            <a:endParaRPr lang="en-US" sz="1400" dirty="0"/>
          </a:p>
        </p:txBody>
      </p:sp>
      <p:sp>
        <p:nvSpPr>
          <p:cNvPr id="14" name="Text 12"/>
          <p:cNvSpPr/>
          <p:nvPr/>
        </p:nvSpPr>
        <p:spPr>
          <a:xfrm>
            <a:off x="822960" y="3098863"/>
            <a:ext cx="2651760" cy="647700"/>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1400" dirty="0">
                <a:solidFill>
                  <a:srgbClr val="1F2328"/>
                </a:solidFill>
                <a:latin typeface="Arial" pitchFamily="34" charset="0"/>
                <a:ea typeface="Arial" pitchFamily="34" charset="-122"/>
                <a:cs typeface="Arial" pitchFamily="34" charset="-120"/>
              </a:rPr>
              <a:t>Thuộc tính kiểu đơn</a:t>
            </a:r>
            <a:endParaRPr lang="en-US" sz="1400" dirty="0"/>
          </a:p>
        </p:txBody>
      </p:sp>
      <p:sp>
        <p:nvSpPr>
          <p:cNvPr id="15" name="Text 13"/>
          <p:cNvSpPr/>
          <p:nvPr/>
        </p:nvSpPr>
        <p:spPr>
          <a:xfrm>
            <a:off x="3474720" y="3098863"/>
            <a:ext cx="2651760" cy="647700"/>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1400" dirty="0">
                <a:solidFill>
                  <a:srgbClr val="1F2328"/>
                </a:solidFill>
                <a:latin typeface="Arial" pitchFamily="34" charset="0"/>
                <a:ea typeface="Arial" pitchFamily="34" charset="-122"/>
                <a:cs typeface="Arial" pitchFamily="34" charset="-120"/>
              </a:rPr>
              <a:t>Cột</a:t>
            </a:r>
            <a:endParaRPr lang="en-US" sz="1400" dirty="0"/>
          </a:p>
        </p:txBody>
      </p:sp>
      <p:sp>
        <p:nvSpPr>
          <p:cNvPr id="16" name="Text 14"/>
          <p:cNvSpPr/>
          <p:nvPr/>
        </p:nvSpPr>
        <p:spPr>
          <a:xfrm>
            <a:off x="822960" y="3746563"/>
            <a:ext cx="2651760" cy="647700"/>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1400" dirty="0">
                <a:solidFill>
                  <a:srgbClr val="1F2328"/>
                </a:solidFill>
                <a:latin typeface="Arial" pitchFamily="34" charset="0"/>
                <a:ea typeface="Arial" pitchFamily="34" charset="-122"/>
                <a:cs typeface="Arial" pitchFamily="34" charset="-120"/>
              </a:rPr>
              <a:t>Đối tượng / cá thể</a:t>
            </a:r>
            <a:endParaRPr lang="en-US" sz="1400" dirty="0"/>
          </a:p>
        </p:txBody>
      </p:sp>
      <p:sp>
        <p:nvSpPr>
          <p:cNvPr id="17" name="Text 15"/>
          <p:cNvSpPr/>
          <p:nvPr/>
        </p:nvSpPr>
        <p:spPr>
          <a:xfrm>
            <a:off x="3474720" y="3746563"/>
            <a:ext cx="2651760" cy="647700"/>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1400" dirty="0">
                <a:solidFill>
                  <a:srgbClr val="1F2328"/>
                </a:solidFill>
                <a:latin typeface="Arial" pitchFamily="34" charset="0"/>
                <a:ea typeface="Arial" pitchFamily="34" charset="-122"/>
                <a:cs typeface="Arial" pitchFamily="34" charset="-120"/>
              </a:rPr>
              <a:t>Dòng dữ liệu</a:t>
            </a:r>
            <a:endParaRPr lang="en-US" sz="1400" dirty="0"/>
          </a:p>
        </p:txBody>
      </p:sp>
      <p:sp>
        <p:nvSpPr>
          <p:cNvPr id="18" name="Text 16"/>
          <p:cNvSpPr/>
          <p:nvPr/>
        </p:nvSpPr>
        <p:spPr>
          <a:xfrm>
            <a:off x="822960" y="4394263"/>
            <a:ext cx="2651760" cy="647700"/>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1400" dirty="0">
                <a:solidFill>
                  <a:srgbClr val="1F2328"/>
                </a:solidFill>
                <a:latin typeface="Arial" pitchFamily="34" charset="0"/>
                <a:ea typeface="Arial" pitchFamily="34" charset="-122"/>
                <a:cs typeface="Arial" pitchFamily="34" charset="-120"/>
              </a:rPr>
              <a:t>OID</a:t>
            </a:r>
            <a:endParaRPr lang="en-US" sz="1400" dirty="0"/>
          </a:p>
        </p:txBody>
      </p:sp>
      <p:sp>
        <p:nvSpPr>
          <p:cNvPr id="19" name="Text 17"/>
          <p:cNvSpPr/>
          <p:nvPr/>
        </p:nvSpPr>
        <p:spPr>
          <a:xfrm>
            <a:off x="3474720" y="4394263"/>
            <a:ext cx="2651760" cy="647700"/>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1400" dirty="0">
                <a:solidFill>
                  <a:srgbClr val="1F2328"/>
                </a:solidFill>
                <a:latin typeface="Arial" pitchFamily="34" charset="0"/>
                <a:ea typeface="Arial" pitchFamily="34" charset="-122"/>
                <a:cs typeface="Arial" pitchFamily="34" charset="-120"/>
              </a:rPr>
              <a:t>Khóa chính</a:t>
            </a:r>
            <a:endParaRPr lang="en-US" sz="1400" dirty="0"/>
          </a:p>
        </p:txBody>
      </p:sp>
      <p:sp>
        <p:nvSpPr>
          <p:cNvPr id="20" name="Text 18"/>
          <p:cNvSpPr/>
          <p:nvPr/>
        </p:nvSpPr>
        <p:spPr>
          <a:xfrm>
            <a:off x="822960" y="5041963"/>
            <a:ext cx="2651760" cy="647700"/>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1400" dirty="0">
                <a:solidFill>
                  <a:srgbClr val="1F2328"/>
                </a:solidFill>
                <a:latin typeface="Arial" pitchFamily="34" charset="0"/>
                <a:ea typeface="Arial" pitchFamily="34" charset="-122"/>
                <a:cs typeface="Arial" pitchFamily="34" charset="-120"/>
              </a:rPr>
              <a:t>Liên kết</a:t>
            </a:r>
            <a:endParaRPr lang="en-US" sz="1400" dirty="0"/>
          </a:p>
        </p:txBody>
      </p:sp>
      <p:sp>
        <p:nvSpPr>
          <p:cNvPr id="21" name="Text 19"/>
          <p:cNvSpPr/>
          <p:nvPr/>
        </p:nvSpPr>
        <p:spPr>
          <a:xfrm>
            <a:off x="3474720" y="5041963"/>
            <a:ext cx="2651760" cy="647700"/>
          </a:xfrm>
          <a:prstGeom prst="rect">
            <a:avLst/>
          </a:prstGeom>
          <a:solidFill>
            <a:srgbClr val="FFFFFF"/>
          </a:solidFill>
          <a:ln w="6350">
            <a:solidFill>
              <a:srgbClr val="D9DDE3"/>
            </a:solidFill>
          </a:ln>
        </p:spPr>
        <p:txBody>
          <a:bodyPr wrap="square" lIns="635" tIns="635" rIns="635" bIns="635" rtlCol="0" anchor="ctr">
            <a:normAutofit/>
          </a:bodyPr>
          <a:lstStyle/>
          <a:p>
            <a:pPr marL="0" indent="0" algn="l">
              <a:buNone/>
            </a:pPr>
            <a:r>
              <a:rPr lang="en-US" sz="1400" dirty="0">
                <a:solidFill>
                  <a:srgbClr val="1F2328"/>
                </a:solidFill>
                <a:latin typeface="Arial" pitchFamily="34" charset="0"/>
                <a:ea typeface="Arial" pitchFamily="34" charset="-122"/>
                <a:cs typeface="Arial" pitchFamily="34" charset="-120"/>
              </a:rPr>
              <a:t>Khóa ngoại / bảng trung gian</a:t>
            </a:r>
            <a:endParaRPr lang="en-US" sz="1400" dirty="0"/>
          </a:p>
        </p:txBody>
      </p:sp>
      <p:sp>
        <p:nvSpPr>
          <p:cNvPr id="22" name="Text 20"/>
          <p:cNvSpPr/>
          <p:nvPr/>
        </p:nvSpPr>
        <p:spPr>
          <a:xfrm>
            <a:off x="6675120" y="1988963"/>
            <a:ext cx="4114800" cy="292608"/>
          </a:xfrm>
          <a:prstGeom prst="rect">
            <a:avLst/>
          </a:prstGeom>
          <a:noFill/>
          <a:ln/>
        </p:spPr>
        <p:txBody>
          <a:bodyPr wrap="square" lIns="762" tIns="762" rIns="762" bIns="762" rtlCol="0" anchor="t">
            <a:noAutofit/>
          </a:bodyPr>
          <a:lstStyle/>
          <a:p>
            <a:pPr marL="0" indent="0" algn="ctr">
              <a:buNone/>
            </a:pPr>
            <a:r>
              <a:rPr lang="en-US" sz="2000" b="1" dirty="0">
                <a:solidFill>
                  <a:srgbClr val="B50915"/>
                </a:solidFill>
                <a:latin typeface="Arial" pitchFamily="34" charset="0"/>
                <a:ea typeface="Arial" pitchFamily="34" charset="-122"/>
                <a:cs typeface="Arial" pitchFamily="34" charset="-120"/>
              </a:rPr>
              <a:t>Áp dụng cho Smartbox</a:t>
            </a:r>
            <a:endParaRPr lang="en-US" sz="2000" dirty="0"/>
          </a:p>
        </p:txBody>
      </p:sp>
      <p:sp>
        <p:nvSpPr>
          <p:cNvPr id="23" name="Text 21"/>
          <p:cNvSpPr/>
          <p:nvPr/>
        </p:nvSpPr>
        <p:spPr>
          <a:xfrm>
            <a:off x="6629400" y="2537602"/>
            <a:ext cx="4902524" cy="3041979"/>
          </a:xfrm>
          <a:prstGeom prst="rect">
            <a:avLst/>
          </a:prstGeom>
          <a:noFill/>
          <a:ln/>
        </p:spPr>
        <p:txBody>
          <a:bodyPr wrap="square" lIns="635" tIns="635" rIns="635" bIns="635" rtlCol="0" anchor="t">
            <a:noAutofit/>
          </a:bodyPr>
          <a:lstStyle/>
          <a:p>
            <a:r>
              <a:rPr lang="en-US" sz="1600" dirty="0">
                <a:solidFill>
                  <a:srgbClr val="1F2328"/>
                </a:solidFill>
                <a:latin typeface="Arial" pitchFamily="34" charset="0"/>
                <a:ea typeface="Arial" pitchFamily="34" charset="-122"/>
                <a:cs typeface="Arial" pitchFamily="34" charset="-120"/>
              </a:rPr>
              <a:t>6 lớp thực thể được ánh xạ thành 6 bảng tương ứng.
</a:t>
            </a:r>
            <a:endParaRPr lang="en-US" sz="1600" dirty="0"/>
          </a:p>
          <a:p>
            <a:r>
              <a:rPr lang="en-US" sz="1600" dirty="0">
                <a:solidFill>
                  <a:srgbClr val="1F2328"/>
                </a:solidFill>
                <a:latin typeface="Arial" pitchFamily="34" charset="0"/>
                <a:ea typeface="Arial" pitchFamily="34" charset="-122"/>
                <a:cs typeface="Arial" pitchFamily="34" charset="-120"/>
              </a:rPr>
              <a:t>Không có quan hệ nhiều – nhiều nên không cần bảng trung gian.
</a:t>
            </a:r>
            <a:endParaRPr lang="en-US" sz="1600" dirty="0"/>
          </a:p>
          <a:p>
            <a:r>
              <a:rPr lang="en-US" sz="1600" dirty="0">
                <a:solidFill>
                  <a:srgbClr val="1F2328"/>
                </a:solidFill>
                <a:latin typeface="Arial" pitchFamily="34" charset="0"/>
                <a:ea typeface="Arial" pitchFamily="34" charset="-122"/>
                <a:cs typeface="Arial" pitchFamily="34" charset="-120"/>
              </a:rPr>
              <a:t>Không dùng kế thừa giữa các vai trò; LoaiTaiKhoan quản lý phân quyền.
</a:t>
            </a:r>
            <a:endParaRPr lang="en-US" sz="1600" dirty="0"/>
          </a:p>
          <a:p>
            <a:r>
              <a:rPr lang="en-US" sz="1600" dirty="0">
                <a:solidFill>
                  <a:srgbClr val="1F2328"/>
                </a:solidFill>
                <a:latin typeface="Arial" pitchFamily="34" charset="0"/>
                <a:ea typeface="Arial" pitchFamily="34" charset="-122"/>
                <a:cs typeface="Arial" pitchFamily="34" charset="-120"/>
              </a:rPr>
              <a:t>Khóa ngoại đảm bảo luồng dữ liệu liên tục từ trạm tủ đến thanh toán.</a:t>
            </a:r>
            <a:endParaRPr lang="en-US" sz="1600" dirty="0"/>
          </a:p>
        </p:txBody>
      </p:sp>
      <p:sp>
        <p:nvSpPr>
          <p:cNvPr id="24" name="Shape 22"/>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25" name="Text 23"/>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26" name="Text 24"/>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32</a:t>
            </a:r>
            <a:endParaRPr lang="en-US" sz="1000" dirty="0"/>
          </a:p>
        </p:txBody>
      </p:sp>
      <p:sp>
        <p:nvSpPr>
          <p:cNvPr id="27" name="Text 5">
            <a:extLst>
              <a:ext uri="{FF2B5EF4-FFF2-40B4-BE49-F238E27FC236}">
                <a16:creationId xmlns:a16="http://schemas.microsoft.com/office/drawing/2014/main" id="{E78376A2-922A-D1BF-D74A-B24C4D178604}"/>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III: THIẾT KẾ HỆ THỐNG</a:t>
            </a:r>
          </a:p>
          <a:p>
            <a:pPr marL="0" indent="0">
              <a:buNone/>
            </a:pPr>
            <a:r>
              <a:rPr lang="vi-VN" sz="1200" b="1">
                <a:solidFill>
                  <a:srgbClr val="B50915"/>
                </a:solidFill>
                <a:latin typeface="Arial" pitchFamily="34" charset="0"/>
                <a:cs typeface="Arial" pitchFamily="34" charset="-120"/>
              </a:rPr>
              <a:t>3.2  Thiết kế cơ sở dữ liệu</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3">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III</a:t>
            </a:r>
            <a:endParaRPr lang="en-US" sz="750" dirty="0"/>
          </a:p>
        </p:txBody>
      </p:sp>
      <p:sp>
        <p:nvSpPr>
          <p:cNvPr id="8" name="Text 6"/>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a:solidFill>
                  <a:srgbClr val="1F2328"/>
                </a:solidFill>
                <a:latin typeface="Arial" pitchFamily="34" charset="0"/>
                <a:ea typeface="Arial" pitchFamily="34" charset="-122"/>
                <a:cs typeface="Arial" pitchFamily="34" charset="-120"/>
              </a:rPr>
              <a:t>Lược đồ quan hệ giữa các bảng (Physical Database Schema)</a:t>
            </a:r>
            <a:endParaRPr lang="en-US" sz="2400" dirty="0"/>
          </a:p>
        </p:txBody>
      </p:sp>
      <p:sp>
        <p:nvSpPr>
          <p:cNvPr id="9" name="Shape 7"/>
          <p:cNvSpPr/>
          <p:nvPr/>
        </p:nvSpPr>
        <p:spPr>
          <a:xfrm>
            <a:off x="502920" y="1029021"/>
            <a:ext cx="1188720" cy="0"/>
          </a:xfrm>
          <a:prstGeom prst="line">
            <a:avLst/>
          </a:prstGeom>
          <a:noFill/>
          <a:ln w="27940">
            <a:solidFill>
              <a:srgbClr val="B50915"/>
            </a:solidFill>
            <a:prstDash val="solid"/>
          </a:ln>
        </p:spPr>
        <p:txBody>
          <a:bodyPr/>
          <a:lstStyle/>
          <a:p>
            <a:endParaRPr lang="vi-VN"/>
          </a:p>
        </p:txBody>
      </p:sp>
      <p:pic>
        <p:nvPicPr>
          <p:cNvPr id="10" name="Image 0" descr="/mnt/data/smartbox_images/image20.png"/>
          <p:cNvPicPr>
            <a:picLocks noChangeAspect="1"/>
          </p:cNvPicPr>
          <p:nvPr/>
        </p:nvPicPr>
        <p:blipFill>
          <a:blip r:embed="rId3"/>
          <a:stretch>
            <a:fillRect/>
          </a:stretch>
        </p:blipFill>
        <p:spPr>
          <a:xfrm>
            <a:off x="731520" y="1273587"/>
            <a:ext cx="6629400" cy="4539425"/>
          </a:xfrm>
          <a:prstGeom prst="rect">
            <a:avLst/>
          </a:prstGeom>
        </p:spPr>
      </p:pic>
      <p:sp>
        <p:nvSpPr>
          <p:cNvPr id="11" name="Shape 8"/>
          <p:cNvSpPr/>
          <p:nvPr/>
        </p:nvSpPr>
        <p:spPr>
          <a:xfrm>
            <a:off x="411480" y="1147368"/>
            <a:ext cx="7187184" cy="5183535"/>
          </a:xfrm>
          <a:prstGeom prst="rect">
            <a:avLst/>
          </a:prstGeom>
          <a:solidFill>
            <a:srgbClr val="FFFFFF">
              <a:alpha val="0"/>
            </a:srgbClr>
          </a:solidFill>
          <a:ln w="12700">
            <a:solidFill>
              <a:srgbClr val="D9DDE3"/>
            </a:solidFill>
            <a:prstDash val="solid"/>
          </a:ln>
        </p:spPr>
        <p:txBody>
          <a:bodyPr/>
          <a:lstStyle/>
          <a:p>
            <a:endParaRPr lang="vi-VN"/>
          </a:p>
        </p:txBody>
      </p:sp>
      <p:sp>
        <p:nvSpPr>
          <p:cNvPr id="12" name="Text 9"/>
          <p:cNvSpPr/>
          <p:nvPr/>
        </p:nvSpPr>
        <p:spPr>
          <a:xfrm>
            <a:off x="7598664" y="1158033"/>
            <a:ext cx="4306824" cy="4710252"/>
          </a:xfrm>
          <a:prstGeom prst="rect">
            <a:avLst/>
          </a:prstGeom>
          <a:noFill/>
          <a:ln/>
        </p:spPr>
        <p:txBody>
          <a:bodyPr wrap="square" lIns="635" tIns="635" rIns="635" bIns="635" rtlCol="0" anchor="t">
            <a:noAutofit/>
          </a:bodyPr>
          <a:lstStyle/>
          <a:p>
            <a:pPr marL="342900" lvl="0" indent="-342900">
              <a:lnSpc>
                <a:spcPct val="112000"/>
              </a:lnSpc>
              <a:spcAft>
                <a:spcPts val="300"/>
              </a:spcAft>
              <a:buFont typeface="Arial" panose="020B0604020202020204" pitchFamily="34" charset="0"/>
              <a:buChar char="•"/>
            </a:pPr>
            <a:r>
              <a:rPr lang="vi-VN" sz="13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TramTu_Nhom5 — NganTu_Nhom5 (1 – Nhiều): </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Một trạm tủ chứa nhiều ô ngăn tủ, mỗi ô ngăn tủ chỉ thuộc một trạm. Khóa ngoại </a:t>
            </a:r>
            <a:r>
              <a:rPr lang="vi-VN" sz="1300">
                <a:solidFill>
                  <a:srgbClr val="000000"/>
                </a:solidFill>
                <a:effectLst/>
                <a:latin typeface="Consolas" panose="020B0609020204030204" pitchFamily="49" charset="0"/>
                <a:ea typeface="Consolas" panose="020B0609020204030204" pitchFamily="49" charset="0"/>
                <a:cs typeface="Consolas" panose="020B0609020204030204" pitchFamily="49" charset="0"/>
              </a:rPr>
              <a:t>MaTram_Nhom5</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tại bảng </a:t>
            </a:r>
            <a:r>
              <a:rPr lang="vi-VN" sz="1300">
                <a:solidFill>
                  <a:srgbClr val="000000"/>
                </a:solidFill>
                <a:effectLst/>
                <a:latin typeface="Consolas" panose="020B0609020204030204" pitchFamily="49" charset="0"/>
                <a:ea typeface="Consolas" panose="020B0609020204030204" pitchFamily="49" charset="0"/>
                <a:cs typeface="Consolas" panose="020B0609020204030204" pitchFamily="49" charset="0"/>
              </a:rPr>
              <a:t>NganTu_Nhom5</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a:t>
            </a:r>
            <a:endParaRPr lang="vi-VN" sz="1300">
              <a:effectLst/>
              <a:latin typeface="Arial" panose="020B0604020202020204" pitchFamily="34" charset="0"/>
              <a:ea typeface="Arial" panose="020B0604020202020204" pitchFamily="34" charset="0"/>
              <a:cs typeface="Arial" panose="020B0604020202020204" pitchFamily="34" charset="0"/>
            </a:endParaRPr>
          </a:p>
          <a:p>
            <a:pPr marL="342900" lvl="0" indent="-342900">
              <a:lnSpc>
                <a:spcPct val="112000"/>
              </a:lnSpc>
              <a:spcAft>
                <a:spcPts val="300"/>
              </a:spcAft>
              <a:buFont typeface="Arial" panose="020B0604020202020204" pitchFamily="34" charset="0"/>
              <a:buChar char="•"/>
            </a:pPr>
            <a:r>
              <a:rPr lang="vi-VN" sz="13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LoaiNganTu_Nhom5 — NganTu_Nhom5 (1 – Nhiều): </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Một cấu hình loại ngăn (S, M, L) áp dụng cho nhiều ô ngăn tủ. Khóa ngoại </a:t>
            </a:r>
            <a:r>
              <a:rPr lang="vi-VN" sz="1300">
                <a:solidFill>
                  <a:srgbClr val="000000"/>
                </a:solidFill>
                <a:effectLst/>
                <a:latin typeface="Consolas" panose="020B0609020204030204" pitchFamily="49" charset="0"/>
                <a:ea typeface="Consolas" panose="020B0609020204030204" pitchFamily="49" charset="0"/>
                <a:cs typeface="Consolas" panose="020B0609020204030204" pitchFamily="49" charset="0"/>
              </a:rPr>
              <a:t>MaKichThuoc_Nhom5</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tại bảng </a:t>
            </a:r>
            <a:r>
              <a:rPr lang="vi-VN" sz="1300">
                <a:solidFill>
                  <a:srgbClr val="000000"/>
                </a:solidFill>
                <a:effectLst/>
                <a:latin typeface="Consolas" panose="020B0609020204030204" pitchFamily="49" charset="0"/>
                <a:ea typeface="Consolas" panose="020B0609020204030204" pitchFamily="49" charset="0"/>
                <a:cs typeface="Consolas" panose="020B0609020204030204" pitchFamily="49" charset="0"/>
              </a:rPr>
              <a:t>NganTu_Nhom5</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a:t>
            </a:r>
            <a:endParaRPr lang="vi-VN" sz="1300">
              <a:effectLst/>
              <a:latin typeface="Arial" panose="020B0604020202020204" pitchFamily="34" charset="0"/>
              <a:ea typeface="Arial" panose="020B0604020202020204" pitchFamily="34" charset="0"/>
              <a:cs typeface="Arial" panose="020B0604020202020204" pitchFamily="34" charset="0"/>
            </a:endParaRPr>
          </a:p>
          <a:p>
            <a:pPr marL="342900" lvl="0" indent="-342900">
              <a:lnSpc>
                <a:spcPct val="112000"/>
              </a:lnSpc>
              <a:spcAft>
                <a:spcPts val="300"/>
              </a:spcAft>
              <a:buFont typeface="Arial" panose="020B0604020202020204" pitchFamily="34" charset="0"/>
              <a:buChar char="•"/>
            </a:pPr>
            <a:r>
              <a:rPr lang="vi-VN" sz="13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NganTu_Nhom5 — GiaoDich_Nhom5 (1 – Nhiều): </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Một ô ngăn tủ theo thời gian tham gia nhiều chu kỳ giao dịch khác nhau. Khóa ngoại </a:t>
            </a:r>
            <a:r>
              <a:rPr lang="vi-VN" sz="1300">
                <a:solidFill>
                  <a:srgbClr val="000000"/>
                </a:solidFill>
                <a:effectLst/>
                <a:latin typeface="Consolas" panose="020B0609020204030204" pitchFamily="49" charset="0"/>
                <a:ea typeface="Consolas" panose="020B0609020204030204" pitchFamily="49" charset="0"/>
                <a:cs typeface="Consolas" panose="020B0609020204030204" pitchFamily="49" charset="0"/>
              </a:rPr>
              <a:t>MaNT_Nhom5</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tại bảng </a:t>
            </a:r>
            <a:r>
              <a:rPr lang="vi-VN" sz="1300">
                <a:solidFill>
                  <a:srgbClr val="000000"/>
                </a:solidFill>
                <a:effectLst/>
                <a:latin typeface="Consolas" panose="020B0609020204030204" pitchFamily="49" charset="0"/>
                <a:ea typeface="Consolas" panose="020B0609020204030204" pitchFamily="49" charset="0"/>
                <a:cs typeface="Consolas" panose="020B0609020204030204" pitchFamily="49" charset="0"/>
              </a:rPr>
              <a:t>GiaoDich_Nhom5</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a:t>
            </a:r>
            <a:endParaRPr lang="vi-VN" sz="1300">
              <a:effectLst/>
              <a:latin typeface="Arial" panose="020B0604020202020204" pitchFamily="34" charset="0"/>
              <a:ea typeface="Arial" panose="020B0604020202020204" pitchFamily="34" charset="0"/>
              <a:cs typeface="Arial" panose="020B0604020202020204" pitchFamily="34" charset="0"/>
            </a:endParaRPr>
          </a:p>
          <a:p>
            <a:pPr marL="342900" lvl="0" indent="-342900">
              <a:lnSpc>
                <a:spcPct val="112000"/>
              </a:lnSpc>
              <a:spcAft>
                <a:spcPts val="300"/>
              </a:spcAft>
              <a:buFont typeface="Arial" panose="020B0604020202020204" pitchFamily="34" charset="0"/>
              <a:buChar char="•"/>
            </a:pPr>
            <a:r>
              <a:rPr lang="vi-VN" sz="13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KhachHang_Nhom5 — GiaoDich_Nhom5 (1 – Nhiều): </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Một khách hàng (Bưu tá cất đơn hoặc Cư dân tự thuê) khởi tạo nhiều giao dịch. Khóa ngoại </a:t>
            </a:r>
            <a:r>
              <a:rPr lang="vi-VN" sz="1300">
                <a:solidFill>
                  <a:srgbClr val="000000"/>
                </a:solidFill>
                <a:effectLst/>
                <a:latin typeface="Consolas" panose="020B0609020204030204" pitchFamily="49" charset="0"/>
                <a:ea typeface="Consolas" panose="020B0609020204030204" pitchFamily="49" charset="0"/>
                <a:cs typeface="Consolas" panose="020B0609020204030204" pitchFamily="49" charset="0"/>
              </a:rPr>
              <a:t>MaKH_Nhom5</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tại bảng </a:t>
            </a:r>
            <a:r>
              <a:rPr lang="vi-VN" sz="1300">
                <a:solidFill>
                  <a:srgbClr val="000000"/>
                </a:solidFill>
                <a:effectLst/>
                <a:latin typeface="Consolas" panose="020B0609020204030204" pitchFamily="49" charset="0"/>
                <a:ea typeface="Consolas" panose="020B0609020204030204" pitchFamily="49" charset="0"/>
                <a:cs typeface="Consolas" panose="020B0609020204030204" pitchFamily="49" charset="0"/>
              </a:rPr>
              <a:t>GiaoDich_Nhom5</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a:t>
            </a:r>
            <a:endParaRPr lang="vi-VN" sz="1300">
              <a:effectLst/>
              <a:latin typeface="Arial" panose="020B0604020202020204" pitchFamily="34" charset="0"/>
              <a:ea typeface="Arial" panose="020B0604020202020204" pitchFamily="34" charset="0"/>
              <a:cs typeface="Arial" panose="020B0604020202020204" pitchFamily="34" charset="0"/>
            </a:endParaRPr>
          </a:p>
          <a:p>
            <a:pPr marL="342900" lvl="0" indent="-342900">
              <a:lnSpc>
                <a:spcPct val="112000"/>
              </a:lnSpc>
              <a:spcAft>
                <a:spcPts val="300"/>
              </a:spcAft>
              <a:buFont typeface="Arial" panose="020B0604020202020204" pitchFamily="34" charset="0"/>
              <a:buChar char="•"/>
            </a:pPr>
            <a:r>
              <a:rPr lang="vi-VN" sz="13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GiaoDich_Nhom5 — ThanhToan_Nhom5 (1 – Nhiều): </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Một giao dịch có thể phát sinh nhiều bản ghi thanh toán (ví dụ nhật ký các lần quyết toán thành công/thất bại). Khóa ngoại </a:t>
            </a:r>
            <a:r>
              <a:rPr lang="vi-VN" sz="1300">
                <a:solidFill>
                  <a:srgbClr val="000000"/>
                </a:solidFill>
                <a:effectLst/>
                <a:latin typeface="Consolas" panose="020B0609020204030204" pitchFamily="49" charset="0"/>
                <a:ea typeface="Consolas" panose="020B0609020204030204" pitchFamily="49" charset="0"/>
                <a:cs typeface="Consolas" panose="020B0609020204030204" pitchFamily="49" charset="0"/>
              </a:rPr>
              <a:t>MaGD_Nhom5</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tại bảng </a:t>
            </a:r>
            <a:r>
              <a:rPr lang="vi-VN" sz="1300">
                <a:solidFill>
                  <a:srgbClr val="000000"/>
                </a:solidFill>
                <a:effectLst/>
                <a:latin typeface="Consolas" panose="020B0609020204030204" pitchFamily="49" charset="0"/>
                <a:ea typeface="Consolas" panose="020B0609020204030204" pitchFamily="49" charset="0"/>
                <a:cs typeface="Consolas" panose="020B0609020204030204" pitchFamily="49" charset="0"/>
              </a:rPr>
              <a:t>ThanhToan_Nhom5</a:t>
            </a:r>
            <a:r>
              <a:rPr lang="vi-VN" sz="13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a:t>
            </a:r>
            <a:endParaRPr lang="vi-VN" sz="1300">
              <a:effectLst/>
              <a:latin typeface="Arial" panose="020B0604020202020204" pitchFamily="34" charset="0"/>
              <a:ea typeface="Arial" panose="020B0604020202020204" pitchFamily="34" charset="0"/>
              <a:cs typeface="Arial" panose="020B0604020202020204" pitchFamily="34" charset="0"/>
            </a:endParaRPr>
          </a:p>
        </p:txBody>
      </p:sp>
      <p:sp>
        <p:nvSpPr>
          <p:cNvPr id="13" name="Text 10"/>
          <p:cNvSpPr/>
          <p:nvPr/>
        </p:nvSpPr>
        <p:spPr>
          <a:xfrm>
            <a:off x="8016143" y="5996303"/>
            <a:ext cx="3674782" cy="375373"/>
          </a:xfrm>
          <a:prstGeom prst="rect">
            <a:avLst/>
          </a:prstGeom>
          <a:solidFill>
            <a:srgbClr val="FFF3F3"/>
          </a:solidFill>
          <a:ln w="12700">
            <a:solidFill>
              <a:srgbClr val="B50915"/>
            </a:solidFill>
          </a:ln>
        </p:spPr>
        <p:txBody>
          <a:bodyPr wrap="square" lIns="508" tIns="508" rIns="508" bIns="508" rtlCol="0" anchor="ctr"/>
          <a:lstStyle/>
          <a:p>
            <a:pPr marL="0" indent="0" algn="ctr">
              <a:buNone/>
            </a:pPr>
            <a:r>
              <a:rPr lang="en-US" sz="1600" b="1" dirty="0">
                <a:solidFill>
                  <a:srgbClr val="B50915"/>
                </a:solidFill>
                <a:latin typeface="Arial" pitchFamily="34" charset="0"/>
                <a:ea typeface="Arial" pitchFamily="34" charset="-122"/>
                <a:cs typeface="Arial" pitchFamily="34" charset="-120"/>
              </a:rPr>
              <a:t>Trọng tâm CSDL: GiaoDich_Nhom5</a:t>
            </a:r>
            <a:endParaRPr lang="en-US" sz="1600" dirty="0"/>
          </a:p>
        </p:txBody>
      </p:sp>
      <p:sp>
        <p:nvSpPr>
          <p:cNvPr id="14" name="Shape 11"/>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15" name="Text 12"/>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16" name="Text 13"/>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33</a:t>
            </a:r>
            <a:endParaRPr lang="en-US" sz="1000" dirty="0"/>
          </a:p>
        </p:txBody>
      </p:sp>
      <p:sp>
        <p:nvSpPr>
          <p:cNvPr id="17" name="Text 5">
            <a:extLst>
              <a:ext uri="{FF2B5EF4-FFF2-40B4-BE49-F238E27FC236}">
                <a16:creationId xmlns:a16="http://schemas.microsoft.com/office/drawing/2014/main" id="{4DC2E79E-F29F-58EE-25E5-BA5CDE479D7A}"/>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III: THIẾT KẾ HỆ THỐNG</a:t>
            </a:r>
          </a:p>
          <a:p>
            <a:pPr marL="0" indent="0">
              <a:buNone/>
            </a:pPr>
            <a:r>
              <a:rPr lang="vi-VN" sz="1200" b="1">
                <a:solidFill>
                  <a:srgbClr val="B50915"/>
                </a:solidFill>
                <a:latin typeface="Arial" pitchFamily="34" charset="0"/>
                <a:cs typeface="Arial" pitchFamily="34" charset="-120"/>
              </a:rPr>
              <a:t>3.2  Thiết kế cơ sở dữ liệu</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4">
    <p:bg>
      <p:bgPr>
        <a:solidFill>
          <a:srgbClr val="F7F7F7"/>
        </a:solidFill>
        <a:effectLst/>
      </p:bgPr>
    </p:bg>
    <p:spTree>
      <p:nvGrpSpPr>
        <p:cNvPr id="1" name=""/>
        <p:cNvGrpSpPr/>
        <p:nvPr/>
      </p:nvGrpSpPr>
      <p:grpSpPr>
        <a:xfrm>
          <a:off x="0" y="0"/>
          <a:ext cx="0" cy="0"/>
          <a:chOff x="0" y="0"/>
          <a:chExt cx="0" cy="0"/>
        </a:xfrm>
      </p:grpSpPr>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III</a:t>
            </a:r>
            <a:endParaRPr lang="en-US" sz="750" dirty="0"/>
          </a:p>
        </p:txBody>
      </p:sp>
      <p:sp>
        <p:nvSpPr>
          <p:cNvPr id="8" name="Text 6"/>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vi-VN" sz="2400" b="1">
                <a:solidFill>
                  <a:srgbClr val="1F2328"/>
                </a:solidFill>
                <a:latin typeface="Arial" pitchFamily="34" charset="0"/>
                <a:ea typeface="Arial" pitchFamily="34" charset="-122"/>
                <a:cs typeface="Arial" pitchFamily="34" charset="-120"/>
              </a:rPr>
              <a:t>Bảng KhachHang_Nhom5 (Danh mục tài khoản người dùng)</a:t>
            </a:r>
            <a:endParaRPr lang="en-US" sz="2400" dirty="0"/>
          </a:p>
        </p:txBody>
      </p:sp>
      <p:sp>
        <p:nvSpPr>
          <p:cNvPr id="9" name="Shape 7"/>
          <p:cNvSpPr/>
          <p:nvPr/>
        </p:nvSpPr>
        <p:spPr>
          <a:xfrm>
            <a:off x="502920" y="1069792"/>
            <a:ext cx="1188720" cy="0"/>
          </a:xfrm>
          <a:prstGeom prst="line">
            <a:avLst/>
          </a:prstGeom>
          <a:noFill/>
          <a:ln w="27940">
            <a:solidFill>
              <a:srgbClr val="B50915"/>
            </a:solidFill>
            <a:prstDash val="solid"/>
          </a:ln>
        </p:spPr>
        <p:txBody>
          <a:bodyPr/>
          <a:lstStyle/>
          <a:p>
            <a:endParaRPr lang="vi-VN"/>
          </a:p>
        </p:txBody>
      </p:sp>
      <p:sp>
        <p:nvSpPr>
          <p:cNvPr id="10" name="Text 8"/>
          <p:cNvSpPr/>
          <p:nvPr/>
        </p:nvSpPr>
        <p:spPr>
          <a:xfrm>
            <a:off x="688848" y="1977507"/>
            <a:ext cx="3148365" cy="620486"/>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vi-VN" sz="1600" b="1">
                <a:solidFill>
                  <a:srgbClr val="FFFFFF"/>
                </a:solidFill>
                <a:latin typeface="Arial" pitchFamily="34" charset="0"/>
                <a:ea typeface="Arial" pitchFamily="34" charset="-122"/>
                <a:cs typeface="Arial" pitchFamily="34" charset="-120"/>
              </a:rPr>
              <a:t>Tên trường (Column Name)</a:t>
            </a:r>
            <a:endParaRPr lang="en-US" sz="1600" dirty="0"/>
          </a:p>
        </p:txBody>
      </p:sp>
      <p:sp>
        <p:nvSpPr>
          <p:cNvPr id="11" name="Text 9"/>
          <p:cNvSpPr/>
          <p:nvPr/>
        </p:nvSpPr>
        <p:spPr>
          <a:xfrm>
            <a:off x="3837213" y="1977507"/>
            <a:ext cx="1823357" cy="620486"/>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en-US" sz="1600" b="1">
                <a:solidFill>
                  <a:srgbClr val="FFFFFF"/>
                </a:solidFill>
                <a:latin typeface="Arial" pitchFamily="34" charset="0"/>
                <a:ea typeface="Arial" pitchFamily="34" charset="-122"/>
                <a:cs typeface="Arial" pitchFamily="34" charset="-120"/>
              </a:rPr>
              <a:t>Kiểu dữ liệu</a:t>
            </a:r>
            <a:endParaRPr lang="en-US" sz="1600" dirty="0"/>
          </a:p>
        </p:txBody>
      </p:sp>
      <p:sp>
        <p:nvSpPr>
          <p:cNvPr id="12" name="Text 10"/>
          <p:cNvSpPr/>
          <p:nvPr/>
        </p:nvSpPr>
        <p:spPr>
          <a:xfrm>
            <a:off x="5660571" y="1977507"/>
            <a:ext cx="2884714" cy="620486"/>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en-US" sz="1600" b="1">
                <a:solidFill>
                  <a:srgbClr val="FFFFFF"/>
                </a:solidFill>
                <a:latin typeface="Arial" pitchFamily="34" charset="0"/>
                <a:ea typeface="Arial" pitchFamily="34" charset="-122"/>
                <a:cs typeface="Arial" pitchFamily="34" charset="-120"/>
              </a:rPr>
              <a:t>Ràng buộc (Constraints)</a:t>
            </a:r>
            <a:endParaRPr lang="en-US" sz="1600" dirty="0"/>
          </a:p>
        </p:txBody>
      </p:sp>
      <p:sp>
        <p:nvSpPr>
          <p:cNvPr id="31" name="Shape 29"/>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32" name="Text 30"/>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33" name="Text 31"/>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34</a:t>
            </a:r>
            <a:endParaRPr lang="en-US" sz="1000" dirty="0"/>
          </a:p>
        </p:txBody>
      </p:sp>
      <p:sp>
        <p:nvSpPr>
          <p:cNvPr id="34" name="Text 5">
            <a:extLst>
              <a:ext uri="{FF2B5EF4-FFF2-40B4-BE49-F238E27FC236}">
                <a16:creationId xmlns:a16="http://schemas.microsoft.com/office/drawing/2014/main" id="{196E097D-13F6-740C-34B7-48D116790F5F}"/>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III: THIẾT KẾ HỆ THỐNG</a:t>
            </a:r>
          </a:p>
          <a:p>
            <a:pPr marL="0" indent="0">
              <a:buNone/>
            </a:pPr>
            <a:r>
              <a:rPr lang="vi-VN" sz="1200" b="1">
                <a:solidFill>
                  <a:srgbClr val="B50915"/>
                </a:solidFill>
                <a:latin typeface="Arial" pitchFamily="34" charset="0"/>
                <a:cs typeface="Arial" pitchFamily="34" charset="-120"/>
              </a:rPr>
              <a:t>3.2  Thiết kế cơ sở dữ liệu</a:t>
            </a:r>
            <a:endParaRPr lang="en-US" sz="1200" dirty="0"/>
          </a:p>
        </p:txBody>
      </p:sp>
      <p:sp>
        <p:nvSpPr>
          <p:cNvPr id="35" name="Text 10">
            <a:extLst>
              <a:ext uri="{FF2B5EF4-FFF2-40B4-BE49-F238E27FC236}">
                <a16:creationId xmlns:a16="http://schemas.microsoft.com/office/drawing/2014/main" id="{F64B8E14-92A8-4F56-8E25-C784944C7B57}"/>
              </a:ext>
            </a:extLst>
          </p:cNvPr>
          <p:cNvSpPr/>
          <p:nvPr/>
        </p:nvSpPr>
        <p:spPr>
          <a:xfrm>
            <a:off x="8545286" y="1977507"/>
            <a:ext cx="2612572" cy="620486"/>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en-US" sz="1600" b="1">
                <a:solidFill>
                  <a:srgbClr val="FFFFFF"/>
                </a:solidFill>
                <a:latin typeface="Arial" pitchFamily="34" charset="0"/>
                <a:ea typeface="Arial" pitchFamily="34" charset="-122"/>
                <a:cs typeface="Arial" pitchFamily="34" charset="-120"/>
              </a:rPr>
              <a:t>Mô tả (Description)</a:t>
            </a:r>
            <a:endParaRPr lang="en-US" sz="1600" dirty="0"/>
          </a:p>
        </p:txBody>
      </p:sp>
      <p:graphicFrame>
        <p:nvGraphicFramePr>
          <p:cNvPr id="37" name="Bảng 36">
            <a:extLst>
              <a:ext uri="{FF2B5EF4-FFF2-40B4-BE49-F238E27FC236}">
                <a16:creationId xmlns:a16="http://schemas.microsoft.com/office/drawing/2014/main" id="{6A0D8E0A-A674-FAAC-1C66-27E494DFCD77}"/>
              </a:ext>
            </a:extLst>
          </p:cNvPr>
          <p:cNvGraphicFramePr>
            <a:graphicFrameLocks noGrp="1"/>
          </p:cNvGraphicFramePr>
          <p:nvPr>
            <p:extLst>
              <p:ext uri="{D42A27DB-BD31-4B8C-83A1-F6EECF244321}">
                <p14:modId xmlns:p14="http://schemas.microsoft.com/office/powerpoint/2010/main" val="237961075"/>
              </p:ext>
            </p:extLst>
          </p:nvPr>
        </p:nvGraphicFramePr>
        <p:xfrm>
          <a:off x="688848" y="2607136"/>
          <a:ext cx="10469010" cy="3599675"/>
        </p:xfrm>
        <a:graphic>
          <a:graphicData uri="http://schemas.openxmlformats.org/drawingml/2006/table">
            <a:tbl>
              <a:tblPr/>
              <a:tblGrid>
                <a:gridCol w="3147420">
                  <a:extLst>
                    <a:ext uri="{9D8B030D-6E8A-4147-A177-3AD203B41FA5}">
                      <a16:colId xmlns:a16="http://schemas.microsoft.com/office/drawing/2014/main" val="3158385901"/>
                    </a:ext>
                  </a:extLst>
                </a:gridCol>
                <a:gridCol w="1835995">
                  <a:extLst>
                    <a:ext uri="{9D8B030D-6E8A-4147-A177-3AD203B41FA5}">
                      <a16:colId xmlns:a16="http://schemas.microsoft.com/office/drawing/2014/main" val="4171092970"/>
                    </a:ext>
                  </a:extLst>
                </a:gridCol>
                <a:gridCol w="2865943">
                  <a:extLst>
                    <a:ext uri="{9D8B030D-6E8A-4147-A177-3AD203B41FA5}">
                      <a16:colId xmlns:a16="http://schemas.microsoft.com/office/drawing/2014/main" val="4131741673"/>
                    </a:ext>
                  </a:extLst>
                </a:gridCol>
                <a:gridCol w="2619652">
                  <a:extLst>
                    <a:ext uri="{9D8B030D-6E8A-4147-A177-3AD203B41FA5}">
                      <a16:colId xmlns:a16="http://schemas.microsoft.com/office/drawing/2014/main" val="2659533647"/>
                    </a:ext>
                  </a:extLst>
                </a:gridCol>
              </a:tblGrid>
              <a:tr h="636066">
                <a:tc>
                  <a:txBody>
                    <a:bodyPr/>
                    <a:lstStyle/>
                    <a:p>
                      <a:pPr>
                        <a:lnSpc>
                          <a:spcPct val="105000"/>
                        </a:lnSpc>
                        <a:spcAft>
                          <a:spcPts val="800"/>
                        </a:spcAft>
                      </a:pPr>
                      <a:r>
                        <a:rPr lang="vi-VN" sz="14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MaKH_Nhom5</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VARCHAR(10)</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PK, NOT NULL</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Mã định danh duy nhất của khách hàng.</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768050493"/>
                  </a:ext>
                </a:extLst>
              </a:tr>
              <a:tr h="365740">
                <a:tc>
                  <a:txBody>
                    <a:bodyPr/>
                    <a:lstStyle/>
                    <a:p>
                      <a:pPr>
                        <a:lnSpc>
                          <a:spcPct val="105000"/>
                        </a:lnSpc>
                        <a:spcAft>
                          <a:spcPts val="800"/>
                        </a:spcAft>
                      </a:pPr>
                      <a:r>
                        <a:rPr lang="vi-VN" sz="14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TenKH_Nhom5</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NVARCHAR(50)</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NOT NULL</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Họ và tên khách hàng.</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975651257"/>
                  </a:ext>
                </a:extLst>
              </a:tr>
              <a:tr h="636066">
                <a:tc>
                  <a:txBody>
                    <a:bodyPr/>
                    <a:lstStyle/>
                    <a:p>
                      <a:pPr>
                        <a:lnSpc>
                          <a:spcPct val="105000"/>
                        </a:lnSpc>
                        <a:spcAft>
                          <a:spcPts val="800"/>
                        </a:spcAft>
                      </a:pPr>
                      <a:r>
                        <a:rPr lang="vi-VN" sz="14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SoDienThoai_Nhom5</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VARCHAR(15)</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NOT NULL, UNIQUE</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SĐT di động (tên đăng nhập định danh).</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548613540"/>
                  </a:ext>
                </a:extLst>
              </a:tr>
              <a:tr h="365740">
                <a:tc>
                  <a:txBody>
                    <a:bodyPr/>
                    <a:lstStyle/>
                    <a:p>
                      <a:pPr>
                        <a:lnSpc>
                          <a:spcPct val="105000"/>
                        </a:lnSpc>
                        <a:spcAft>
                          <a:spcPts val="800"/>
                        </a:spcAft>
                      </a:pPr>
                      <a:r>
                        <a:rPr lang="vi-VN" sz="14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Email_Nhom5</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VARCHAR(50)</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NULL</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Địa chỉ email cá nhân.</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295998462"/>
                  </a:ext>
                </a:extLst>
              </a:tr>
              <a:tr h="636066">
                <a:tc>
                  <a:txBody>
                    <a:bodyPr/>
                    <a:lstStyle/>
                    <a:p>
                      <a:pPr>
                        <a:lnSpc>
                          <a:spcPct val="105000"/>
                        </a:lnSpc>
                        <a:spcAft>
                          <a:spcPts val="800"/>
                        </a:spcAft>
                      </a:pPr>
                      <a:r>
                        <a:rPr lang="vi-VN" sz="14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MatKhau_Nhom5</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VARCHAR(255)</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NOT NULL</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Mật khẩu đã băm (hash) an toàn.</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246340580"/>
                  </a:ext>
                </a:extLst>
              </a:tr>
              <a:tr h="959997">
                <a:tc>
                  <a:txBody>
                    <a:bodyPr/>
                    <a:lstStyle/>
                    <a:p>
                      <a:pPr>
                        <a:lnSpc>
                          <a:spcPct val="105000"/>
                        </a:lnSpc>
                        <a:spcAft>
                          <a:spcPts val="800"/>
                        </a:spcAft>
                      </a:pPr>
                      <a:r>
                        <a:rPr lang="vi-VN" sz="14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LoaiTaiKhoan_Nhom5</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NVARCHAR(20)</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15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NOT NULL,</a:t>
                      </a:r>
                      <a:endParaRPr lang="vi-VN" sz="14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CHECK </a:t>
                      </a:r>
                      <a:r>
                        <a:rPr lang="vi-VN" sz="1400">
                          <a:solidFill>
                            <a:srgbClr val="000000"/>
                          </a:solidFill>
                          <a:effectLst/>
                          <a:latin typeface="Cambria Math" panose="02040503050406030204" pitchFamily="18" charset="0"/>
                          <a:ea typeface="Consolas" panose="020B0609020204030204" pitchFamily="49" charset="0"/>
                          <a:cs typeface="Cambria Math" panose="02040503050406030204" pitchFamily="18" charset="0"/>
                        </a:rPr>
                        <a:t>∈</a:t>
                      </a: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 {Cư dân, Bưu tá, Admin}</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Vai trò tài khoản (đã bổ sung Admin).</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809655363"/>
                  </a:ext>
                </a:extLst>
              </a:tr>
            </a:tbl>
          </a:graphicData>
        </a:graphic>
      </p:graphicFrame>
      <p:sp>
        <p:nvSpPr>
          <p:cNvPr id="38" name="Text 18">
            <a:extLst>
              <a:ext uri="{FF2B5EF4-FFF2-40B4-BE49-F238E27FC236}">
                <a16:creationId xmlns:a16="http://schemas.microsoft.com/office/drawing/2014/main" id="{14F9F7DB-10CC-F8E6-8EB6-AC3AC35355EB}"/>
              </a:ext>
            </a:extLst>
          </p:cNvPr>
          <p:cNvSpPr/>
          <p:nvPr/>
        </p:nvSpPr>
        <p:spPr>
          <a:xfrm>
            <a:off x="640080" y="1328761"/>
            <a:ext cx="4069515" cy="457200"/>
          </a:xfrm>
          <a:prstGeom prst="rect">
            <a:avLst/>
          </a:prstGeom>
          <a:noFill/>
          <a:ln/>
        </p:spPr>
        <p:txBody>
          <a:bodyPr wrap="square" lIns="762" tIns="762" rIns="762" bIns="762" rtlCol="0" anchor="t">
            <a:noAutofit/>
          </a:bodyPr>
          <a:lstStyle/>
          <a:p>
            <a:pPr>
              <a:lnSpc>
                <a:spcPct val="115000"/>
              </a:lnSpc>
              <a:spcAft>
                <a:spcPts val="600"/>
              </a:spcAft>
            </a:pPr>
            <a:r>
              <a:rPr lang="vi-VN" sz="20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Khóa chính (PK): </a:t>
            </a:r>
            <a:r>
              <a:rPr lang="vi-VN" sz="2000">
                <a:solidFill>
                  <a:srgbClr val="000000"/>
                </a:solidFill>
                <a:effectLst/>
                <a:latin typeface="Consolas" panose="020B0609020204030204" pitchFamily="49" charset="0"/>
                <a:ea typeface="Consolas" panose="020B0609020204030204" pitchFamily="49" charset="0"/>
                <a:cs typeface="Consolas" panose="020B0609020204030204" pitchFamily="49" charset="0"/>
              </a:rPr>
              <a:t>MaKH_Nhom5</a:t>
            </a:r>
            <a:endParaRPr lang="vi-VN" sz="2000">
              <a:effectLst/>
              <a:latin typeface="Arial" panose="020B0604020202020204" pitchFamily="34" charset="0"/>
              <a:ea typeface="Arial" panose="020B0604020202020204" pitchFamily="34" charset="0"/>
              <a:cs typeface="Arial" panose="020B0604020202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a:extLst>
            <a:ext uri="{FF2B5EF4-FFF2-40B4-BE49-F238E27FC236}">
              <a16:creationId xmlns:a16="http://schemas.microsoft.com/office/drawing/2014/main" id="{BFBB67C3-E657-3F64-EEE3-1FAF04E94722}"/>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977C236D-24DD-40A2-3905-7C9430A6821E}"/>
              </a:ext>
            </a:extLst>
          </p:cNvPr>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a:extLst>
              <a:ext uri="{FF2B5EF4-FFF2-40B4-BE49-F238E27FC236}">
                <a16:creationId xmlns:a16="http://schemas.microsoft.com/office/drawing/2014/main" id="{D3C5C5FA-C77C-733E-7B30-E8C3A4D29C68}"/>
              </a:ext>
            </a:extLst>
          </p:cNvPr>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a:extLst>
              <a:ext uri="{FF2B5EF4-FFF2-40B4-BE49-F238E27FC236}">
                <a16:creationId xmlns:a16="http://schemas.microsoft.com/office/drawing/2014/main" id="{D2E56E2B-801F-4547-2DBD-194648752AEA}"/>
              </a:ext>
            </a:extLst>
          </p:cNvPr>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a:extLst>
              <a:ext uri="{FF2B5EF4-FFF2-40B4-BE49-F238E27FC236}">
                <a16:creationId xmlns:a16="http://schemas.microsoft.com/office/drawing/2014/main" id="{65CBF172-AB64-D201-1C26-DD622B2130E6}"/>
              </a:ext>
            </a:extLst>
          </p:cNvPr>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III</a:t>
            </a:r>
            <a:endParaRPr lang="en-US" sz="750" dirty="0"/>
          </a:p>
        </p:txBody>
      </p:sp>
      <p:sp>
        <p:nvSpPr>
          <p:cNvPr id="8" name="Text 6">
            <a:extLst>
              <a:ext uri="{FF2B5EF4-FFF2-40B4-BE49-F238E27FC236}">
                <a16:creationId xmlns:a16="http://schemas.microsoft.com/office/drawing/2014/main" id="{DD5434D5-3D57-516F-9E7C-B85B27BE4D0E}"/>
              </a:ext>
            </a:extLst>
          </p:cNvPr>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vi-VN" sz="2400" b="1">
                <a:solidFill>
                  <a:srgbClr val="1F2328"/>
                </a:solidFill>
                <a:latin typeface="Arial" pitchFamily="34" charset="0"/>
                <a:ea typeface="Arial" pitchFamily="34" charset="-122"/>
                <a:cs typeface="Arial" pitchFamily="34" charset="-120"/>
              </a:rPr>
              <a:t>Bảng TramTu_Nhom5 (Hạ tầng các trạm tủ lắp sảnh)</a:t>
            </a:r>
            <a:endParaRPr lang="en-US" sz="2400" dirty="0"/>
          </a:p>
        </p:txBody>
      </p:sp>
      <p:sp>
        <p:nvSpPr>
          <p:cNvPr id="9" name="Shape 7">
            <a:extLst>
              <a:ext uri="{FF2B5EF4-FFF2-40B4-BE49-F238E27FC236}">
                <a16:creationId xmlns:a16="http://schemas.microsoft.com/office/drawing/2014/main" id="{064BB862-D3A1-45F8-2958-03E9AD3C9AA6}"/>
              </a:ext>
            </a:extLst>
          </p:cNvPr>
          <p:cNvSpPr/>
          <p:nvPr/>
        </p:nvSpPr>
        <p:spPr>
          <a:xfrm>
            <a:off x="502920" y="1063967"/>
            <a:ext cx="1188720" cy="0"/>
          </a:xfrm>
          <a:prstGeom prst="line">
            <a:avLst/>
          </a:prstGeom>
          <a:noFill/>
          <a:ln w="27940">
            <a:solidFill>
              <a:srgbClr val="B50915"/>
            </a:solidFill>
            <a:prstDash val="solid"/>
          </a:ln>
        </p:spPr>
        <p:txBody>
          <a:bodyPr/>
          <a:lstStyle/>
          <a:p>
            <a:endParaRPr lang="vi-VN"/>
          </a:p>
        </p:txBody>
      </p:sp>
      <p:sp>
        <p:nvSpPr>
          <p:cNvPr id="10" name="Text 8">
            <a:extLst>
              <a:ext uri="{FF2B5EF4-FFF2-40B4-BE49-F238E27FC236}">
                <a16:creationId xmlns:a16="http://schemas.microsoft.com/office/drawing/2014/main" id="{7FC162CD-7829-B5FE-EB45-5F503EDEB7EA}"/>
              </a:ext>
            </a:extLst>
          </p:cNvPr>
          <p:cNvSpPr/>
          <p:nvPr/>
        </p:nvSpPr>
        <p:spPr>
          <a:xfrm>
            <a:off x="688848" y="2321133"/>
            <a:ext cx="3148365" cy="620486"/>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vi-VN" sz="1600" b="1">
                <a:solidFill>
                  <a:srgbClr val="FFFFFF"/>
                </a:solidFill>
                <a:latin typeface="Arial" pitchFamily="34" charset="0"/>
                <a:ea typeface="Arial" pitchFamily="34" charset="-122"/>
                <a:cs typeface="Arial" pitchFamily="34" charset="-120"/>
              </a:rPr>
              <a:t>Tên trường (Column Name)</a:t>
            </a:r>
            <a:endParaRPr lang="en-US" sz="1600" dirty="0"/>
          </a:p>
        </p:txBody>
      </p:sp>
      <p:sp>
        <p:nvSpPr>
          <p:cNvPr id="11" name="Text 9">
            <a:extLst>
              <a:ext uri="{FF2B5EF4-FFF2-40B4-BE49-F238E27FC236}">
                <a16:creationId xmlns:a16="http://schemas.microsoft.com/office/drawing/2014/main" id="{E3F99786-9232-16FF-665B-7CC459EAC610}"/>
              </a:ext>
            </a:extLst>
          </p:cNvPr>
          <p:cNvSpPr/>
          <p:nvPr/>
        </p:nvSpPr>
        <p:spPr>
          <a:xfrm>
            <a:off x="3837213" y="2321133"/>
            <a:ext cx="1823357" cy="620486"/>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en-US" sz="1600" b="1">
                <a:solidFill>
                  <a:srgbClr val="FFFFFF"/>
                </a:solidFill>
                <a:latin typeface="Arial" pitchFamily="34" charset="0"/>
                <a:ea typeface="Arial" pitchFamily="34" charset="-122"/>
                <a:cs typeface="Arial" pitchFamily="34" charset="-120"/>
              </a:rPr>
              <a:t>Kiểu dữ liệu</a:t>
            </a:r>
            <a:endParaRPr lang="en-US" sz="1600" dirty="0"/>
          </a:p>
        </p:txBody>
      </p:sp>
      <p:sp>
        <p:nvSpPr>
          <p:cNvPr id="12" name="Text 10">
            <a:extLst>
              <a:ext uri="{FF2B5EF4-FFF2-40B4-BE49-F238E27FC236}">
                <a16:creationId xmlns:a16="http://schemas.microsoft.com/office/drawing/2014/main" id="{3B88B097-02C7-01CB-6740-5C286C89BE3C}"/>
              </a:ext>
            </a:extLst>
          </p:cNvPr>
          <p:cNvSpPr/>
          <p:nvPr/>
        </p:nvSpPr>
        <p:spPr>
          <a:xfrm>
            <a:off x="5660571" y="2321133"/>
            <a:ext cx="2884714" cy="620486"/>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en-US" sz="1600" b="1">
                <a:solidFill>
                  <a:srgbClr val="FFFFFF"/>
                </a:solidFill>
                <a:latin typeface="Arial" pitchFamily="34" charset="0"/>
                <a:ea typeface="Arial" pitchFamily="34" charset="-122"/>
                <a:cs typeface="Arial" pitchFamily="34" charset="-120"/>
              </a:rPr>
              <a:t>Ràng buộc (Constraints)</a:t>
            </a:r>
            <a:endParaRPr lang="en-US" sz="1600" dirty="0"/>
          </a:p>
        </p:txBody>
      </p:sp>
      <p:sp>
        <p:nvSpPr>
          <p:cNvPr id="31" name="Shape 29">
            <a:extLst>
              <a:ext uri="{FF2B5EF4-FFF2-40B4-BE49-F238E27FC236}">
                <a16:creationId xmlns:a16="http://schemas.microsoft.com/office/drawing/2014/main" id="{F1FE08F4-8DC3-D06C-E973-48376B2EF142}"/>
              </a:ext>
            </a:extLst>
          </p:cNvPr>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32" name="Text 30">
            <a:extLst>
              <a:ext uri="{FF2B5EF4-FFF2-40B4-BE49-F238E27FC236}">
                <a16:creationId xmlns:a16="http://schemas.microsoft.com/office/drawing/2014/main" id="{8835A295-31DE-D901-DE57-E65EBE1DACD4}"/>
              </a:ext>
            </a:extLst>
          </p:cNvPr>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33" name="Text 31">
            <a:extLst>
              <a:ext uri="{FF2B5EF4-FFF2-40B4-BE49-F238E27FC236}">
                <a16:creationId xmlns:a16="http://schemas.microsoft.com/office/drawing/2014/main" id="{904E8C33-EC1C-C06D-E2C2-9A02F0383FED}"/>
              </a:ext>
            </a:extLst>
          </p:cNvPr>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34</a:t>
            </a:r>
            <a:endParaRPr lang="en-US" sz="1000" dirty="0"/>
          </a:p>
        </p:txBody>
      </p:sp>
      <p:sp>
        <p:nvSpPr>
          <p:cNvPr id="34" name="Text 5">
            <a:extLst>
              <a:ext uri="{FF2B5EF4-FFF2-40B4-BE49-F238E27FC236}">
                <a16:creationId xmlns:a16="http://schemas.microsoft.com/office/drawing/2014/main" id="{0A438BCE-5D4F-BF9D-02A3-FDF9A50D944B}"/>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III: THIẾT KẾ HỆ THỐNG</a:t>
            </a:r>
          </a:p>
          <a:p>
            <a:pPr marL="0" indent="0">
              <a:buNone/>
            </a:pPr>
            <a:r>
              <a:rPr lang="vi-VN" sz="1200" b="1">
                <a:solidFill>
                  <a:srgbClr val="B50915"/>
                </a:solidFill>
                <a:latin typeface="Arial" pitchFamily="34" charset="0"/>
                <a:cs typeface="Arial" pitchFamily="34" charset="-120"/>
              </a:rPr>
              <a:t>3.2  Thiết kế cơ sở dữ liệu</a:t>
            </a:r>
            <a:endParaRPr lang="en-US" sz="1200" dirty="0"/>
          </a:p>
        </p:txBody>
      </p:sp>
      <p:sp>
        <p:nvSpPr>
          <p:cNvPr id="35" name="Text 10">
            <a:extLst>
              <a:ext uri="{FF2B5EF4-FFF2-40B4-BE49-F238E27FC236}">
                <a16:creationId xmlns:a16="http://schemas.microsoft.com/office/drawing/2014/main" id="{D3AD9C61-7B56-38B9-0884-500398779D69}"/>
              </a:ext>
            </a:extLst>
          </p:cNvPr>
          <p:cNvSpPr/>
          <p:nvPr/>
        </p:nvSpPr>
        <p:spPr>
          <a:xfrm>
            <a:off x="8545286" y="2321133"/>
            <a:ext cx="2612572" cy="620486"/>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en-US" sz="1600" b="1">
                <a:solidFill>
                  <a:srgbClr val="FFFFFF"/>
                </a:solidFill>
                <a:latin typeface="Arial" pitchFamily="34" charset="0"/>
                <a:ea typeface="Arial" pitchFamily="34" charset="-122"/>
                <a:cs typeface="Arial" pitchFamily="34" charset="-120"/>
              </a:rPr>
              <a:t>Mô tả (Description)</a:t>
            </a:r>
            <a:endParaRPr lang="en-US" sz="1600" dirty="0"/>
          </a:p>
        </p:txBody>
      </p:sp>
      <p:sp>
        <p:nvSpPr>
          <p:cNvPr id="38" name="Text 18">
            <a:extLst>
              <a:ext uri="{FF2B5EF4-FFF2-40B4-BE49-F238E27FC236}">
                <a16:creationId xmlns:a16="http://schemas.microsoft.com/office/drawing/2014/main" id="{58B1D735-B1AB-E5A9-A680-A4F0D73FD005}"/>
              </a:ext>
            </a:extLst>
          </p:cNvPr>
          <p:cNvSpPr/>
          <p:nvPr/>
        </p:nvSpPr>
        <p:spPr>
          <a:xfrm>
            <a:off x="640080" y="1346233"/>
            <a:ext cx="4069515" cy="457200"/>
          </a:xfrm>
          <a:prstGeom prst="rect">
            <a:avLst/>
          </a:prstGeom>
          <a:noFill/>
          <a:ln/>
        </p:spPr>
        <p:txBody>
          <a:bodyPr wrap="square" lIns="762" tIns="762" rIns="762" bIns="762" rtlCol="0" anchor="t">
            <a:noAutofit/>
          </a:bodyPr>
          <a:lstStyle/>
          <a:p>
            <a:pPr>
              <a:lnSpc>
                <a:spcPct val="115000"/>
              </a:lnSpc>
              <a:spcAft>
                <a:spcPts val="600"/>
              </a:spcAft>
            </a:pPr>
            <a:r>
              <a:rPr lang="vi-VN" sz="20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Khóa chính (PK): </a:t>
            </a:r>
            <a:r>
              <a:rPr lang="vi-VN">
                <a:solidFill>
                  <a:srgbClr val="000000"/>
                </a:solidFill>
                <a:effectLst/>
                <a:latin typeface="Consolas" panose="020B0609020204030204" pitchFamily="49" charset="0"/>
                <a:ea typeface="Consolas" panose="020B0609020204030204" pitchFamily="49" charset="0"/>
                <a:cs typeface="Consolas" panose="020B0609020204030204" pitchFamily="49" charset="0"/>
              </a:rPr>
              <a:t>MaTram_Nhom5</a:t>
            </a:r>
            <a:endParaRPr lang="vi-VN">
              <a:effectLst/>
              <a:latin typeface="Arial" panose="020B0604020202020204" pitchFamily="34" charset="0"/>
              <a:ea typeface="Arial" panose="020B0604020202020204" pitchFamily="34" charset="0"/>
              <a:cs typeface="Arial" panose="020B0604020202020204" pitchFamily="34" charset="0"/>
            </a:endParaRPr>
          </a:p>
        </p:txBody>
      </p:sp>
      <p:graphicFrame>
        <p:nvGraphicFramePr>
          <p:cNvPr id="2" name="Bảng 1">
            <a:extLst>
              <a:ext uri="{FF2B5EF4-FFF2-40B4-BE49-F238E27FC236}">
                <a16:creationId xmlns:a16="http://schemas.microsoft.com/office/drawing/2014/main" id="{AC637CC5-C644-E84B-8FC2-B2668F6CF940}"/>
              </a:ext>
            </a:extLst>
          </p:cNvPr>
          <p:cNvGraphicFramePr>
            <a:graphicFrameLocks noGrp="1"/>
          </p:cNvGraphicFramePr>
          <p:nvPr>
            <p:extLst>
              <p:ext uri="{D42A27DB-BD31-4B8C-83A1-F6EECF244321}">
                <p14:modId xmlns:p14="http://schemas.microsoft.com/office/powerpoint/2010/main" val="607396584"/>
              </p:ext>
            </p:extLst>
          </p:nvPr>
        </p:nvGraphicFramePr>
        <p:xfrm>
          <a:off x="688848" y="2945355"/>
          <a:ext cx="10469011" cy="2703529"/>
        </p:xfrm>
        <a:graphic>
          <a:graphicData uri="http://schemas.openxmlformats.org/drawingml/2006/table">
            <a:tbl>
              <a:tblPr/>
              <a:tblGrid>
                <a:gridCol w="3154125">
                  <a:extLst>
                    <a:ext uri="{9D8B030D-6E8A-4147-A177-3AD203B41FA5}">
                      <a16:colId xmlns:a16="http://schemas.microsoft.com/office/drawing/2014/main" val="1014973091"/>
                    </a:ext>
                  </a:extLst>
                </a:gridCol>
                <a:gridCol w="1834314">
                  <a:extLst>
                    <a:ext uri="{9D8B030D-6E8A-4147-A177-3AD203B41FA5}">
                      <a16:colId xmlns:a16="http://schemas.microsoft.com/office/drawing/2014/main" val="2610195310"/>
                    </a:ext>
                  </a:extLst>
                </a:gridCol>
                <a:gridCol w="2863319">
                  <a:extLst>
                    <a:ext uri="{9D8B030D-6E8A-4147-A177-3AD203B41FA5}">
                      <a16:colId xmlns:a16="http://schemas.microsoft.com/office/drawing/2014/main" val="2104530365"/>
                    </a:ext>
                  </a:extLst>
                </a:gridCol>
                <a:gridCol w="2617253">
                  <a:extLst>
                    <a:ext uri="{9D8B030D-6E8A-4147-A177-3AD203B41FA5}">
                      <a16:colId xmlns:a16="http://schemas.microsoft.com/office/drawing/2014/main" val="1197814018"/>
                    </a:ext>
                  </a:extLst>
                </a:gridCol>
              </a:tblGrid>
              <a:tr h="547230">
                <a:tc>
                  <a:txBody>
                    <a:bodyPr/>
                    <a:lstStyle/>
                    <a:p>
                      <a:pPr>
                        <a:lnSpc>
                          <a:spcPct val="105000"/>
                        </a:lnSpc>
                        <a:spcAft>
                          <a:spcPts val="800"/>
                        </a:spcAft>
                      </a:pPr>
                      <a:r>
                        <a:rPr lang="vi-VN" sz="14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MaTram_Nhom5</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VARCHAR(10)</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PK, NOT NULL</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Mã định danh duy nhất của cụm trạm tủ.</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522681659"/>
                  </a:ext>
                </a:extLst>
              </a:tr>
              <a:tr h="547230">
                <a:tc>
                  <a:txBody>
                    <a:bodyPr/>
                    <a:lstStyle/>
                    <a:p>
                      <a:pPr>
                        <a:lnSpc>
                          <a:spcPct val="105000"/>
                        </a:lnSpc>
                        <a:spcAft>
                          <a:spcPts val="800"/>
                        </a:spcAft>
                      </a:pPr>
                      <a:r>
                        <a:rPr lang="vi-VN" sz="14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TenTram_Nhom5</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NVARCHAR(50)</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NOT NULL</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Tên gọi phân biệt trạm tủ tại sảnh tòa nhà.</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974300254"/>
                  </a:ext>
                </a:extLst>
              </a:tr>
              <a:tr h="547230">
                <a:tc>
                  <a:txBody>
                    <a:bodyPr/>
                    <a:lstStyle/>
                    <a:p>
                      <a:pPr>
                        <a:lnSpc>
                          <a:spcPct val="105000"/>
                        </a:lnSpc>
                        <a:spcAft>
                          <a:spcPts val="800"/>
                        </a:spcAft>
                      </a:pPr>
                      <a:r>
                        <a:rPr lang="vi-VN" sz="14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DiaChi_Nhom5</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NVARCHAR(100)</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NOT NULL</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Vị trí lắp đặt chi tiết trong khu đô thị.</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486341750"/>
                  </a:ext>
                </a:extLst>
              </a:tr>
              <a:tr h="1061839">
                <a:tc>
                  <a:txBody>
                    <a:bodyPr/>
                    <a:lstStyle/>
                    <a:p>
                      <a:pPr>
                        <a:lnSpc>
                          <a:spcPct val="105000"/>
                        </a:lnSpc>
                        <a:spcAft>
                          <a:spcPts val="800"/>
                        </a:spcAft>
                      </a:pPr>
                      <a:r>
                        <a:rPr lang="vi-VN" sz="14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TrangThaiTram_Nhom5</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NVARCHAR(20)</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15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NOT NULL,</a:t>
                      </a:r>
                      <a:endParaRPr lang="vi-VN" sz="14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CHECK </a:t>
                      </a:r>
                      <a:r>
                        <a:rPr lang="vi-VN" sz="1400">
                          <a:solidFill>
                            <a:srgbClr val="000000"/>
                          </a:solidFill>
                          <a:effectLst/>
                          <a:latin typeface="Cambria Math" panose="02040503050406030204" pitchFamily="18" charset="0"/>
                          <a:ea typeface="Consolas" panose="020B0609020204030204" pitchFamily="49" charset="0"/>
                          <a:cs typeface="Cambria Math" panose="02040503050406030204" pitchFamily="18" charset="0"/>
                        </a:rPr>
                        <a:t>∈</a:t>
                      </a: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 {Hoạt động, Bảo trì, Dừng hoạt động}</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Trạng thái kỹ thuật vận hành của trạm.</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004435817"/>
                  </a:ext>
                </a:extLst>
              </a:tr>
            </a:tbl>
          </a:graphicData>
        </a:graphic>
      </p:graphicFrame>
    </p:spTree>
    <p:extLst>
      <p:ext uri="{BB962C8B-B14F-4D97-AF65-F5344CB8AC3E}">
        <p14:creationId xmlns:p14="http://schemas.microsoft.com/office/powerpoint/2010/main" val="17518938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a:extLst>
            <a:ext uri="{FF2B5EF4-FFF2-40B4-BE49-F238E27FC236}">
              <a16:creationId xmlns:a16="http://schemas.microsoft.com/office/drawing/2014/main" id="{210E7F8A-D726-E905-DBA8-38AD312BCAFD}"/>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4590BAD6-6214-F221-3CA0-5C66E94950EB}"/>
              </a:ext>
            </a:extLst>
          </p:cNvPr>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a:extLst>
              <a:ext uri="{FF2B5EF4-FFF2-40B4-BE49-F238E27FC236}">
                <a16:creationId xmlns:a16="http://schemas.microsoft.com/office/drawing/2014/main" id="{45AF17DC-8985-93DB-6C76-5F89F20C529D}"/>
              </a:ext>
            </a:extLst>
          </p:cNvPr>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a:extLst>
              <a:ext uri="{FF2B5EF4-FFF2-40B4-BE49-F238E27FC236}">
                <a16:creationId xmlns:a16="http://schemas.microsoft.com/office/drawing/2014/main" id="{E4C2034C-9F0E-0130-512D-6886E59D4E53}"/>
              </a:ext>
            </a:extLst>
          </p:cNvPr>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a:extLst>
              <a:ext uri="{FF2B5EF4-FFF2-40B4-BE49-F238E27FC236}">
                <a16:creationId xmlns:a16="http://schemas.microsoft.com/office/drawing/2014/main" id="{0F97C10D-3AA4-96D8-E361-CEDCBE1DDA1D}"/>
              </a:ext>
            </a:extLst>
          </p:cNvPr>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III</a:t>
            </a:r>
            <a:endParaRPr lang="en-US" sz="750" dirty="0"/>
          </a:p>
        </p:txBody>
      </p:sp>
      <p:sp>
        <p:nvSpPr>
          <p:cNvPr id="8" name="Text 6">
            <a:extLst>
              <a:ext uri="{FF2B5EF4-FFF2-40B4-BE49-F238E27FC236}">
                <a16:creationId xmlns:a16="http://schemas.microsoft.com/office/drawing/2014/main" id="{15D82D01-BBA3-265D-0F2E-491146927A10}"/>
              </a:ext>
            </a:extLst>
          </p:cNvPr>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vi-VN" sz="2400" b="1">
                <a:solidFill>
                  <a:srgbClr val="1F2328"/>
                </a:solidFill>
                <a:latin typeface="Arial" pitchFamily="34" charset="0"/>
                <a:ea typeface="Arial" pitchFamily="34" charset="-122"/>
                <a:cs typeface="Arial" pitchFamily="34" charset="-120"/>
              </a:rPr>
              <a:t>Bảng LoaiNganTu_Nhom5 (Cấu hình kích cỡ và biểu phí)</a:t>
            </a:r>
            <a:endParaRPr lang="en-US" sz="2400" dirty="0"/>
          </a:p>
        </p:txBody>
      </p:sp>
      <p:sp>
        <p:nvSpPr>
          <p:cNvPr id="9" name="Shape 7">
            <a:extLst>
              <a:ext uri="{FF2B5EF4-FFF2-40B4-BE49-F238E27FC236}">
                <a16:creationId xmlns:a16="http://schemas.microsoft.com/office/drawing/2014/main" id="{7121C35B-3753-6D48-ABB4-C65547B1A5A8}"/>
              </a:ext>
            </a:extLst>
          </p:cNvPr>
          <p:cNvSpPr/>
          <p:nvPr/>
        </p:nvSpPr>
        <p:spPr>
          <a:xfrm>
            <a:off x="502920" y="1029021"/>
            <a:ext cx="1188720" cy="0"/>
          </a:xfrm>
          <a:prstGeom prst="line">
            <a:avLst/>
          </a:prstGeom>
          <a:noFill/>
          <a:ln w="27940">
            <a:solidFill>
              <a:srgbClr val="B50915"/>
            </a:solidFill>
            <a:prstDash val="solid"/>
          </a:ln>
        </p:spPr>
        <p:txBody>
          <a:bodyPr/>
          <a:lstStyle/>
          <a:p>
            <a:endParaRPr lang="vi-VN"/>
          </a:p>
        </p:txBody>
      </p:sp>
      <p:sp>
        <p:nvSpPr>
          <p:cNvPr id="10" name="Text 8">
            <a:extLst>
              <a:ext uri="{FF2B5EF4-FFF2-40B4-BE49-F238E27FC236}">
                <a16:creationId xmlns:a16="http://schemas.microsoft.com/office/drawing/2014/main" id="{A012850C-4E95-0134-10A0-6E83CEBAF539}"/>
              </a:ext>
            </a:extLst>
          </p:cNvPr>
          <p:cNvSpPr/>
          <p:nvPr/>
        </p:nvSpPr>
        <p:spPr>
          <a:xfrm>
            <a:off x="700496" y="2420144"/>
            <a:ext cx="3148365" cy="620486"/>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vi-VN" sz="1600" b="1">
                <a:solidFill>
                  <a:srgbClr val="FFFFFF"/>
                </a:solidFill>
                <a:latin typeface="Arial" pitchFamily="34" charset="0"/>
                <a:ea typeface="Arial" pitchFamily="34" charset="-122"/>
                <a:cs typeface="Arial" pitchFamily="34" charset="-120"/>
              </a:rPr>
              <a:t>Tên trường (Column Name)</a:t>
            </a:r>
            <a:endParaRPr lang="en-US" sz="1600" dirty="0"/>
          </a:p>
        </p:txBody>
      </p:sp>
      <p:sp>
        <p:nvSpPr>
          <p:cNvPr id="11" name="Text 9">
            <a:extLst>
              <a:ext uri="{FF2B5EF4-FFF2-40B4-BE49-F238E27FC236}">
                <a16:creationId xmlns:a16="http://schemas.microsoft.com/office/drawing/2014/main" id="{9137D68F-5A16-C527-B4AA-79E2CD92F32F}"/>
              </a:ext>
            </a:extLst>
          </p:cNvPr>
          <p:cNvSpPr/>
          <p:nvPr/>
        </p:nvSpPr>
        <p:spPr>
          <a:xfrm>
            <a:off x="3848861" y="2420144"/>
            <a:ext cx="1823357" cy="620486"/>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en-US" sz="1600" b="1">
                <a:solidFill>
                  <a:srgbClr val="FFFFFF"/>
                </a:solidFill>
                <a:latin typeface="Arial" pitchFamily="34" charset="0"/>
                <a:ea typeface="Arial" pitchFamily="34" charset="-122"/>
                <a:cs typeface="Arial" pitchFamily="34" charset="-120"/>
              </a:rPr>
              <a:t>Kiểu dữ liệu</a:t>
            </a:r>
            <a:endParaRPr lang="en-US" sz="1600" dirty="0"/>
          </a:p>
        </p:txBody>
      </p:sp>
      <p:sp>
        <p:nvSpPr>
          <p:cNvPr id="12" name="Text 10">
            <a:extLst>
              <a:ext uri="{FF2B5EF4-FFF2-40B4-BE49-F238E27FC236}">
                <a16:creationId xmlns:a16="http://schemas.microsoft.com/office/drawing/2014/main" id="{80E8391D-6830-A247-FFFB-ED0915D8101F}"/>
              </a:ext>
            </a:extLst>
          </p:cNvPr>
          <p:cNvSpPr/>
          <p:nvPr/>
        </p:nvSpPr>
        <p:spPr>
          <a:xfrm>
            <a:off x="5672219" y="2420144"/>
            <a:ext cx="2884714" cy="620486"/>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en-US" sz="1600" b="1">
                <a:solidFill>
                  <a:srgbClr val="FFFFFF"/>
                </a:solidFill>
                <a:latin typeface="Arial" pitchFamily="34" charset="0"/>
                <a:ea typeface="Arial" pitchFamily="34" charset="-122"/>
                <a:cs typeface="Arial" pitchFamily="34" charset="-120"/>
              </a:rPr>
              <a:t>Ràng buộc (Constraints)</a:t>
            </a:r>
            <a:endParaRPr lang="en-US" sz="1600" dirty="0"/>
          </a:p>
        </p:txBody>
      </p:sp>
      <p:sp>
        <p:nvSpPr>
          <p:cNvPr id="31" name="Shape 29">
            <a:extLst>
              <a:ext uri="{FF2B5EF4-FFF2-40B4-BE49-F238E27FC236}">
                <a16:creationId xmlns:a16="http://schemas.microsoft.com/office/drawing/2014/main" id="{B4B0269F-8B30-C339-722A-0F245644ECEB}"/>
              </a:ext>
            </a:extLst>
          </p:cNvPr>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32" name="Text 30">
            <a:extLst>
              <a:ext uri="{FF2B5EF4-FFF2-40B4-BE49-F238E27FC236}">
                <a16:creationId xmlns:a16="http://schemas.microsoft.com/office/drawing/2014/main" id="{2DED695E-1FE4-FC77-97A9-71125FBAAF03}"/>
              </a:ext>
            </a:extLst>
          </p:cNvPr>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33" name="Text 31">
            <a:extLst>
              <a:ext uri="{FF2B5EF4-FFF2-40B4-BE49-F238E27FC236}">
                <a16:creationId xmlns:a16="http://schemas.microsoft.com/office/drawing/2014/main" id="{3F24CCCC-1199-985E-D5DA-79236A8DD834}"/>
              </a:ext>
            </a:extLst>
          </p:cNvPr>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34</a:t>
            </a:r>
            <a:endParaRPr lang="en-US" sz="1000" dirty="0"/>
          </a:p>
        </p:txBody>
      </p:sp>
      <p:sp>
        <p:nvSpPr>
          <p:cNvPr id="34" name="Text 5">
            <a:extLst>
              <a:ext uri="{FF2B5EF4-FFF2-40B4-BE49-F238E27FC236}">
                <a16:creationId xmlns:a16="http://schemas.microsoft.com/office/drawing/2014/main" id="{9E900E80-8C9D-EF8F-F197-E02FD47B8DE8}"/>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III: THIẾT KẾ HỆ THỐNG</a:t>
            </a:r>
          </a:p>
          <a:p>
            <a:pPr marL="0" indent="0">
              <a:buNone/>
            </a:pPr>
            <a:r>
              <a:rPr lang="vi-VN" sz="1200" b="1">
                <a:solidFill>
                  <a:srgbClr val="B50915"/>
                </a:solidFill>
                <a:latin typeface="Arial" pitchFamily="34" charset="0"/>
                <a:cs typeface="Arial" pitchFamily="34" charset="-120"/>
              </a:rPr>
              <a:t>3.2  Thiết kế cơ sở dữ liệu</a:t>
            </a:r>
            <a:endParaRPr lang="en-US" sz="1200" dirty="0"/>
          </a:p>
        </p:txBody>
      </p:sp>
      <p:sp>
        <p:nvSpPr>
          <p:cNvPr id="35" name="Text 10">
            <a:extLst>
              <a:ext uri="{FF2B5EF4-FFF2-40B4-BE49-F238E27FC236}">
                <a16:creationId xmlns:a16="http://schemas.microsoft.com/office/drawing/2014/main" id="{037E008E-0CCF-4F1E-3B30-BB3B672D3B6D}"/>
              </a:ext>
            </a:extLst>
          </p:cNvPr>
          <p:cNvSpPr/>
          <p:nvPr/>
        </p:nvSpPr>
        <p:spPr>
          <a:xfrm>
            <a:off x="8556934" y="2420144"/>
            <a:ext cx="2612572" cy="620486"/>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en-US" sz="1600" b="1">
                <a:solidFill>
                  <a:srgbClr val="FFFFFF"/>
                </a:solidFill>
                <a:latin typeface="Arial" pitchFamily="34" charset="0"/>
                <a:ea typeface="Arial" pitchFamily="34" charset="-122"/>
                <a:cs typeface="Arial" pitchFamily="34" charset="-120"/>
              </a:rPr>
              <a:t>Mô tả (Description)</a:t>
            </a:r>
            <a:endParaRPr lang="en-US" sz="1600" dirty="0"/>
          </a:p>
        </p:txBody>
      </p:sp>
      <p:sp>
        <p:nvSpPr>
          <p:cNvPr id="38" name="Text 18">
            <a:extLst>
              <a:ext uri="{FF2B5EF4-FFF2-40B4-BE49-F238E27FC236}">
                <a16:creationId xmlns:a16="http://schemas.microsoft.com/office/drawing/2014/main" id="{A3DBBDBE-61A1-65C0-D3A7-7B954B8BE967}"/>
              </a:ext>
            </a:extLst>
          </p:cNvPr>
          <p:cNvSpPr/>
          <p:nvPr/>
        </p:nvSpPr>
        <p:spPr>
          <a:xfrm>
            <a:off x="640080" y="1322935"/>
            <a:ext cx="4410891" cy="457200"/>
          </a:xfrm>
          <a:prstGeom prst="rect">
            <a:avLst/>
          </a:prstGeom>
          <a:noFill/>
          <a:ln/>
        </p:spPr>
        <p:txBody>
          <a:bodyPr wrap="square" lIns="762" tIns="762" rIns="762" bIns="762" rtlCol="0" anchor="t">
            <a:noAutofit/>
          </a:bodyPr>
          <a:lstStyle/>
          <a:p>
            <a:pPr>
              <a:lnSpc>
                <a:spcPct val="115000"/>
              </a:lnSpc>
              <a:spcAft>
                <a:spcPts val="600"/>
              </a:spcAft>
            </a:pPr>
            <a:r>
              <a:rPr lang="vi-VN" sz="20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Khóa chính (PK): </a:t>
            </a:r>
            <a:r>
              <a:rPr lang="vi-VN">
                <a:solidFill>
                  <a:srgbClr val="000000"/>
                </a:solidFill>
                <a:effectLst/>
                <a:latin typeface="Consolas" panose="020B0609020204030204" pitchFamily="49" charset="0"/>
                <a:ea typeface="Consolas" panose="020B0609020204030204" pitchFamily="49" charset="0"/>
                <a:cs typeface="Consolas" panose="020B0609020204030204" pitchFamily="49" charset="0"/>
              </a:rPr>
              <a:t>MaKichThuoc_Nhom5</a:t>
            </a:r>
            <a:endParaRPr lang="vi-VN">
              <a:effectLst/>
              <a:latin typeface="Arial" panose="020B0604020202020204" pitchFamily="34" charset="0"/>
              <a:ea typeface="Arial" panose="020B0604020202020204" pitchFamily="34" charset="0"/>
              <a:cs typeface="Arial" panose="020B0604020202020204" pitchFamily="34" charset="0"/>
            </a:endParaRPr>
          </a:p>
        </p:txBody>
      </p:sp>
      <p:graphicFrame>
        <p:nvGraphicFramePr>
          <p:cNvPr id="7" name="Bảng 6">
            <a:extLst>
              <a:ext uri="{FF2B5EF4-FFF2-40B4-BE49-F238E27FC236}">
                <a16:creationId xmlns:a16="http://schemas.microsoft.com/office/drawing/2014/main" id="{4228B4E2-F95F-982C-A976-3ABA1F83BFA3}"/>
              </a:ext>
            </a:extLst>
          </p:cNvPr>
          <p:cNvGraphicFramePr>
            <a:graphicFrameLocks noGrp="1"/>
          </p:cNvGraphicFramePr>
          <p:nvPr>
            <p:extLst>
              <p:ext uri="{D42A27DB-BD31-4B8C-83A1-F6EECF244321}">
                <p14:modId xmlns:p14="http://schemas.microsoft.com/office/powerpoint/2010/main" val="1364687679"/>
              </p:ext>
            </p:extLst>
          </p:nvPr>
        </p:nvGraphicFramePr>
        <p:xfrm>
          <a:off x="700496" y="3044452"/>
          <a:ext cx="10469011" cy="2352531"/>
        </p:xfrm>
        <a:graphic>
          <a:graphicData uri="http://schemas.openxmlformats.org/drawingml/2006/table">
            <a:tbl>
              <a:tblPr/>
              <a:tblGrid>
                <a:gridCol w="3154125">
                  <a:extLst>
                    <a:ext uri="{9D8B030D-6E8A-4147-A177-3AD203B41FA5}">
                      <a16:colId xmlns:a16="http://schemas.microsoft.com/office/drawing/2014/main" val="3648558470"/>
                    </a:ext>
                  </a:extLst>
                </a:gridCol>
                <a:gridCol w="1834314">
                  <a:extLst>
                    <a:ext uri="{9D8B030D-6E8A-4147-A177-3AD203B41FA5}">
                      <a16:colId xmlns:a16="http://schemas.microsoft.com/office/drawing/2014/main" val="313429158"/>
                    </a:ext>
                  </a:extLst>
                </a:gridCol>
                <a:gridCol w="2863319">
                  <a:extLst>
                    <a:ext uri="{9D8B030D-6E8A-4147-A177-3AD203B41FA5}">
                      <a16:colId xmlns:a16="http://schemas.microsoft.com/office/drawing/2014/main" val="1355292279"/>
                    </a:ext>
                  </a:extLst>
                </a:gridCol>
                <a:gridCol w="2617253">
                  <a:extLst>
                    <a:ext uri="{9D8B030D-6E8A-4147-A177-3AD203B41FA5}">
                      <a16:colId xmlns:a16="http://schemas.microsoft.com/office/drawing/2014/main" val="2697513364"/>
                    </a:ext>
                  </a:extLst>
                </a:gridCol>
              </a:tblGrid>
              <a:tr h="955990">
                <a:tc>
                  <a:txBody>
                    <a:bodyPr/>
                    <a:lstStyle/>
                    <a:p>
                      <a:pPr>
                        <a:lnSpc>
                          <a:spcPct val="105000"/>
                        </a:lnSpc>
                        <a:spcAft>
                          <a:spcPts val="800"/>
                        </a:spcAft>
                      </a:pPr>
                      <a:r>
                        <a:rPr lang="vi-VN" sz="14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MaKichThuoc_Nhom5</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VARCHAR(10)</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15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PK, NOT NULL,</a:t>
                      </a:r>
                      <a:endParaRPr lang="vi-VN" sz="14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CHECK </a:t>
                      </a:r>
                      <a:r>
                        <a:rPr lang="vi-VN" sz="1400">
                          <a:solidFill>
                            <a:srgbClr val="000000"/>
                          </a:solidFill>
                          <a:effectLst/>
                          <a:latin typeface="Cambria Math" panose="02040503050406030204" pitchFamily="18" charset="0"/>
                          <a:ea typeface="Consolas" panose="020B0609020204030204" pitchFamily="49" charset="0"/>
                          <a:cs typeface="Cambria Math" panose="02040503050406030204" pitchFamily="18" charset="0"/>
                        </a:rPr>
                        <a:t>∈</a:t>
                      </a: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 {S, M, L}</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Mã phân loại kích cỡ ngăn tủ.</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725722623"/>
                  </a:ext>
                </a:extLst>
              </a:tr>
              <a:tr h="509851">
                <a:tc>
                  <a:txBody>
                    <a:bodyPr/>
                    <a:lstStyle/>
                    <a:p>
                      <a:pPr>
                        <a:lnSpc>
                          <a:spcPct val="105000"/>
                        </a:lnSpc>
                        <a:spcAft>
                          <a:spcPts val="800"/>
                        </a:spcAft>
                      </a:pPr>
                      <a:r>
                        <a:rPr lang="vi-VN" sz="14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PhiDichVu_Nhom5</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DECIMAL(18,2)</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NOT NULL, CHECK ≥ 0</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Giá cước thuê tủ ban đầu.</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100759784"/>
                  </a:ext>
                </a:extLst>
              </a:tr>
              <a:tr h="886690">
                <a:tc>
                  <a:txBody>
                    <a:bodyPr/>
                    <a:lstStyle/>
                    <a:p>
                      <a:pPr>
                        <a:lnSpc>
                          <a:spcPct val="105000"/>
                        </a:lnSpc>
                        <a:spcAft>
                          <a:spcPts val="800"/>
                        </a:spcAft>
                      </a:pPr>
                      <a:r>
                        <a:rPr lang="vi-VN" sz="14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PhiLuuBaiQuaHan_Nhom5</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DECIMAL(18,2)</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NOT NULL, CHECK ≥ 0</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Phí phạt quá hạn lũy tiến theo giờ.</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140021855"/>
                  </a:ext>
                </a:extLst>
              </a:tr>
            </a:tbl>
          </a:graphicData>
        </a:graphic>
      </p:graphicFrame>
    </p:spTree>
    <p:extLst>
      <p:ext uri="{BB962C8B-B14F-4D97-AF65-F5344CB8AC3E}">
        <p14:creationId xmlns:p14="http://schemas.microsoft.com/office/powerpoint/2010/main" val="15919363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a:extLst>
            <a:ext uri="{FF2B5EF4-FFF2-40B4-BE49-F238E27FC236}">
              <a16:creationId xmlns:a16="http://schemas.microsoft.com/office/drawing/2014/main" id="{1F530BCA-ADA7-0E1A-D434-981244DFFB91}"/>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22EDA10F-A92F-4029-04E3-227F205D599C}"/>
              </a:ext>
            </a:extLst>
          </p:cNvPr>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a:extLst>
              <a:ext uri="{FF2B5EF4-FFF2-40B4-BE49-F238E27FC236}">
                <a16:creationId xmlns:a16="http://schemas.microsoft.com/office/drawing/2014/main" id="{44106D49-D53F-14AB-CF66-8BEBB1237E12}"/>
              </a:ext>
            </a:extLst>
          </p:cNvPr>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a:extLst>
              <a:ext uri="{FF2B5EF4-FFF2-40B4-BE49-F238E27FC236}">
                <a16:creationId xmlns:a16="http://schemas.microsoft.com/office/drawing/2014/main" id="{0523980F-DBD2-071E-10B3-CCBF3C8FAE65}"/>
              </a:ext>
            </a:extLst>
          </p:cNvPr>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a:extLst>
              <a:ext uri="{FF2B5EF4-FFF2-40B4-BE49-F238E27FC236}">
                <a16:creationId xmlns:a16="http://schemas.microsoft.com/office/drawing/2014/main" id="{DFFB8872-412D-7C9B-3CA3-0EC3CB3703E3}"/>
              </a:ext>
            </a:extLst>
          </p:cNvPr>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III</a:t>
            </a:r>
            <a:endParaRPr lang="en-US" sz="750" dirty="0"/>
          </a:p>
        </p:txBody>
      </p:sp>
      <p:sp>
        <p:nvSpPr>
          <p:cNvPr id="8" name="Text 6">
            <a:extLst>
              <a:ext uri="{FF2B5EF4-FFF2-40B4-BE49-F238E27FC236}">
                <a16:creationId xmlns:a16="http://schemas.microsoft.com/office/drawing/2014/main" id="{9F5EE7D7-E350-6435-9F2D-32573BBE264F}"/>
              </a:ext>
            </a:extLst>
          </p:cNvPr>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vi-VN" sz="2400" b="1">
                <a:solidFill>
                  <a:srgbClr val="1F2328"/>
                </a:solidFill>
                <a:latin typeface="Arial" pitchFamily="34" charset="0"/>
                <a:ea typeface="Arial" pitchFamily="34" charset="-122"/>
                <a:cs typeface="Arial" pitchFamily="34" charset="-120"/>
              </a:rPr>
              <a:t>Bảng NganTu_Nhom5 (Trạng thái ô ngăn tủ vật lý)</a:t>
            </a:r>
            <a:endParaRPr lang="en-US" sz="2400" dirty="0"/>
          </a:p>
        </p:txBody>
      </p:sp>
      <p:sp>
        <p:nvSpPr>
          <p:cNvPr id="9" name="Shape 7">
            <a:extLst>
              <a:ext uri="{FF2B5EF4-FFF2-40B4-BE49-F238E27FC236}">
                <a16:creationId xmlns:a16="http://schemas.microsoft.com/office/drawing/2014/main" id="{C112A8CA-1093-7DFE-243E-EA821038FF6E}"/>
              </a:ext>
            </a:extLst>
          </p:cNvPr>
          <p:cNvSpPr/>
          <p:nvPr/>
        </p:nvSpPr>
        <p:spPr>
          <a:xfrm>
            <a:off x="502920" y="1081440"/>
            <a:ext cx="1188720" cy="0"/>
          </a:xfrm>
          <a:prstGeom prst="line">
            <a:avLst/>
          </a:prstGeom>
          <a:noFill/>
          <a:ln w="27940">
            <a:solidFill>
              <a:srgbClr val="B50915"/>
            </a:solidFill>
            <a:prstDash val="solid"/>
          </a:ln>
        </p:spPr>
        <p:txBody>
          <a:bodyPr/>
          <a:lstStyle/>
          <a:p>
            <a:endParaRPr lang="vi-VN"/>
          </a:p>
        </p:txBody>
      </p:sp>
      <p:sp>
        <p:nvSpPr>
          <p:cNvPr id="10" name="Text 8">
            <a:extLst>
              <a:ext uri="{FF2B5EF4-FFF2-40B4-BE49-F238E27FC236}">
                <a16:creationId xmlns:a16="http://schemas.microsoft.com/office/drawing/2014/main" id="{6C70B694-0929-8917-199B-674B0D1C7BCF}"/>
              </a:ext>
            </a:extLst>
          </p:cNvPr>
          <p:cNvSpPr/>
          <p:nvPr/>
        </p:nvSpPr>
        <p:spPr>
          <a:xfrm>
            <a:off x="688848" y="2494581"/>
            <a:ext cx="3148365" cy="620486"/>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vi-VN" sz="1600" b="1">
                <a:solidFill>
                  <a:srgbClr val="FFFFFF"/>
                </a:solidFill>
                <a:latin typeface="Arial" pitchFamily="34" charset="0"/>
                <a:ea typeface="Arial" pitchFamily="34" charset="-122"/>
                <a:cs typeface="Arial" pitchFamily="34" charset="-120"/>
              </a:rPr>
              <a:t>Tên trường (Column Name)</a:t>
            </a:r>
            <a:endParaRPr lang="en-US" sz="1600" dirty="0"/>
          </a:p>
        </p:txBody>
      </p:sp>
      <p:sp>
        <p:nvSpPr>
          <p:cNvPr id="11" name="Text 9">
            <a:extLst>
              <a:ext uri="{FF2B5EF4-FFF2-40B4-BE49-F238E27FC236}">
                <a16:creationId xmlns:a16="http://schemas.microsoft.com/office/drawing/2014/main" id="{549F71AA-D6F5-8874-2DDA-C250135025E3}"/>
              </a:ext>
            </a:extLst>
          </p:cNvPr>
          <p:cNvSpPr/>
          <p:nvPr/>
        </p:nvSpPr>
        <p:spPr>
          <a:xfrm>
            <a:off x="3837213" y="2494581"/>
            <a:ext cx="1823357" cy="620486"/>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en-US" sz="1600" b="1">
                <a:solidFill>
                  <a:srgbClr val="FFFFFF"/>
                </a:solidFill>
                <a:latin typeface="Arial" pitchFamily="34" charset="0"/>
                <a:ea typeface="Arial" pitchFamily="34" charset="-122"/>
                <a:cs typeface="Arial" pitchFamily="34" charset="-120"/>
              </a:rPr>
              <a:t>Kiểu dữ liệu</a:t>
            </a:r>
            <a:endParaRPr lang="en-US" sz="1600" dirty="0"/>
          </a:p>
        </p:txBody>
      </p:sp>
      <p:sp>
        <p:nvSpPr>
          <p:cNvPr id="12" name="Text 10">
            <a:extLst>
              <a:ext uri="{FF2B5EF4-FFF2-40B4-BE49-F238E27FC236}">
                <a16:creationId xmlns:a16="http://schemas.microsoft.com/office/drawing/2014/main" id="{13FC5B4E-A926-4290-2CC9-48E6D433F670}"/>
              </a:ext>
            </a:extLst>
          </p:cNvPr>
          <p:cNvSpPr/>
          <p:nvPr/>
        </p:nvSpPr>
        <p:spPr>
          <a:xfrm>
            <a:off x="5660571" y="2494581"/>
            <a:ext cx="2884714" cy="620486"/>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en-US" sz="1600" b="1">
                <a:solidFill>
                  <a:srgbClr val="FFFFFF"/>
                </a:solidFill>
                <a:latin typeface="Arial" pitchFamily="34" charset="0"/>
                <a:ea typeface="Arial" pitchFamily="34" charset="-122"/>
                <a:cs typeface="Arial" pitchFamily="34" charset="-120"/>
              </a:rPr>
              <a:t>Ràng buộc (Constraints)</a:t>
            </a:r>
            <a:endParaRPr lang="en-US" sz="1600" dirty="0"/>
          </a:p>
        </p:txBody>
      </p:sp>
      <p:sp>
        <p:nvSpPr>
          <p:cNvPr id="31" name="Shape 29">
            <a:extLst>
              <a:ext uri="{FF2B5EF4-FFF2-40B4-BE49-F238E27FC236}">
                <a16:creationId xmlns:a16="http://schemas.microsoft.com/office/drawing/2014/main" id="{B5476254-0504-35C9-F6F3-B2AD17073512}"/>
              </a:ext>
            </a:extLst>
          </p:cNvPr>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32" name="Text 30">
            <a:extLst>
              <a:ext uri="{FF2B5EF4-FFF2-40B4-BE49-F238E27FC236}">
                <a16:creationId xmlns:a16="http://schemas.microsoft.com/office/drawing/2014/main" id="{21690AD7-372F-4976-D7DF-AE591837C86B}"/>
              </a:ext>
            </a:extLst>
          </p:cNvPr>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33" name="Text 31">
            <a:extLst>
              <a:ext uri="{FF2B5EF4-FFF2-40B4-BE49-F238E27FC236}">
                <a16:creationId xmlns:a16="http://schemas.microsoft.com/office/drawing/2014/main" id="{B9D1E792-7607-BC5C-509F-2FD371AD090A}"/>
              </a:ext>
            </a:extLst>
          </p:cNvPr>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34</a:t>
            </a:r>
            <a:endParaRPr lang="en-US" sz="1000" dirty="0"/>
          </a:p>
        </p:txBody>
      </p:sp>
      <p:sp>
        <p:nvSpPr>
          <p:cNvPr id="34" name="Text 5">
            <a:extLst>
              <a:ext uri="{FF2B5EF4-FFF2-40B4-BE49-F238E27FC236}">
                <a16:creationId xmlns:a16="http://schemas.microsoft.com/office/drawing/2014/main" id="{9B01396C-C6AC-D49D-EA9C-0073EDF44C1C}"/>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III: THIẾT KẾ HỆ THỐNG</a:t>
            </a:r>
          </a:p>
          <a:p>
            <a:pPr marL="0" indent="0">
              <a:buNone/>
            </a:pPr>
            <a:r>
              <a:rPr lang="vi-VN" sz="1200" b="1">
                <a:solidFill>
                  <a:srgbClr val="B50915"/>
                </a:solidFill>
                <a:latin typeface="Arial" pitchFamily="34" charset="0"/>
                <a:cs typeface="Arial" pitchFamily="34" charset="-120"/>
              </a:rPr>
              <a:t>3.2  Thiết kế cơ sở dữ liệu</a:t>
            </a:r>
            <a:endParaRPr lang="en-US" sz="1200" dirty="0"/>
          </a:p>
        </p:txBody>
      </p:sp>
      <p:sp>
        <p:nvSpPr>
          <p:cNvPr id="35" name="Text 10">
            <a:extLst>
              <a:ext uri="{FF2B5EF4-FFF2-40B4-BE49-F238E27FC236}">
                <a16:creationId xmlns:a16="http://schemas.microsoft.com/office/drawing/2014/main" id="{F87D45B7-ED85-1796-4229-C5C04637BB6E}"/>
              </a:ext>
            </a:extLst>
          </p:cNvPr>
          <p:cNvSpPr/>
          <p:nvPr/>
        </p:nvSpPr>
        <p:spPr>
          <a:xfrm>
            <a:off x="8545286" y="2494581"/>
            <a:ext cx="2612572" cy="620486"/>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en-US" sz="1600" b="1">
                <a:solidFill>
                  <a:srgbClr val="FFFFFF"/>
                </a:solidFill>
                <a:latin typeface="Arial" pitchFamily="34" charset="0"/>
                <a:ea typeface="Arial" pitchFamily="34" charset="-122"/>
                <a:cs typeface="Arial" pitchFamily="34" charset="-120"/>
              </a:rPr>
              <a:t>Mô tả (Description)</a:t>
            </a:r>
            <a:endParaRPr lang="en-US" sz="1600" dirty="0"/>
          </a:p>
        </p:txBody>
      </p:sp>
      <p:sp>
        <p:nvSpPr>
          <p:cNvPr id="38" name="Text 18">
            <a:extLst>
              <a:ext uri="{FF2B5EF4-FFF2-40B4-BE49-F238E27FC236}">
                <a16:creationId xmlns:a16="http://schemas.microsoft.com/office/drawing/2014/main" id="{2ABE24CB-5800-DFD9-7AEC-6169296A1E8F}"/>
              </a:ext>
            </a:extLst>
          </p:cNvPr>
          <p:cNvSpPr/>
          <p:nvPr/>
        </p:nvSpPr>
        <p:spPr>
          <a:xfrm>
            <a:off x="640079" y="1357881"/>
            <a:ext cx="10588753" cy="954587"/>
          </a:xfrm>
          <a:prstGeom prst="rect">
            <a:avLst/>
          </a:prstGeom>
          <a:noFill/>
          <a:ln/>
        </p:spPr>
        <p:txBody>
          <a:bodyPr wrap="square" lIns="762" tIns="762" rIns="762" bIns="762" rtlCol="0" anchor="t">
            <a:noAutofit/>
          </a:bodyPr>
          <a:lstStyle/>
          <a:p>
            <a:pPr>
              <a:lnSpc>
                <a:spcPct val="115000"/>
              </a:lnSpc>
            </a:pPr>
            <a:r>
              <a:rPr lang="vi-VN" sz="16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Khóa chính (PK): </a:t>
            </a:r>
            <a:r>
              <a:rPr lang="vi-VN" sz="1600">
                <a:solidFill>
                  <a:srgbClr val="000000"/>
                </a:solidFill>
                <a:effectLst/>
                <a:latin typeface="Consolas" panose="020B0609020204030204" pitchFamily="49" charset="0"/>
                <a:ea typeface="Consolas" panose="020B0609020204030204" pitchFamily="49" charset="0"/>
                <a:cs typeface="Consolas" panose="020B0609020204030204" pitchFamily="49" charset="0"/>
              </a:rPr>
              <a:t>MaNT_Nhom5</a:t>
            </a:r>
            <a:endParaRPr lang="vi-VN" sz="1600">
              <a:effectLst/>
              <a:latin typeface="Arial" panose="020B0604020202020204" pitchFamily="34" charset="0"/>
              <a:ea typeface="Arial" panose="020B0604020202020204" pitchFamily="34" charset="0"/>
              <a:cs typeface="Arial" panose="020B0604020202020204" pitchFamily="34" charset="0"/>
            </a:endParaRPr>
          </a:p>
          <a:p>
            <a:r>
              <a:rPr lang="vi-VN" sz="1600" b="1">
                <a:solidFill>
                  <a:srgbClr val="000000"/>
                </a:solidFill>
                <a:effectLst/>
                <a:latin typeface="Times New Roman" panose="02020603050405020304" pitchFamily="18" charset="0"/>
                <a:ea typeface="Times New Roman" panose="02020603050405020304" pitchFamily="18" charset="0"/>
              </a:rPr>
              <a:t>Khóa ngoại (FK):  </a:t>
            </a:r>
            <a:r>
              <a:rPr lang="vi-VN" sz="1600">
                <a:solidFill>
                  <a:srgbClr val="000000"/>
                </a:solidFill>
                <a:effectLst/>
                <a:latin typeface="Consolas" panose="020B0609020204030204" pitchFamily="49" charset="0"/>
                <a:ea typeface="Consolas" panose="020B0609020204030204" pitchFamily="49" charset="0"/>
                <a:cs typeface="Consolas" panose="020B0609020204030204" pitchFamily="49" charset="0"/>
              </a:rPr>
              <a:t>MaTram_Nhom5</a:t>
            </a:r>
            <a:r>
              <a:rPr lang="vi-VN" sz="1600">
                <a:solidFill>
                  <a:srgbClr val="000000"/>
                </a:solidFill>
                <a:effectLst/>
                <a:latin typeface="Times New Roman" panose="02020603050405020304" pitchFamily="18" charset="0"/>
                <a:ea typeface="Times New Roman" panose="02020603050405020304" pitchFamily="18" charset="0"/>
              </a:rPr>
              <a:t> → TramTu_Nhom5 (MaTram_Nhom5); </a:t>
            </a:r>
          </a:p>
          <a:p>
            <a:r>
              <a:rPr lang="vi-VN" sz="1600">
                <a:solidFill>
                  <a:srgbClr val="000000"/>
                </a:solidFill>
                <a:effectLst/>
                <a:latin typeface="Consolas" panose="020B0609020204030204" pitchFamily="49" charset="0"/>
                <a:ea typeface="Consolas" panose="020B0609020204030204" pitchFamily="49" charset="0"/>
                <a:cs typeface="Consolas" panose="020B0609020204030204" pitchFamily="49" charset="0"/>
              </a:rPr>
              <a:t>               MaKichThuoc_Nhom5</a:t>
            </a:r>
            <a:r>
              <a:rPr lang="vi-VN" sz="1600">
                <a:solidFill>
                  <a:srgbClr val="000000"/>
                </a:solidFill>
                <a:effectLst/>
                <a:latin typeface="Times New Roman" panose="02020603050405020304" pitchFamily="18" charset="0"/>
                <a:ea typeface="Times New Roman" panose="02020603050405020304" pitchFamily="18" charset="0"/>
              </a:rPr>
              <a:t> → LoaiNganTu_Nhom5 (MaKichThuoc_Nhom5).</a:t>
            </a:r>
            <a:endParaRPr lang="vi-VN" sz="1600">
              <a:effectLst/>
              <a:latin typeface="Arial" panose="020B0604020202020204" pitchFamily="34" charset="0"/>
              <a:ea typeface="Arial" panose="020B0604020202020204" pitchFamily="34" charset="0"/>
              <a:cs typeface="Arial" panose="020B0604020202020204" pitchFamily="34" charset="0"/>
            </a:endParaRPr>
          </a:p>
        </p:txBody>
      </p:sp>
      <p:graphicFrame>
        <p:nvGraphicFramePr>
          <p:cNvPr id="2" name="Bảng 1">
            <a:extLst>
              <a:ext uri="{FF2B5EF4-FFF2-40B4-BE49-F238E27FC236}">
                <a16:creationId xmlns:a16="http://schemas.microsoft.com/office/drawing/2014/main" id="{AFF4DFA3-9A6D-B872-89D5-CFA2A5AE29C6}"/>
              </a:ext>
            </a:extLst>
          </p:cNvPr>
          <p:cNvGraphicFramePr>
            <a:graphicFrameLocks noGrp="1"/>
          </p:cNvGraphicFramePr>
          <p:nvPr>
            <p:extLst>
              <p:ext uri="{D42A27DB-BD31-4B8C-83A1-F6EECF244321}">
                <p14:modId xmlns:p14="http://schemas.microsoft.com/office/powerpoint/2010/main" val="2086410417"/>
              </p:ext>
            </p:extLst>
          </p:nvPr>
        </p:nvGraphicFramePr>
        <p:xfrm>
          <a:off x="688848" y="3121030"/>
          <a:ext cx="10469011" cy="2871553"/>
        </p:xfrm>
        <a:graphic>
          <a:graphicData uri="http://schemas.openxmlformats.org/drawingml/2006/table">
            <a:tbl>
              <a:tblPr/>
              <a:tblGrid>
                <a:gridCol w="3154125">
                  <a:extLst>
                    <a:ext uri="{9D8B030D-6E8A-4147-A177-3AD203B41FA5}">
                      <a16:colId xmlns:a16="http://schemas.microsoft.com/office/drawing/2014/main" val="2761549739"/>
                    </a:ext>
                  </a:extLst>
                </a:gridCol>
                <a:gridCol w="1834314">
                  <a:extLst>
                    <a:ext uri="{9D8B030D-6E8A-4147-A177-3AD203B41FA5}">
                      <a16:colId xmlns:a16="http://schemas.microsoft.com/office/drawing/2014/main" val="464915125"/>
                    </a:ext>
                  </a:extLst>
                </a:gridCol>
                <a:gridCol w="2863319">
                  <a:extLst>
                    <a:ext uri="{9D8B030D-6E8A-4147-A177-3AD203B41FA5}">
                      <a16:colId xmlns:a16="http://schemas.microsoft.com/office/drawing/2014/main" val="2672749262"/>
                    </a:ext>
                  </a:extLst>
                </a:gridCol>
                <a:gridCol w="2617253">
                  <a:extLst>
                    <a:ext uri="{9D8B030D-6E8A-4147-A177-3AD203B41FA5}">
                      <a16:colId xmlns:a16="http://schemas.microsoft.com/office/drawing/2014/main" val="3363682748"/>
                    </a:ext>
                  </a:extLst>
                </a:gridCol>
              </a:tblGrid>
              <a:tr h="703075">
                <a:tc>
                  <a:txBody>
                    <a:bodyPr/>
                    <a:lstStyle/>
                    <a:p>
                      <a:pPr>
                        <a:lnSpc>
                          <a:spcPct val="105000"/>
                        </a:lnSpc>
                        <a:spcAft>
                          <a:spcPts val="800"/>
                        </a:spcAft>
                      </a:pPr>
                      <a:r>
                        <a:rPr lang="vi-VN" sz="14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MaNT_Nhom5</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VARCHAR(10)</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PK, NOT NULL</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Mã định danh ô ngăn tủ vật lý.</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245859191"/>
                  </a:ext>
                </a:extLst>
              </a:tr>
              <a:tr h="404271">
                <a:tc>
                  <a:txBody>
                    <a:bodyPr/>
                    <a:lstStyle/>
                    <a:p>
                      <a:pPr>
                        <a:lnSpc>
                          <a:spcPct val="105000"/>
                        </a:lnSpc>
                        <a:spcAft>
                          <a:spcPts val="800"/>
                        </a:spcAft>
                      </a:pPr>
                      <a:r>
                        <a:rPr lang="vi-VN" sz="14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MaTram_Nhom5</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VARCHAR(10)</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NOT NULL, FK</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Trạm chứa ô ngăn tủ này.</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502923808"/>
                  </a:ext>
                </a:extLst>
              </a:tr>
              <a:tr h="703075">
                <a:tc>
                  <a:txBody>
                    <a:bodyPr/>
                    <a:lstStyle/>
                    <a:p>
                      <a:pPr>
                        <a:lnSpc>
                          <a:spcPct val="105000"/>
                        </a:lnSpc>
                        <a:spcAft>
                          <a:spcPts val="800"/>
                        </a:spcAft>
                      </a:pPr>
                      <a:r>
                        <a:rPr lang="vi-VN" sz="14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MaKichThuoc_Nhom5</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VARCHAR(10)</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NOT NULL, FK</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Phân hệ kích cỡ của ô ngăn tủ.</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537583208"/>
                  </a:ext>
                </a:extLst>
              </a:tr>
              <a:tr h="1061132">
                <a:tc>
                  <a:txBody>
                    <a:bodyPr/>
                    <a:lstStyle/>
                    <a:p>
                      <a:pPr>
                        <a:lnSpc>
                          <a:spcPct val="105000"/>
                        </a:lnSpc>
                        <a:spcAft>
                          <a:spcPts val="800"/>
                        </a:spcAft>
                      </a:pPr>
                      <a:r>
                        <a:rPr lang="vi-VN" sz="14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TrangThaiNT_Nhom5</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NVARCHAR(20)</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15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NOT NULL,</a:t>
                      </a:r>
                      <a:endParaRPr lang="vi-VN" sz="14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CHECK </a:t>
                      </a:r>
                      <a:r>
                        <a:rPr lang="vi-VN" sz="1400">
                          <a:solidFill>
                            <a:srgbClr val="000000"/>
                          </a:solidFill>
                          <a:effectLst/>
                          <a:latin typeface="Cambria Math" panose="02040503050406030204" pitchFamily="18" charset="0"/>
                          <a:ea typeface="Consolas" panose="020B0609020204030204" pitchFamily="49" charset="0"/>
                          <a:cs typeface="Cambria Math" panose="02040503050406030204" pitchFamily="18" charset="0"/>
                        </a:rPr>
                        <a:t>∈</a:t>
                      </a: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 {Trống, Đang dùng, Lỗi}</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Tình trạng chứa hàng của ô ngăn.</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507501484"/>
                  </a:ext>
                </a:extLst>
              </a:tr>
            </a:tbl>
          </a:graphicData>
        </a:graphic>
      </p:graphicFrame>
    </p:spTree>
    <p:extLst>
      <p:ext uri="{BB962C8B-B14F-4D97-AF65-F5344CB8AC3E}">
        <p14:creationId xmlns:p14="http://schemas.microsoft.com/office/powerpoint/2010/main" val="23640600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a:extLst>
            <a:ext uri="{FF2B5EF4-FFF2-40B4-BE49-F238E27FC236}">
              <a16:creationId xmlns:a16="http://schemas.microsoft.com/office/drawing/2014/main" id="{6C6B4FC9-8788-E65B-5719-BB26AF710EDF}"/>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06FBB515-42BC-2D66-E2A7-548BE3CCE186}"/>
              </a:ext>
            </a:extLst>
          </p:cNvPr>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a:extLst>
              <a:ext uri="{FF2B5EF4-FFF2-40B4-BE49-F238E27FC236}">
                <a16:creationId xmlns:a16="http://schemas.microsoft.com/office/drawing/2014/main" id="{C1F69D8B-5B51-EBAC-1E1F-092EBD0F3571}"/>
              </a:ext>
            </a:extLst>
          </p:cNvPr>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a:extLst>
              <a:ext uri="{FF2B5EF4-FFF2-40B4-BE49-F238E27FC236}">
                <a16:creationId xmlns:a16="http://schemas.microsoft.com/office/drawing/2014/main" id="{AA220C4A-907D-BE02-86CE-9328A1D61B12}"/>
              </a:ext>
            </a:extLst>
          </p:cNvPr>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a:extLst>
              <a:ext uri="{FF2B5EF4-FFF2-40B4-BE49-F238E27FC236}">
                <a16:creationId xmlns:a16="http://schemas.microsoft.com/office/drawing/2014/main" id="{CDD33C1C-29C6-E5DC-76AE-3592A094157F}"/>
              </a:ext>
            </a:extLst>
          </p:cNvPr>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III</a:t>
            </a:r>
            <a:endParaRPr lang="en-US" sz="750" dirty="0"/>
          </a:p>
        </p:txBody>
      </p:sp>
      <p:sp>
        <p:nvSpPr>
          <p:cNvPr id="8" name="Text 6">
            <a:extLst>
              <a:ext uri="{FF2B5EF4-FFF2-40B4-BE49-F238E27FC236}">
                <a16:creationId xmlns:a16="http://schemas.microsoft.com/office/drawing/2014/main" id="{1788B46A-0A56-A865-5FEB-35E67F8ED7FF}"/>
              </a:ext>
            </a:extLst>
          </p:cNvPr>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vi-VN" sz="2400" b="1">
                <a:solidFill>
                  <a:srgbClr val="1F2328"/>
                </a:solidFill>
                <a:latin typeface="Arial" pitchFamily="34" charset="0"/>
                <a:ea typeface="Arial" pitchFamily="34" charset="-122"/>
                <a:cs typeface="Arial" pitchFamily="34" charset="-120"/>
              </a:rPr>
              <a:t>Bảng GiaoDich_Nhom5 (Lịch sử toàn bộ luồng bưu kiện)</a:t>
            </a:r>
            <a:endParaRPr lang="en-US" sz="2400" dirty="0"/>
          </a:p>
        </p:txBody>
      </p:sp>
      <p:sp>
        <p:nvSpPr>
          <p:cNvPr id="9" name="Shape 7">
            <a:extLst>
              <a:ext uri="{FF2B5EF4-FFF2-40B4-BE49-F238E27FC236}">
                <a16:creationId xmlns:a16="http://schemas.microsoft.com/office/drawing/2014/main" id="{95878F6C-7050-998A-6D99-071420766E24}"/>
              </a:ext>
            </a:extLst>
          </p:cNvPr>
          <p:cNvSpPr/>
          <p:nvPr/>
        </p:nvSpPr>
        <p:spPr>
          <a:xfrm>
            <a:off x="502920" y="1046494"/>
            <a:ext cx="1188720" cy="0"/>
          </a:xfrm>
          <a:prstGeom prst="line">
            <a:avLst/>
          </a:prstGeom>
          <a:noFill/>
          <a:ln w="27940">
            <a:solidFill>
              <a:srgbClr val="B50915"/>
            </a:solidFill>
            <a:prstDash val="solid"/>
          </a:ln>
        </p:spPr>
        <p:txBody>
          <a:bodyPr/>
          <a:lstStyle/>
          <a:p>
            <a:endParaRPr lang="vi-VN"/>
          </a:p>
        </p:txBody>
      </p:sp>
      <p:sp>
        <p:nvSpPr>
          <p:cNvPr id="10" name="Text 8">
            <a:extLst>
              <a:ext uri="{FF2B5EF4-FFF2-40B4-BE49-F238E27FC236}">
                <a16:creationId xmlns:a16="http://schemas.microsoft.com/office/drawing/2014/main" id="{B938E1AA-1822-1204-9654-8172481D3142}"/>
              </a:ext>
            </a:extLst>
          </p:cNvPr>
          <p:cNvSpPr/>
          <p:nvPr/>
        </p:nvSpPr>
        <p:spPr>
          <a:xfrm>
            <a:off x="556524" y="1737677"/>
            <a:ext cx="3274866" cy="620486"/>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vi-VN" sz="1600" b="1">
                <a:solidFill>
                  <a:srgbClr val="FFFFFF"/>
                </a:solidFill>
                <a:latin typeface="Arial" pitchFamily="34" charset="0"/>
                <a:ea typeface="Arial" pitchFamily="34" charset="-122"/>
                <a:cs typeface="Arial" pitchFamily="34" charset="-120"/>
              </a:rPr>
              <a:t>Tên trường (Column Name)</a:t>
            </a:r>
            <a:endParaRPr lang="en-US" sz="1600" dirty="0"/>
          </a:p>
        </p:txBody>
      </p:sp>
      <p:sp>
        <p:nvSpPr>
          <p:cNvPr id="11" name="Text 9">
            <a:extLst>
              <a:ext uri="{FF2B5EF4-FFF2-40B4-BE49-F238E27FC236}">
                <a16:creationId xmlns:a16="http://schemas.microsoft.com/office/drawing/2014/main" id="{F555ADD2-7CC3-DAED-169D-BF511D2519A8}"/>
              </a:ext>
            </a:extLst>
          </p:cNvPr>
          <p:cNvSpPr/>
          <p:nvPr/>
        </p:nvSpPr>
        <p:spPr>
          <a:xfrm>
            <a:off x="3825565" y="1737677"/>
            <a:ext cx="1901087" cy="620486"/>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en-US" sz="1600" b="1">
                <a:solidFill>
                  <a:srgbClr val="FFFFFF"/>
                </a:solidFill>
                <a:latin typeface="Arial" pitchFamily="34" charset="0"/>
                <a:ea typeface="Arial" pitchFamily="34" charset="-122"/>
                <a:cs typeface="Arial" pitchFamily="34" charset="-120"/>
              </a:rPr>
              <a:t>Kiểu dữ liệu</a:t>
            </a:r>
            <a:endParaRPr lang="en-US" sz="1600" dirty="0"/>
          </a:p>
        </p:txBody>
      </p:sp>
      <p:sp>
        <p:nvSpPr>
          <p:cNvPr id="12" name="Text 10">
            <a:extLst>
              <a:ext uri="{FF2B5EF4-FFF2-40B4-BE49-F238E27FC236}">
                <a16:creationId xmlns:a16="http://schemas.microsoft.com/office/drawing/2014/main" id="{96C352D7-7ECE-C613-4568-211DDF65AEE6}"/>
              </a:ext>
            </a:extLst>
          </p:cNvPr>
          <p:cNvSpPr/>
          <p:nvPr/>
        </p:nvSpPr>
        <p:spPr>
          <a:xfrm>
            <a:off x="5726652" y="1737677"/>
            <a:ext cx="2939763" cy="620486"/>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en-US" sz="1600" b="1">
                <a:solidFill>
                  <a:srgbClr val="FFFFFF"/>
                </a:solidFill>
                <a:latin typeface="Arial" pitchFamily="34" charset="0"/>
                <a:ea typeface="Arial" pitchFamily="34" charset="-122"/>
                <a:cs typeface="Arial" pitchFamily="34" charset="-120"/>
              </a:rPr>
              <a:t>Ràng buộc (Constraints)</a:t>
            </a:r>
            <a:endParaRPr lang="en-US" sz="1600" dirty="0"/>
          </a:p>
        </p:txBody>
      </p:sp>
      <p:sp>
        <p:nvSpPr>
          <p:cNvPr id="31" name="Shape 29">
            <a:extLst>
              <a:ext uri="{FF2B5EF4-FFF2-40B4-BE49-F238E27FC236}">
                <a16:creationId xmlns:a16="http://schemas.microsoft.com/office/drawing/2014/main" id="{1A26965D-2248-A968-19EA-7679F3F6C8C4}"/>
              </a:ext>
            </a:extLst>
          </p:cNvPr>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32" name="Text 30">
            <a:extLst>
              <a:ext uri="{FF2B5EF4-FFF2-40B4-BE49-F238E27FC236}">
                <a16:creationId xmlns:a16="http://schemas.microsoft.com/office/drawing/2014/main" id="{D8DAA121-8C1B-D6CD-D4D7-A24641A6318D}"/>
              </a:ext>
            </a:extLst>
          </p:cNvPr>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33" name="Text 31">
            <a:extLst>
              <a:ext uri="{FF2B5EF4-FFF2-40B4-BE49-F238E27FC236}">
                <a16:creationId xmlns:a16="http://schemas.microsoft.com/office/drawing/2014/main" id="{5B294CAA-E18A-18FA-C04E-AEF57BC92252}"/>
              </a:ext>
            </a:extLst>
          </p:cNvPr>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34</a:t>
            </a:r>
            <a:endParaRPr lang="en-US" sz="1000" dirty="0"/>
          </a:p>
        </p:txBody>
      </p:sp>
      <p:sp>
        <p:nvSpPr>
          <p:cNvPr id="34" name="Text 5">
            <a:extLst>
              <a:ext uri="{FF2B5EF4-FFF2-40B4-BE49-F238E27FC236}">
                <a16:creationId xmlns:a16="http://schemas.microsoft.com/office/drawing/2014/main" id="{BA99A8A1-04B8-7045-746A-28832DC3E89C}"/>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III: THIẾT KẾ HỆ THỐNG</a:t>
            </a:r>
          </a:p>
          <a:p>
            <a:pPr marL="0" indent="0">
              <a:buNone/>
            </a:pPr>
            <a:r>
              <a:rPr lang="vi-VN" sz="1200" b="1">
                <a:solidFill>
                  <a:srgbClr val="B50915"/>
                </a:solidFill>
                <a:latin typeface="Arial" pitchFamily="34" charset="0"/>
                <a:cs typeface="Arial" pitchFamily="34" charset="-120"/>
              </a:rPr>
              <a:t>3.2  Thiết kế cơ sở dữ liệu</a:t>
            </a:r>
            <a:endParaRPr lang="en-US" sz="1200" dirty="0"/>
          </a:p>
        </p:txBody>
      </p:sp>
      <p:sp>
        <p:nvSpPr>
          <p:cNvPr id="35" name="Text 10">
            <a:extLst>
              <a:ext uri="{FF2B5EF4-FFF2-40B4-BE49-F238E27FC236}">
                <a16:creationId xmlns:a16="http://schemas.microsoft.com/office/drawing/2014/main" id="{46F4EF8B-021C-41C7-C562-4AA6C5C469B4}"/>
              </a:ext>
            </a:extLst>
          </p:cNvPr>
          <p:cNvSpPr/>
          <p:nvPr/>
        </p:nvSpPr>
        <p:spPr>
          <a:xfrm>
            <a:off x="8666416" y="1737677"/>
            <a:ext cx="2708256" cy="620486"/>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en-US" sz="1600" b="1">
                <a:solidFill>
                  <a:srgbClr val="FFFFFF"/>
                </a:solidFill>
                <a:latin typeface="Arial" pitchFamily="34" charset="0"/>
                <a:ea typeface="Arial" pitchFamily="34" charset="-122"/>
                <a:cs typeface="Arial" pitchFamily="34" charset="-120"/>
              </a:rPr>
              <a:t>Mô tả (Description)</a:t>
            </a:r>
            <a:endParaRPr lang="en-US" sz="1600" dirty="0"/>
          </a:p>
        </p:txBody>
      </p:sp>
      <p:sp>
        <p:nvSpPr>
          <p:cNvPr id="38" name="Text 18">
            <a:extLst>
              <a:ext uri="{FF2B5EF4-FFF2-40B4-BE49-F238E27FC236}">
                <a16:creationId xmlns:a16="http://schemas.microsoft.com/office/drawing/2014/main" id="{3B65BC22-46F8-C743-2524-F96E13716688}"/>
              </a:ext>
            </a:extLst>
          </p:cNvPr>
          <p:cNvSpPr/>
          <p:nvPr/>
        </p:nvSpPr>
        <p:spPr>
          <a:xfrm>
            <a:off x="640079" y="1183154"/>
            <a:ext cx="10588753" cy="620486"/>
          </a:xfrm>
          <a:prstGeom prst="rect">
            <a:avLst/>
          </a:prstGeom>
          <a:noFill/>
          <a:ln/>
        </p:spPr>
        <p:txBody>
          <a:bodyPr wrap="square" lIns="762" tIns="762" rIns="762" bIns="762" rtlCol="0" anchor="t">
            <a:noAutofit/>
          </a:bodyPr>
          <a:lstStyle/>
          <a:p>
            <a:pPr>
              <a:lnSpc>
                <a:spcPct val="115000"/>
              </a:lnSpc>
            </a:pPr>
            <a:r>
              <a:rPr lang="vi-VN" sz="14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Khóa chính (PK): </a:t>
            </a: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MaGD_Nhom5</a:t>
            </a:r>
            <a:endParaRPr lang="vi-VN" sz="1400">
              <a:effectLst/>
              <a:latin typeface="Arial" panose="020B0604020202020204" pitchFamily="34" charset="0"/>
              <a:ea typeface="Arial" panose="020B0604020202020204" pitchFamily="34" charset="0"/>
              <a:cs typeface="Arial" panose="020B0604020202020204" pitchFamily="34" charset="0"/>
            </a:endParaRPr>
          </a:p>
          <a:p>
            <a:pPr>
              <a:lnSpc>
                <a:spcPct val="115000"/>
              </a:lnSpc>
            </a:pPr>
            <a:r>
              <a:rPr lang="vi-VN" sz="14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Khóa ngoại (FK): </a:t>
            </a: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MaKH_Nhom5</a:t>
            </a:r>
            <a:r>
              <a:rPr lang="vi-VN"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 KhachHang_Nhom5(MaKH_Nhom5); </a:t>
            </a: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MaNT_Nhom5</a:t>
            </a:r>
            <a:r>
              <a:rPr lang="vi-VN"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 NganTu_Nhom5(MaNT_Nhom5).</a:t>
            </a:r>
            <a:endParaRPr lang="vi-VN" sz="1400">
              <a:effectLst/>
              <a:latin typeface="Arial" panose="020B0604020202020204" pitchFamily="34" charset="0"/>
              <a:ea typeface="Arial" panose="020B0604020202020204" pitchFamily="34" charset="0"/>
              <a:cs typeface="Arial" panose="020B0604020202020204" pitchFamily="34" charset="0"/>
            </a:endParaRPr>
          </a:p>
        </p:txBody>
      </p:sp>
      <p:graphicFrame>
        <p:nvGraphicFramePr>
          <p:cNvPr id="13" name="Bảng 12">
            <a:extLst>
              <a:ext uri="{FF2B5EF4-FFF2-40B4-BE49-F238E27FC236}">
                <a16:creationId xmlns:a16="http://schemas.microsoft.com/office/drawing/2014/main" id="{B7DB11C6-9CEC-C14B-1221-1F543CFF30F5}"/>
              </a:ext>
            </a:extLst>
          </p:cNvPr>
          <p:cNvGraphicFramePr>
            <a:graphicFrameLocks noGrp="1"/>
          </p:cNvGraphicFramePr>
          <p:nvPr>
            <p:extLst>
              <p:ext uri="{D42A27DB-BD31-4B8C-83A1-F6EECF244321}">
                <p14:modId xmlns:p14="http://schemas.microsoft.com/office/powerpoint/2010/main" val="1053819793"/>
              </p:ext>
            </p:extLst>
          </p:nvPr>
        </p:nvGraphicFramePr>
        <p:xfrm>
          <a:off x="562347" y="2364627"/>
          <a:ext cx="10812325" cy="4053456"/>
        </p:xfrm>
        <a:graphic>
          <a:graphicData uri="http://schemas.openxmlformats.org/drawingml/2006/table">
            <a:tbl>
              <a:tblPr/>
              <a:tblGrid>
                <a:gridCol w="3257559">
                  <a:extLst>
                    <a:ext uri="{9D8B030D-6E8A-4147-A177-3AD203B41FA5}">
                      <a16:colId xmlns:a16="http://schemas.microsoft.com/office/drawing/2014/main" val="3586394282"/>
                    </a:ext>
                  </a:extLst>
                </a:gridCol>
                <a:gridCol w="1894466">
                  <a:extLst>
                    <a:ext uri="{9D8B030D-6E8A-4147-A177-3AD203B41FA5}">
                      <a16:colId xmlns:a16="http://schemas.microsoft.com/office/drawing/2014/main" val="2402639087"/>
                    </a:ext>
                  </a:extLst>
                </a:gridCol>
                <a:gridCol w="2957218">
                  <a:extLst>
                    <a:ext uri="{9D8B030D-6E8A-4147-A177-3AD203B41FA5}">
                      <a16:colId xmlns:a16="http://schemas.microsoft.com/office/drawing/2014/main" val="898904611"/>
                    </a:ext>
                  </a:extLst>
                </a:gridCol>
                <a:gridCol w="2703082">
                  <a:extLst>
                    <a:ext uri="{9D8B030D-6E8A-4147-A177-3AD203B41FA5}">
                      <a16:colId xmlns:a16="http://schemas.microsoft.com/office/drawing/2014/main" val="1072987003"/>
                    </a:ext>
                  </a:extLst>
                </a:gridCol>
              </a:tblGrid>
              <a:tr h="301342">
                <a:tc>
                  <a:txBody>
                    <a:bodyPr/>
                    <a:lstStyle/>
                    <a:p>
                      <a:pPr>
                        <a:lnSpc>
                          <a:spcPct val="105000"/>
                        </a:lnSpc>
                        <a:spcAft>
                          <a:spcPts val="800"/>
                        </a:spcAft>
                      </a:pPr>
                      <a:r>
                        <a:rPr lang="vi-VN" sz="9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MaGD_Nhom5</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VARCHAR(10)</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PK, NOT NULL</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Mã định danh giao dịch bưu kiện.</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594335443"/>
                  </a:ext>
                </a:extLst>
              </a:tr>
              <a:tr h="301342">
                <a:tc>
                  <a:txBody>
                    <a:bodyPr/>
                    <a:lstStyle/>
                    <a:p>
                      <a:pPr>
                        <a:lnSpc>
                          <a:spcPct val="105000"/>
                        </a:lnSpc>
                        <a:spcAft>
                          <a:spcPts val="800"/>
                        </a:spcAft>
                      </a:pPr>
                      <a:r>
                        <a:rPr lang="vi-VN" sz="9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MaKH_Nhom5</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VARCHAR(10)</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NOT NULL, FK</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Đối tượng khởi tạo giao dịch.</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198250581"/>
                  </a:ext>
                </a:extLst>
              </a:tr>
              <a:tr h="301342">
                <a:tc>
                  <a:txBody>
                    <a:bodyPr/>
                    <a:lstStyle/>
                    <a:p>
                      <a:pPr>
                        <a:lnSpc>
                          <a:spcPct val="105000"/>
                        </a:lnSpc>
                        <a:spcAft>
                          <a:spcPts val="800"/>
                        </a:spcAft>
                      </a:pPr>
                      <a:r>
                        <a:rPr lang="vi-VN" sz="9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MaNT_Nhom5</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VARCHAR(10)</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NOT NULL, FK</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Ô ngăn tủ được cấp phát sử dụng.</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025864842"/>
                  </a:ext>
                </a:extLst>
              </a:tr>
              <a:tr h="457316">
                <a:tc>
                  <a:txBody>
                    <a:bodyPr/>
                    <a:lstStyle/>
                    <a:p>
                      <a:pPr>
                        <a:lnSpc>
                          <a:spcPct val="105000"/>
                        </a:lnSpc>
                        <a:spcAft>
                          <a:spcPts val="800"/>
                        </a:spcAft>
                      </a:pPr>
                      <a:r>
                        <a:rPr lang="vi-VN" sz="9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LoaiGD_Nhom5</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NVARCHAR(50)</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NOT NULL,</a:t>
                      </a:r>
                      <a:endParaRPr lang="vi-VN" sz="11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80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CHECK </a:t>
                      </a:r>
                      <a:r>
                        <a:rPr lang="vi-VN" sz="900">
                          <a:solidFill>
                            <a:srgbClr val="000000"/>
                          </a:solidFill>
                          <a:effectLst/>
                          <a:latin typeface="Cambria Math" panose="02040503050406030204" pitchFamily="18" charset="0"/>
                          <a:ea typeface="Consolas" panose="020B0609020204030204" pitchFamily="49" charset="0"/>
                          <a:cs typeface="Cambria Math" panose="02040503050406030204" pitchFamily="18" charset="0"/>
                        </a:rPr>
                        <a:t>∈</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{Giao hàng TMĐT, Tự thuê}</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Phân loại nghiệp vụ.</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931966800"/>
                  </a:ext>
                </a:extLst>
              </a:tr>
              <a:tr h="206310">
                <a:tc>
                  <a:txBody>
                    <a:bodyPr/>
                    <a:lstStyle/>
                    <a:p>
                      <a:pPr>
                        <a:lnSpc>
                          <a:spcPct val="105000"/>
                        </a:lnSpc>
                        <a:spcAft>
                          <a:spcPts val="800"/>
                        </a:spcAft>
                      </a:pPr>
                      <a:r>
                        <a:rPr lang="vi-VN" sz="9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SdtNguoiNhan_Nhom5</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VARCHAR(15)</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NOT NULL</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SĐT người nhận bưu kiện.</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953562759"/>
                  </a:ext>
                </a:extLst>
              </a:tr>
              <a:tr h="301342">
                <a:tc>
                  <a:txBody>
                    <a:bodyPr/>
                    <a:lstStyle/>
                    <a:p>
                      <a:pPr>
                        <a:lnSpc>
                          <a:spcPct val="105000"/>
                        </a:lnSpc>
                        <a:spcAft>
                          <a:spcPts val="800"/>
                        </a:spcAft>
                      </a:pPr>
                      <a:r>
                        <a:rPr lang="vi-VN" sz="9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MaOTP_QR_Nhom5</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VARCHAR(50)</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NULL</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Mã mở tủ (sinh sau khi tạo giao dịch).</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721306583"/>
                  </a:ext>
                </a:extLst>
              </a:tr>
              <a:tr h="301342">
                <a:tc>
                  <a:txBody>
                    <a:bodyPr/>
                    <a:lstStyle/>
                    <a:p>
                      <a:pPr>
                        <a:lnSpc>
                          <a:spcPct val="105000"/>
                        </a:lnSpc>
                        <a:spcAft>
                          <a:spcPts val="800"/>
                        </a:spcAft>
                      </a:pPr>
                      <a:r>
                        <a:rPr lang="vi-VN" sz="9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HanSuDungOTP_Nhom5</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DATETIME</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NULL</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Thời hạn hiệu lực của mã mở tủ.</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610093981"/>
                  </a:ext>
                </a:extLst>
              </a:tr>
              <a:tr h="301342">
                <a:tc>
                  <a:txBody>
                    <a:bodyPr/>
                    <a:lstStyle/>
                    <a:p>
                      <a:pPr>
                        <a:lnSpc>
                          <a:spcPct val="105000"/>
                        </a:lnSpc>
                        <a:spcAft>
                          <a:spcPts val="800"/>
                        </a:spcAft>
                      </a:pPr>
                      <a:r>
                        <a:rPr lang="vi-VN" sz="9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ThoiGianGui_Nhom5</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DATETIME</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NULL</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Mốc cất hàng (cập nhật khi đóng cửa tủ).</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040236062"/>
                  </a:ext>
                </a:extLst>
              </a:tr>
              <a:tr h="301342">
                <a:tc>
                  <a:txBody>
                    <a:bodyPr/>
                    <a:lstStyle/>
                    <a:p>
                      <a:pPr>
                        <a:lnSpc>
                          <a:spcPct val="105000"/>
                        </a:lnSpc>
                        <a:spcAft>
                          <a:spcPts val="800"/>
                        </a:spcAft>
                      </a:pPr>
                      <a:r>
                        <a:rPr lang="vi-VN" sz="9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ThoiGianNhan_Nhom5</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DATETIME</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NULL</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Mốc nhận hàng (NULL khi chưa nhận).</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728923307"/>
                  </a:ext>
                </a:extLst>
              </a:tr>
              <a:tr h="390810">
                <a:tc>
                  <a:txBody>
                    <a:bodyPr/>
                    <a:lstStyle/>
                    <a:p>
                      <a:pPr>
                        <a:lnSpc>
                          <a:spcPct val="105000"/>
                        </a:lnSpc>
                        <a:spcAft>
                          <a:spcPts val="800"/>
                        </a:spcAft>
                      </a:pPr>
                      <a:r>
                        <a:rPr lang="vi-VN" sz="9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TienCOD_Nhom5</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DECIMAL(18,2)</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NOT NULL,</a:t>
                      </a:r>
                      <a:endParaRPr lang="vi-VN" sz="11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80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DEFAULT 0, CHECK ≥ 0</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Tiền thu hộ (0 nếu không có COD).</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310338721"/>
                  </a:ext>
                </a:extLst>
              </a:tr>
              <a:tr h="301342">
                <a:tc>
                  <a:txBody>
                    <a:bodyPr/>
                    <a:lstStyle/>
                    <a:p>
                      <a:pPr>
                        <a:lnSpc>
                          <a:spcPct val="105000"/>
                        </a:lnSpc>
                        <a:spcAft>
                          <a:spcPts val="800"/>
                        </a:spcAft>
                      </a:pPr>
                      <a:r>
                        <a:rPr lang="vi-VN" sz="9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TongTienThanhToan_Nhom5</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DECIMAL(18,2)</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NULL, CHECK ≥ 0</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Tổng phải trả (dẫn xuất, tính khi nhận).</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833671278"/>
                  </a:ext>
                </a:extLst>
              </a:tr>
              <a:tr h="588284">
                <a:tc>
                  <a:txBody>
                    <a:bodyPr/>
                    <a:lstStyle/>
                    <a:p>
                      <a:pPr>
                        <a:lnSpc>
                          <a:spcPct val="105000"/>
                        </a:lnSpc>
                        <a:spcAft>
                          <a:spcPts val="800"/>
                        </a:spcAft>
                      </a:pPr>
                      <a:r>
                        <a:rPr lang="vi-VN" sz="9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TrangThaiGD_Nhom5</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NVARCHAR(30)</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15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NOT NULL,</a:t>
                      </a:r>
                      <a:endParaRPr lang="vi-VN" sz="11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800"/>
                        </a:spcAft>
                      </a:pP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CHECK </a:t>
                      </a:r>
                      <a:r>
                        <a:rPr lang="vi-VN" sz="900">
                          <a:solidFill>
                            <a:srgbClr val="000000"/>
                          </a:solidFill>
                          <a:effectLst/>
                          <a:latin typeface="Cambria Math" panose="02040503050406030204" pitchFamily="18" charset="0"/>
                          <a:ea typeface="Consolas" panose="020B0609020204030204" pitchFamily="49" charset="0"/>
                          <a:cs typeface="Cambria Math" panose="02040503050406030204" pitchFamily="18" charset="0"/>
                        </a:rPr>
                        <a:t>∈</a:t>
                      </a:r>
                      <a:r>
                        <a:rPr lang="vi-VN" sz="900">
                          <a:solidFill>
                            <a:srgbClr val="000000"/>
                          </a:solidFill>
                          <a:effectLst/>
                          <a:latin typeface="Consolas" panose="020B0609020204030204" pitchFamily="49" charset="0"/>
                          <a:ea typeface="Consolas" panose="020B0609020204030204" pitchFamily="49" charset="0"/>
                          <a:cs typeface="Consolas" panose="020B0609020204030204" pitchFamily="49" charset="0"/>
                        </a:rPr>
                        <a:t> {Chờ cất hàng, Chờ nhận hàng, Đã nhận, Hoàn trả}</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9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Trạng thái xử lý đơn hàng.</a:t>
                      </a:r>
                      <a:endParaRPr lang="vi-VN" sz="1100">
                        <a:effectLst/>
                        <a:latin typeface="Arial" panose="020B0604020202020204" pitchFamily="34" charset="0"/>
                        <a:ea typeface="Arial" panose="020B0604020202020204" pitchFamily="34" charset="0"/>
                        <a:cs typeface="Arial" panose="020B0604020202020204" pitchFamily="34" charset="0"/>
                      </a:endParaRPr>
                    </a:p>
                  </a:txBody>
                  <a:tcPr marL="48145" marR="48145" marT="26365" marB="26365"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269574228"/>
                  </a:ext>
                </a:extLst>
              </a:tr>
            </a:tbl>
          </a:graphicData>
        </a:graphic>
      </p:graphicFrame>
    </p:spTree>
    <p:extLst>
      <p:ext uri="{BB962C8B-B14F-4D97-AF65-F5344CB8AC3E}">
        <p14:creationId xmlns:p14="http://schemas.microsoft.com/office/powerpoint/2010/main" val="13769540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a:extLst>
            <a:ext uri="{FF2B5EF4-FFF2-40B4-BE49-F238E27FC236}">
              <a16:creationId xmlns:a16="http://schemas.microsoft.com/office/drawing/2014/main" id="{38C8E47C-4698-A744-A0FA-69F26A276E90}"/>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45598CFD-8054-3013-69A9-52EFC8C91214}"/>
              </a:ext>
            </a:extLst>
          </p:cNvPr>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a:extLst>
              <a:ext uri="{FF2B5EF4-FFF2-40B4-BE49-F238E27FC236}">
                <a16:creationId xmlns:a16="http://schemas.microsoft.com/office/drawing/2014/main" id="{B41F5E63-D229-6CE7-0573-3394DDBC0AAF}"/>
              </a:ext>
            </a:extLst>
          </p:cNvPr>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a:extLst>
              <a:ext uri="{FF2B5EF4-FFF2-40B4-BE49-F238E27FC236}">
                <a16:creationId xmlns:a16="http://schemas.microsoft.com/office/drawing/2014/main" id="{1582FD8E-73A7-99DF-0D19-BE029952AEFF}"/>
              </a:ext>
            </a:extLst>
          </p:cNvPr>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a:extLst>
              <a:ext uri="{FF2B5EF4-FFF2-40B4-BE49-F238E27FC236}">
                <a16:creationId xmlns:a16="http://schemas.microsoft.com/office/drawing/2014/main" id="{510B0559-5729-5CBC-4F7D-0CEF0A8B3B41}"/>
              </a:ext>
            </a:extLst>
          </p:cNvPr>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III</a:t>
            </a:r>
            <a:endParaRPr lang="en-US" sz="750" dirty="0"/>
          </a:p>
        </p:txBody>
      </p:sp>
      <p:sp>
        <p:nvSpPr>
          <p:cNvPr id="8" name="Text 6">
            <a:extLst>
              <a:ext uri="{FF2B5EF4-FFF2-40B4-BE49-F238E27FC236}">
                <a16:creationId xmlns:a16="http://schemas.microsoft.com/office/drawing/2014/main" id="{404E83EC-25F2-9894-8A8E-C4F325A93206}"/>
              </a:ext>
            </a:extLst>
          </p:cNvPr>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vi-VN" sz="2400" b="1">
                <a:solidFill>
                  <a:srgbClr val="1F2328"/>
                </a:solidFill>
                <a:latin typeface="Arial" pitchFamily="34" charset="0"/>
                <a:ea typeface="Arial" pitchFamily="34" charset="-122"/>
                <a:cs typeface="Arial" pitchFamily="34" charset="-120"/>
              </a:rPr>
              <a:t>Bảng ThanhToan_Nhom5 (Nhật ký chứng từ dòng tiền)</a:t>
            </a:r>
            <a:endParaRPr lang="en-US" sz="2400" dirty="0"/>
          </a:p>
        </p:txBody>
      </p:sp>
      <p:sp>
        <p:nvSpPr>
          <p:cNvPr id="9" name="Shape 7">
            <a:extLst>
              <a:ext uri="{FF2B5EF4-FFF2-40B4-BE49-F238E27FC236}">
                <a16:creationId xmlns:a16="http://schemas.microsoft.com/office/drawing/2014/main" id="{50FDCEA6-508B-C0D1-A090-D63EA4CA68CF}"/>
              </a:ext>
            </a:extLst>
          </p:cNvPr>
          <p:cNvSpPr/>
          <p:nvPr/>
        </p:nvSpPr>
        <p:spPr>
          <a:xfrm>
            <a:off x="502920" y="1052319"/>
            <a:ext cx="1188720" cy="0"/>
          </a:xfrm>
          <a:prstGeom prst="line">
            <a:avLst/>
          </a:prstGeom>
          <a:noFill/>
          <a:ln w="27940">
            <a:solidFill>
              <a:srgbClr val="B50915"/>
            </a:solidFill>
            <a:prstDash val="solid"/>
          </a:ln>
        </p:spPr>
        <p:txBody>
          <a:bodyPr/>
          <a:lstStyle/>
          <a:p>
            <a:endParaRPr lang="vi-VN"/>
          </a:p>
        </p:txBody>
      </p:sp>
      <p:sp>
        <p:nvSpPr>
          <p:cNvPr id="10" name="Text 8">
            <a:extLst>
              <a:ext uri="{FF2B5EF4-FFF2-40B4-BE49-F238E27FC236}">
                <a16:creationId xmlns:a16="http://schemas.microsoft.com/office/drawing/2014/main" id="{1D8992A1-BEDF-23AC-8DD1-B8D587045402}"/>
              </a:ext>
            </a:extLst>
          </p:cNvPr>
          <p:cNvSpPr/>
          <p:nvPr/>
        </p:nvSpPr>
        <p:spPr>
          <a:xfrm>
            <a:off x="688848" y="2039112"/>
            <a:ext cx="3148365" cy="620486"/>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vi-VN" sz="1600" b="1">
                <a:solidFill>
                  <a:srgbClr val="FFFFFF"/>
                </a:solidFill>
                <a:latin typeface="Arial" pitchFamily="34" charset="0"/>
                <a:ea typeface="Arial" pitchFamily="34" charset="-122"/>
                <a:cs typeface="Arial" pitchFamily="34" charset="-120"/>
              </a:rPr>
              <a:t>Tên trường (Column Name)</a:t>
            </a:r>
            <a:endParaRPr lang="en-US" sz="1600" dirty="0"/>
          </a:p>
        </p:txBody>
      </p:sp>
      <p:sp>
        <p:nvSpPr>
          <p:cNvPr id="11" name="Text 9">
            <a:extLst>
              <a:ext uri="{FF2B5EF4-FFF2-40B4-BE49-F238E27FC236}">
                <a16:creationId xmlns:a16="http://schemas.microsoft.com/office/drawing/2014/main" id="{BBD10B4E-A755-D4F9-E7F3-BB1F3EDC9D33}"/>
              </a:ext>
            </a:extLst>
          </p:cNvPr>
          <p:cNvSpPr/>
          <p:nvPr/>
        </p:nvSpPr>
        <p:spPr>
          <a:xfrm>
            <a:off x="3837213" y="2039112"/>
            <a:ext cx="1823357" cy="620486"/>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en-US" sz="1600" b="1">
                <a:solidFill>
                  <a:srgbClr val="FFFFFF"/>
                </a:solidFill>
                <a:latin typeface="Arial" pitchFamily="34" charset="0"/>
                <a:ea typeface="Arial" pitchFamily="34" charset="-122"/>
                <a:cs typeface="Arial" pitchFamily="34" charset="-120"/>
              </a:rPr>
              <a:t>Kiểu dữ liệu</a:t>
            </a:r>
            <a:endParaRPr lang="en-US" sz="1600" dirty="0"/>
          </a:p>
        </p:txBody>
      </p:sp>
      <p:sp>
        <p:nvSpPr>
          <p:cNvPr id="12" name="Text 10">
            <a:extLst>
              <a:ext uri="{FF2B5EF4-FFF2-40B4-BE49-F238E27FC236}">
                <a16:creationId xmlns:a16="http://schemas.microsoft.com/office/drawing/2014/main" id="{2C3AC4B0-492F-F251-18F2-B7ECCB3CD79B}"/>
              </a:ext>
            </a:extLst>
          </p:cNvPr>
          <p:cNvSpPr/>
          <p:nvPr/>
        </p:nvSpPr>
        <p:spPr>
          <a:xfrm>
            <a:off x="5660571" y="2039112"/>
            <a:ext cx="2884714" cy="620486"/>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en-US" sz="1600" b="1">
                <a:solidFill>
                  <a:srgbClr val="FFFFFF"/>
                </a:solidFill>
                <a:latin typeface="Arial" pitchFamily="34" charset="0"/>
                <a:ea typeface="Arial" pitchFamily="34" charset="-122"/>
                <a:cs typeface="Arial" pitchFamily="34" charset="-120"/>
              </a:rPr>
              <a:t>Ràng buộc (Constraints)</a:t>
            </a:r>
            <a:endParaRPr lang="en-US" sz="1600" dirty="0"/>
          </a:p>
        </p:txBody>
      </p:sp>
      <p:sp>
        <p:nvSpPr>
          <p:cNvPr id="31" name="Shape 29">
            <a:extLst>
              <a:ext uri="{FF2B5EF4-FFF2-40B4-BE49-F238E27FC236}">
                <a16:creationId xmlns:a16="http://schemas.microsoft.com/office/drawing/2014/main" id="{8227481C-174F-1216-E7AF-024C2762FA40}"/>
              </a:ext>
            </a:extLst>
          </p:cNvPr>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32" name="Text 30">
            <a:extLst>
              <a:ext uri="{FF2B5EF4-FFF2-40B4-BE49-F238E27FC236}">
                <a16:creationId xmlns:a16="http://schemas.microsoft.com/office/drawing/2014/main" id="{50408619-9F1F-09F3-F2BE-C7F6AE50D4CC}"/>
              </a:ext>
            </a:extLst>
          </p:cNvPr>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33" name="Text 31">
            <a:extLst>
              <a:ext uri="{FF2B5EF4-FFF2-40B4-BE49-F238E27FC236}">
                <a16:creationId xmlns:a16="http://schemas.microsoft.com/office/drawing/2014/main" id="{77B8AA3E-0B65-D332-0FE8-D22EB4210CF6}"/>
              </a:ext>
            </a:extLst>
          </p:cNvPr>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34</a:t>
            </a:r>
            <a:endParaRPr lang="en-US" sz="1000" dirty="0"/>
          </a:p>
        </p:txBody>
      </p:sp>
      <p:sp>
        <p:nvSpPr>
          <p:cNvPr id="34" name="Text 5">
            <a:extLst>
              <a:ext uri="{FF2B5EF4-FFF2-40B4-BE49-F238E27FC236}">
                <a16:creationId xmlns:a16="http://schemas.microsoft.com/office/drawing/2014/main" id="{6D853EA7-1D2B-D758-CC39-96A8DFD0B37C}"/>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III: THIẾT KẾ HỆ THỐNG</a:t>
            </a:r>
          </a:p>
          <a:p>
            <a:pPr marL="0" indent="0">
              <a:buNone/>
            </a:pPr>
            <a:r>
              <a:rPr lang="vi-VN" sz="1200" b="1">
                <a:solidFill>
                  <a:srgbClr val="B50915"/>
                </a:solidFill>
                <a:latin typeface="Arial" pitchFamily="34" charset="0"/>
                <a:cs typeface="Arial" pitchFamily="34" charset="-120"/>
              </a:rPr>
              <a:t>3.2  Thiết kế cơ sở dữ liệu</a:t>
            </a:r>
            <a:endParaRPr lang="en-US" sz="1200" dirty="0"/>
          </a:p>
        </p:txBody>
      </p:sp>
      <p:sp>
        <p:nvSpPr>
          <p:cNvPr id="35" name="Text 10">
            <a:extLst>
              <a:ext uri="{FF2B5EF4-FFF2-40B4-BE49-F238E27FC236}">
                <a16:creationId xmlns:a16="http://schemas.microsoft.com/office/drawing/2014/main" id="{91BD7CE6-31BF-97D5-AF5F-E6418949F3AD}"/>
              </a:ext>
            </a:extLst>
          </p:cNvPr>
          <p:cNvSpPr/>
          <p:nvPr/>
        </p:nvSpPr>
        <p:spPr>
          <a:xfrm>
            <a:off x="8545286" y="2039112"/>
            <a:ext cx="2612572" cy="620486"/>
          </a:xfrm>
          <a:prstGeom prst="rect">
            <a:avLst/>
          </a:prstGeom>
          <a:solidFill>
            <a:srgbClr val="B50915"/>
          </a:solidFill>
          <a:ln w="6350">
            <a:solidFill>
              <a:srgbClr val="D9DDE3"/>
            </a:solidFill>
          </a:ln>
        </p:spPr>
        <p:txBody>
          <a:bodyPr wrap="square" lIns="635" tIns="635" rIns="635" bIns="635" rtlCol="0" anchor="ctr">
            <a:normAutofit/>
          </a:bodyPr>
          <a:lstStyle/>
          <a:p>
            <a:pPr marL="0" indent="0" algn="ctr">
              <a:buNone/>
            </a:pPr>
            <a:r>
              <a:rPr lang="en-US" sz="1600" b="1">
                <a:solidFill>
                  <a:srgbClr val="FFFFFF"/>
                </a:solidFill>
                <a:latin typeface="Arial" pitchFamily="34" charset="0"/>
                <a:ea typeface="Arial" pitchFamily="34" charset="-122"/>
                <a:cs typeface="Arial" pitchFamily="34" charset="-120"/>
              </a:rPr>
              <a:t>Mô tả (Description)</a:t>
            </a:r>
            <a:endParaRPr lang="en-US" sz="1600" dirty="0"/>
          </a:p>
        </p:txBody>
      </p:sp>
      <p:sp>
        <p:nvSpPr>
          <p:cNvPr id="38" name="Text 18">
            <a:extLst>
              <a:ext uri="{FF2B5EF4-FFF2-40B4-BE49-F238E27FC236}">
                <a16:creationId xmlns:a16="http://schemas.microsoft.com/office/drawing/2014/main" id="{2736AF71-DE4B-46F6-F928-280609960127}"/>
              </a:ext>
            </a:extLst>
          </p:cNvPr>
          <p:cNvSpPr/>
          <p:nvPr/>
        </p:nvSpPr>
        <p:spPr>
          <a:xfrm>
            <a:off x="640079" y="1241398"/>
            <a:ext cx="10588753" cy="674766"/>
          </a:xfrm>
          <a:prstGeom prst="rect">
            <a:avLst/>
          </a:prstGeom>
          <a:noFill/>
          <a:ln/>
        </p:spPr>
        <p:txBody>
          <a:bodyPr wrap="square" lIns="762" tIns="762" rIns="762" bIns="762" rtlCol="0" anchor="t">
            <a:noAutofit/>
          </a:bodyPr>
          <a:lstStyle/>
          <a:p>
            <a:pPr>
              <a:lnSpc>
                <a:spcPct val="115000"/>
              </a:lnSpc>
            </a:pPr>
            <a:r>
              <a:rPr lang="vi-VN" sz="14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Khóa chính (PK): </a:t>
            </a: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MaTT_Nhom5</a:t>
            </a:r>
            <a:endParaRPr lang="vi-VN" sz="1400">
              <a:effectLst/>
              <a:latin typeface="Arial" panose="020B0604020202020204" pitchFamily="34" charset="0"/>
              <a:ea typeface="Arial" panose="020B0604020202020204" pitchFamily="34" charset="0"/>
              <a:cs typeface="Arial" panose="020B0604020202020204" pitchFamily="34" charset="0"/>
            </a:endParaRPr>
          </a:p>
          <a:p>
            <a:pPr>
              <a:lnSpc>
                <a:spcPct val="115000"/>
              </a:lnSpc>
            </a:pPr>
            <a:r>
              <a:rPr lang="vi-VN" sz="14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Khóa ngoại (FK): </a:t>
            </a: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MaGD_Nhom5</a:t>
            </a:r>
            <a:r>
              <a:rPr lang="vi-VN"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 GiaoDich_Nhom5(MaGD_Nhom5).</a:t>
            </a:r>
            <a:endParaRPr lang="vi-VN" sz="1400">
              <a:effectLst/>
              <a:latin typeface="Arial" panose="020B0604020202020204" pitchFamily="34" charset="0"/>
              <a:ea typeface="Arial" panose="020B0604020202020204" pitchFamily="34" charset="0"/>
              <a:cs typeface="Arial" panose="020B0604020202020204" pitchFamily="34" charset="0"/>
            </a:endParaRPr>
          </a:p>
        </p:txBody>
      </p:sp>
      <p:graphicFrame>
        <p:nvGraphicFramePr>
          <p:cNvPr id="7" name="Bảng 6">
            <a:extLst>
              <a:ext uri="{FF2B5EF4-FFF2-40B4-BE49-F238E27FC236}">
                <a16:creationId xmlns:a16="http://schemas.microsoft.com/office/drawing/2014/main" id="{65F47F05-30B5-1C8E-B8CA-08F20C9D533E}"/>
              </a:ext>
            </a:extLst>
          </p:cNvPr>
          <p:cNvGraphicFramePr>
            <a:graphicFrameLocks noGrp="1"/>
          </p:cNvGraphicFramePr>
          <p:nvPr>
            <p:extLst>
              <p:ext uri="{D42A27DB-BD31-4B8C-83A1-F6EECF244321}">
                <p14:modId xmlns:p14="http://schemas.microsoft.com/office/powerpoint/2010/main" val="1987363557"/>
              </p:ext>
            </p:extLst>
          </p:nvPr>
        </p:nvGraphicFramePr>
        <p:xfrm>
          <a:off x="688848" y="2670760"/>
          <a:ext cx="10469011" cy="3161513"/>
        </p:xfrm>
        <a:graphic>
          <a:graphicData uri="http://schemas.openxmlformats.org/drawingml/2006/table">
            <a:tbl>
              <a:tblPr/>
              <a:tblGrid>
                <a:gridCol w="3154125">
                  <a:extLst>
                    <a:ext uri="{9D8B030D-6E8A-4147-A177-3AD203B41FA5}">
                      <a16:colId xmlns:a16="http://schemas.microsoft.com/office/drawing/2014/main" val="931233909"/>
                    </a:ext>
                  </a:extLst>
                </a:gridCol>
                <a:gridCol w="1834314">
                  <a:extLst>
                    <a:ext uri="{9D8B030D-6E8A-4147-A177-3AD203B41FA5}">
                      <a16:colId xmlns:a16="http://schemas.microsoft.com/office/drawing/2014/main" val="102225952"/>
                    </a:ext>
                  </a:extLst>
                </a:gridCol>
                <a:gridCol w="2863319">
                  <a:extLst>
                    <a:ext uri="{9D8B030D-6E8A-4147-A177-3AD203B41FA5}">
                      <a16:colId xmlns:a16="http://schemas.microsoft.com/office/drawing/2014/main" val="3968767915"/>
                    </a:ext>
                  </a:extLst>
                </a:gridCol>
                <a:gridCol w="2617253">
                  <a:extLst>
                    <a:ext uri="{9D8B030D-6E8A-4147-A177-3AD203B41FA5}">
                      <a16:colId xmlns:a16="http://schemas.microsoft.com/office/drawing/2014/main" val="1402005570"/>
                    </a:ext>
                  </a:extLst>
                </a:gridCol>
              </a:tblGrid>
              <a:tr h="445190">
                <a:tc>
                  <a:txBody>
                    <a:bodyPr/>
                    <a:lstStyle/>
                    <a:p>
                      <a:pPr>
                        <a:lnSpc>
                          <a:spcPct val="105000"/>
                        </a:lnSpc>
                        <a:spcAft>
                          <a:spcPts val="800"/>
                        </a:spcAft>
                      </a:pPr>
                      <a:r>
                        <a:rPr lang="vi-VN" sz="14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MaTT_Nhom5</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VARCHAR(10)</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PK, NOT NULL</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Mã định danh duy nhất của chứng từ.</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221017212"/>
                  </a:ext>
                </a:extLst>
              </a:tr>
              <a:tr h="445190">
                <a:tc>
                  <a:txBody>
                    <a:bodyPr/>
                    <a:lstStyle/>
                    <a:p>
                      <a:pPr>
                        <a:lnSpc>
                          <a:spcPct val="105000"/>
                        </a:lnSpc>
                        <a:spcAft>
                          <a:spcPts val="800"/>
                        </a:spcAft>
                      </a:pPr>
                      <a:r>
                        <a:rPr lang="vi-VN" sz="14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MaGD_Nhom5</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VARCHAR(10)</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NOT NULL, FK</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Giao dịch phát sinh phí liên kết.</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085747562"/>
                  </a:ext>
                </a:extLst>
              </a:tr>
              <a:tr h="349877">
                <a:tc>
                  <a:txBody>
                    <a:bodyPr/>
                    <a:lstStyle/>
                    <a:p>
                      <a:pPr>
                        <a:lnSpc>
                          <a:spcPct val="105000"/>
                        </a:lnSpc>
                        <a:spcAft>
                          <a:spcPts val="800"/>
                        </a:spcAft>
                      </a:pPr>
                      <a:r>
                        <a:rPr lang="vi-VN" sz="14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SoTien_Nhom5</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DECIMAL(18,2)</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NOT NULL, CHECK ≥ 0</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Giá trị dòng tiền quyết toán.</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52955368"/>
                  </a:ext>
                </a:extLst>
              </a:tr>
              <a:tr h="780096">
                <a:tc>
                  <a:txBody>
                    <a:bodyPr/>
                    <a:lstStyle/>
                    <a:p>
                      <a:pPr>
                        <a:lnSpc>
                          <a:spcPct val="105000"/>
                        </a:lnSpc>
                        <a:spcAft>
                          <a:spcPts val="800"/>
                        </a:spcAft>
                      </a:pPr>
                      <a:r>
                        <a:rPr lang="vi-VN" sz="14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PhuongThucTT_Nhom5</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NVARCHAR(20)</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15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NOT NULL,</a:t>
                      </a:r>
                      <a:endParaRPr lang="vi-VN" sz="14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CHECK </a:t>
                      </a:r>
                      <a:r>
                        <a:rPr lang="vi-VN" sz="1400">
                          <a:solidFill>
                            <a:srgbClr val="000000"/>
                          </a:solidFill>
                          <a:effectLst/>
                          <a:latin typeface="Cambria Math" panose="02040503050406030204" pitchFamily="18" charset="0"/>
                          <a:ea typeface="Consolas" panose="020B0609020204030204" pitchFamily="49" charset="0"/>
                          <a:cs typeface="Cambria Math" panose="02040503050406030204" pitchFamily="18" charset="0"/>
                        </a:rPr>
                        <a:t>∈</a:t>
                      </a: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 {Viettel Money, Momo, VNPay}</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Kênh ví trung gian.</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614829583"/>
                  </a:ext>
                </a:extLst>
              </a:tr>
              <a:tr h="671916">
                <a:tc>
                  <a:txBody>
                    <a:bodyPr/>
                    <a:lstStyle/>
                    <a:p>
                      <a:pPr>
                        <a:lnSpc>
                          <a:spcPct val="105000"/>
                        </a:lnSpc>
                        <a:spcAft>
                          <a:spcPts val="800"/>
                        </a:spcAft>
                      </a:pPr>
                      <a:r>
                        <a:rPr lang="vi-VN" sz="14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TrangThaiTT_Nhom5</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NVARCHAR(20)</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15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NOT NULL,</a:t>
                      </a:r>
                      <a:endParaRPr lang="vi-VN" sz="1400">
                        <a:effectLst/>
                        <a:latin typeface="Arial" panose="020B0604020202020204" pitchFamily="34" charset="0"/>
                        <a:ea typeface="Arial" panose="020B0604020202020204" pitchFamily="34" charset="0"/>
                        <a:cs typeface="Arial" panose="020B0604020202020204" pitchFamily="34" charset="0"/>
                      </a:endParaRPr>
                    </a:p>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CHECK </a:t>
                      </a:r>
                      <a:r>
                        <a:rPr lang="vi-VN" sz="1400">
                          <a:solidFill>
                            <a:srgbClr val="000000"/>
                          </a:solidFill>
                          <a:effectLst/>
                          <a:latin typeface="Cambria Math" panose="02040503050406030204" pitchFamily="18" charset="0"/>
                          <a:ea typeface="Consolas" panose="020B0609020204030204" pitchFamily="49" charset="0"/>
                          <a:cs typeface="Cambria Math" panose="02040503050406030204" pitchFamily="18" charset="0"/>
                        </a:rPr>
                        <a:t>∈</a:t>
                      </a: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 {Thành công, Thất bại}</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Kết quả xác thực từ cổng ví.</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86305771"/>
                  </a:ext>
                </a:extLst>
              </a:tr>
              <a:tr h="349877">
                <a:tc>
                  <a:txBody>
                    <a:bodyPr/>
                    <a:lstStyle/>
                    <a:p>
                      <a:pPr>
                        <a:lnSpc>
                          <a:spcPct val="105000"/>
                        </a:lnSpc>
                        <a:spcAft>
                          <a:spcPts val="800"/>
                        </a:spcAft>
                      </a:pPr>
                      <a:r>
                        <a:rPr lang="vi-VN" sz="1400" b="1">
                          <a:solidFill>
                            <a:srgbClr val="000000"/>
                          </a:solidFill>
                          <a:effectLst/>
                          <a:latin typeface="Consolas" panose="020B0609020204030204" pitchFamily="49" charset="0"/>
                          <a:ea typeface="Consolas" panose="020B0609020204030204" pitchFamily="49" charset="0"/>
                          <a:cs typeface="Consolas" panose="020B0609020204030204" pitchFamily="49" charset="0"/>
                        </a:rPr>
                        <a:t>ThoiGianTT_Nhom5</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DATETIME</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Consolas" panose="020B0609020204030204" pitchFamily="49" charset="0"/>
                          <a:ea typeface="Consolas" panose="020B0609020204030204" pitchFamily="49" charset="0"/>
                          <a:cs typeface="Consolas" panose="020B0609020204030204" pitchFamily="49" charset="0"/>
                        </a:rPr>
                        <a:t>NOT NULL</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nSpc>
                          <a:spcPct val="105000"/>
                        </a:lnSpc>
                        <a:spcAft>
                          <a:spcPts val="800"/>
                        </a:spcAft>
                      </a:pPr>
                      <a:r>
                        <a:rPr lang="vi-VN" sz="1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Mốc ghi nhận quyết toán.</a:t>
                      </a:r>
                      <a:endParaRPr lang="vi-VN" sz="1400">
                        <a:effectLst/>
                        <a:latin typeface="Arial" panose="020B0604020202020204" pitchFamily="34" charset="0"/>
                        <a:ea typeface="Arial" panose="020B0604020202020204" pitchFamily="34" charset="0"/>
                        <a:cs typeface="Arial" panose="020B0604020202020204" pitchFamily="34" charset="0"/>
                      </a:endParaRPr>
                    </a:p>
                  </a:txBody>
                  <a:tcPr marL="53340" marR="53340" marT="29210" marB="2921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844137220"/>
                  </a:ext>
                </a:extLst>
              </a:tr>
            </a:tbl>
          </a:graphicData>
        </a:graphic>
      </p:graphicFrame>
    </p:spTree>
    <p:extLst>
      <p:ext uri="{BB962C8B-B14F-4D97-AF65-F5344CB8AC3E}">
        <p14:creationId xmlns:p14="http://schemas.microsoft.com/office/powerpoint/2010/main" val="23303889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35">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305"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III</a:t>
            </a:r>
            <a:endParaRPr lang="en-US" sz="750" dirty="0"/>
          </a:p>
        </p:txBody>
      </p:sp>
      <p:sp>
        <p:nvSpPr>
          <p:cNvPr id="8" name="Text 6"/>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a:solidFill>
                  <a:srgbClr val="1F2328"/>
                </a:solidFill>
                <a:latin typeface="Arial" pitchFamily="34" charset="0"/>
                <a:ea typeface="Arial" pitchFamily="34" charset="-122"/>
                <a:cs typeface="Arial" pitchFamily="34" charset="-120"/>
              </a:rPr>
              <a:t>Chuẩn hóa và đảm bảo toàn vẹn dữ liệu</a:t>
            </a:r>
            <a:endParaRPr lang="en-US" sz="2400" dirty="0"/>
          </a:p>
        </p:txBody>
      </p:sp>
      <p:sp>
        <p:nvSpPr>
          <p:cNvPr id="9" name="Shape 7"/>
          <p:cNvSpPr/>
          <p:nvPr/>
        </p:nvSpPr>
        <p:spPr>
          <a:xfrm>
            <a:off x="502920" y="1034846"/>
            <a:ext cx="1188720" cy="0"/>
          </a:xfrm>
          <a:prstGeom prst="line">
            <a:avLst/>
          </a:prstGeom>
          <a:noFill/>
          <a:ln w="27940">
            <a:solidFill>
              <a:srgbClr val="B50915"/>
            </a:solidFill>
            <a:prstDash val="solid"/>
          </a:ln>
        </p:spPr>
        <p:txBody>
          <a:bodyPr/>
          <a:lstStyle/>
          <a:p>
            <a:endParaRPr lang="vi-VN"/>
          </a:p>
        </p:txBody>
      </p:sp>
      <p:sp>
        <p:nvSpPr>
          <p:cNvPr id="10" name="Text 8"/>
          <p:cNvSpPr/>
          <p:nvPr/>
        </p:nvSpPr>
        <p:spPr>
          <a:xfrm>
            <a:off x="868680" y="1622914"/>
            <a:ext cx="1508760" cy="768004"/>
          </a:xfrm>
          <a:prstGeom prst="rect">
            <a:avLst/>
          </a:prstGeom>
          <a:solidFill>
            <a:srgbClr val="B50915"/>
          </a:solidFill>
          <a:ln>
            <a:solidFill>
              <a:srgbClr val="B50915"/>
            </a:solid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3NF</a:t>
            </a:r>
            <a:endParaRPr lang="en-US" sz="1600" dirty="0"/>
          </a:p>
        </p:txBody>
      </p:sp>
      <p:sp>
        <p:nvSpPr>
          <p:cNvPr id="11" name="Text 9"/>
          <p:cNvSpPr/>
          <p:nvPr/>
        </p:nvSpPr>
        <p:spPr>
          <a:xfrm>
            <a:off x="2514600" y="1622914"/>
            <a:ext cx="3490154" cy="768004"/>
          </a:xfrm>
          <a:prstGeom prst="rect">
            <a:avLst/>
          </a:prstGeom>
          <a:solidFill>
            <a:srgbClr val="FFFFFF"/>
          </a:solidFill>
          <a:ln>
            <a:solidFill>
              <a:srgbClr val="D9DDE3"/>
            </a:solidFill>
          </a:ln>
        </p:spPr>
        <p:txBody>
          <a:bodyPr wrap="square" lIns="635" tIns="635" rIns="635" bIns="635" rtlCol="0" anchor="ctr">
            <a:normAutofit/>
          </a:bodyPr>
          <a:lstStyle/>
          <a:p>
            <a:pPr marL="0" indent="0">
              <a:buNone/>
            </a:pPr>
            <a:r>
              <a:rPr lang="en-US" sz="1600" dirty="0">
                <a:solidFill>
                  <a:srgbClr val="1F2328"/>
                </a:solidFill>
                <a:latin typeface="Arial" pitchFamily="34" charset="0"/>
                <a:ea typeface="Arial" pitchFamily="34" charset="-122"/>
                <a:cs typeface="Arial" pitchFamily="34" charset="-120"/>
              </a:rPr>
              <a:t>Không lặp biểu phí ở từng ngăn; tách riêng sang LoaiNganTu_Nhom5.</a:t>
            </a:r>
            <a:endParaRPr lang="en-US" sz="1600" dirty="0"/>
          </a:p>
        </p:txBody>
      </p:sp>
      <p:sp>
        <p:nvSpPr>
          <p:cNvPr id="12" name="Text 10"/>
          <p:cNvSpPr/>
          <p:nvPr/>
        </p:nvSpPr>
        <p:spPr>
          <a:xfrm>
            <a:off x="6263640" y="1622914"/>
            <a:ext cx="1508760" cy="768004"/>
          </a:xfrm>
          <a:prstGeom prst="rect">
            <a:avLst/>
          </a:prstGeom>
          <a:solidFill>
            <a:srgbClr val="B50915"/>
          </a:solidFill>
          <a:ln>
            <a:solidFill>
              <a:srgbClr val="B50915"/>
            </a:solid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Entity integrity</a:t>
            </a:r>
            <a:endParaRPr lang="en-US" sz="1600" dirty="0"/>
          </a:p>
        </p:txBody>
      </p:sp>
      <p:sp>
        <p:nvSpPr>
          <p:cNvPr id="13" name="Text 11"/>
          <p:cNvSpPr/>
          <p:nvPr/>
        </p:nvSpPr>
        <p:spPr>
          <a:xfrm>
            <a:off x="7909560" y="1622913"/>
            <a:ext cx="3749040" cy="768003"/>
          </a:xfrm>
          <a:prstGeom prst="rect">
            <a:avLst/>
          </a:prstGeom>
          <a:solidFill>
            <a:srgbClr val="FFFFFF"/>
          </a:solidFill>
          <a:ln>
            <a:solidFill>
              <a:srgbClr val="D9DDE3"/>
            </a:solidFill>
          </a:ln>
        </p:spPr>
        <p:txBody>
          <a:bodyPr wrap="square" lIns="635" tIns="635" rIns="635" bIns="635" rtlCol="0" anchor="ctr">
            <a:normAutofit/>
          </a:bodyPr>
          <a:lstStyle/>
          <a:p>
            <a:pPr marL="0" indent="0">
              <a:buNone/>
            </a:pPr>
            <a:r>
              <a:rPr lang="en-US" sz="1600" dirty="0">
                <a:solidFill>
                  <a:srgbClr val="1F2328"/>
                </a:solidFill>
                <a:latin typeface="Arial" pitchFamily="34" charset="0"/>
                <a:ea typeface="Arial" pitchFamily="34" charset="-122"/>
                <a:cs typeface="Arial" pitchFamily="34" charset="-120"/>
              </a:rPr>
              <a:t>Mỗi bảng có khóa chính duy nhất, NOT NULL.</a:t>
            </a:r>
            <a:endParaRPr lang="en-US" sz="1600" dirty="0"/>
          </a:p>
        </p:txBody>
      </p:sp>
      <p:sp>
        <p:nvSpPr>
          <p:cNvPr id="14" name="Text 12"/>
          <p:cNvSpPr/>
          <p:nvPr/>
        </p:nvSpPr>
        <p:spPr>
          <a:xfrm>
            <a:off x="868680" y="2818915"/>
            <a:ext cx="1508760" cy="756799"/>
          </a:xfrm>
          <a:prstGeom prst="rect">
            <a:avLst/>
          </a:prstGeom>
          <a:solidFill>
            <a:srgbClr val="B50915"/>
          </a:solidFill>
          <a:ln>
            <a:solidFill>
              <a:srgbClr val="B50915"/>
            </a:solid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Referential integrity</a:t>
            </a:r>
            <a:endParaRPr lang="en-US" sz="1600" dirty="0"/>
          </a:p>
        </p:txBody>
      </p:sp>
      <p:sp>
        <p:nvSpPr>
          <p:cNvPr id="15" name="Text 13"/>
          <p:cNvSpPr/>
          <p:nvPr/>
        </p:nvSpPr>
        <p:spPr>
          <a:xfrm>
            <a:off x="2514599" y="2818915"/>
            <a:ext cx="3490153" cy="756799"/>
          </a:xfrm>
          <a:prstGeom prst="rect">
            <a:avLst/>
          </a:prstGeom>
          <a:solidFill>
            <a:srgbClr val="FFFFFF"/>
          </a:solidFill>
          <a:ln>
            <a:solidFill>
              <a:srgbClr val="D9DDE3"/>
            </a:solidFill>
          </a:ln>
        </p:spPr>
        <p:txBody>
          <a:bodyPr wrap="square" lIns="635" tIns="635" rIns="635" bIns="635" rtlCol="0" anchor="ctr">
            <a:normAutofit/>
          </a:bodyPr>
          <a:lstStyle/>
          <a:p>
            <a:pPr marL="0" indent="0">
              <a:buNone/>
            </a:pPr>
            <a:r>
              <a:rPr lang="en-US" sz="1600" dirty="0">
                <a:solidFill>
                  <a:srgbClr val="1F2328"/>
                </a:solidFill>
                <a:latin typeface="Arial" pitchFamily="34" charset="0"/>
                <a:ea typeface="Arial" pitchFamily="34" charset="-122"/>
                <a:cs typeface="Arial" pitchFamily="34" charset="-120"/>
              </a:rPr>
              <a:t>Khóa ngoại liên kết bảng cha; nên ON UPDATE CASCADE, ON DELETE RESTRICT.</a:t>
            </a:r>
            <a:endParaRPr lang="en-US" sz="1600" dirty="0"/>
          </a:p>
        </p:txBody>
      </p:sp>
      <p:sp>
        <p:nvSpPr>
          <p:cNvPr id="16" name="Text 14"/>
          <p:cNvSpPr/>
          <p:nvPr/>
        </p:nvSpPr>
        <p:spPr>
          <a:xfrm>
            <a:off x="6263640" y="2818915"/>
            <a:ext cx="1508760" cy="756799"/>
          </a:xfrm>
          <a:prstGeom prst="rect">
            <a:avLst/>
          </a:prstGeom>
          <a:solidFill>
            <a:srgbClr val="B50915"/>
          </a:solidFill>
          <a:ln>
            <a:solidFill>
              <a:srgbClr val="B50915"/>
            </a:solid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Domain integrity</a:t>
            </a:r>
            <a:endParaRPr lang="en-US" sz="1600" dirty="0"/>
          </a:p>
        </p:txBody>
      </p:sp>
      <p:sp>
        <p:nvSpPr>
          <p:cNvPr id="17" name="Text 15"/>
          <p:cNvSpPr/>
          <p:nvPr/>
        </p:nvSpPr>
        <p:spPr>
          <a:xfrm>
            <a:off x="7909560" y="2818915"/>
            <a:ext cx="3749040" cy="756799"/>
          </a:xfrm>
          <a:prstGeom prst="rect">
            <a:avLst/>
          </a:prstGeom>
          <a:solidFill>
            <a:srgbClr val="FFFFFF"/>
          </a:solidFill>
          <a:ln>
            <a:solidFill>
              <a:srgbClr val="D9DDE3"/>
            </a:solidFill>
          </a:ln>
        </p:spPr>
        <p:txBody>
          <a:bodyPr wrap="square" lIns="635" tIns="635" rIns="635" bIns="635" rtlCol="0" anchor="ctr">
            <a:normAutofit/>
          </a:bodyPr>
          <a:lstStyle/>
          <a:p>
            <a:pPr marL="0" indent="0">
              <a:buNone/>
            </a:pPr>
            <a:r>
              <a:rPr lang="en-US" sz="1600" dirty="0">
                <a:solidFill>
                  <a:srgbClr val="1F2328"/>
                </a:solidFill>
                <a:latin typeface="Arial" pitchFamily="34" charset="0"/>
                <a:ea typeface="Arial" pitchFamily="34" charset="-122"/>
                <a:cs typeface="Arial" pitchFamily="34" charset="-120"/>
              </a:rPr>
              <a:t>CHECK cho trạng thái, vai trò, loại giao dịch, kênh ví, kích thước.</a:t>
            </a:r>
            <a:endParaRPr lang="en-US" sz="1600" dirty="0"/>
          </a:p>
        </p:txBody>
      </p:sp>
      <p:sp>
        <p:nvSpPr>
          <p:cNvPr id="18" name="Text 16"/>
          <p:cNvSpPr/>
          <p:nvPr/>
        </p:nvSpPr>
        <p:spPr>
          <a:xfrm>
            <a:off x="868680" y="4025275"/>
            <a:ext cx="1508760" cy="756799"/>
          </a:xfrm>
          <a:prstGeom prst="rect">
            <a:avLst/>
          </a:prstGeom>
          <a:solidFill>
            <a:srgbClr val="B50915"/>
          </a:solidFill>
          <a:ln>
            <a:solidFill>
              <a:srgbClr val="B50915"/>
            </a:solid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Hạ chuẩn có kiểm soát</a:t>
            </a:r>
            <a:endParaRPr lang="en-US" sz="1600" dirty="0"/>
          </a:p>
        </p:txBody>
      </p:sp>
      <p:sp>
        <p:nvSpPr>
          <p:cNvPr id="19" name="Text 17"/>
          <p:cNvSpPr/>
          <p:nvPr/>
        </p:nvSpPr>
        <p:spPr>
          <a:xfrm>
            <a:off x="2514600" y="4025275"/>
            <a:ext cx="9144000" cy="756799"/>
          </a:xfrm>
          <a:prstGeom prst="rect">
            <a:avLst/>
          </a:prstGeom>
          <a:solidFill>
            <a:srgbClr val="FFFFFF"/>
          </a:solidFill>
          <a:ln>
            <a:solidFill>
              <a:srgbClr val="D9DDE3"/>
            </a:solidFill>
          </a:ln>
        </p:spPr>
        <p:txBody>
          <a:bodyPr wrap="square" lIns="635" tIns="635" rIns="635" bIns="635" rtlCol="0" anchor="ctr">
            <a:normAutofit/>
          </a:bodyPr>
          <a:lstStyle/>
          <a:p>
            <a:pPr marL="0" indent="0">
              <a:buNone/>
            </a:pPr>
            <a:r>
              <a:rPr lang="en-US" sz="1600" dirty="0">
                <a:solidFill>
                  <a:srgbClr val="1F2328"/>
                </a:solidFill>
                <a:latin typeface="Arial" pitchFamily="34" charset="0"/>
                <a:ea typeface="Arial" pitchFamily="34" charset="-122"/>
                <a:cs typeface="Arial" pitchFamily="34" charset="-120"/>
              </a:rPr>
              <a:t>Lưu TongTienThanhToan để đối soát và báo cáo nhanh.</a:t>
            </a:r>
            <a:endParaRPr lang="en-US" sz="1600" dirty="0"/>
          </a:p>
        </p:txBody>
      </p:sp>
      <p:sp>
        <p:nvSpPr>
          <p:cNvPr id="20" name="Text 18"/>
          <p:cNvSpPr/>
          <p:nvPr/>
        </p:nvSpPr>
        <p:spPr>
          <a:xfrm>
            <a:off x="1097280" y="5532120"/>
            <a:ext cx="9966960" cy="457200"/>
          </a:xfrm>
          <a:prstGeom prst="rect">
            <a:avLst/>
          </a:prstGeom>
          <a:noFill/>
          <a:ln/>
        </p:spPr>
        <p:txBody>
          <a:bodyPr wrap="square" lIns="762" tIns="762" rIns="762" bIns="762" rtlCol="0" anchor="t">
            <a:normAutofit/>
          </a:bodyPr>
          <a:lstStyle/>
          <a:p>
            <a:pPr marL="0" indent="0" algn="ctr">
              <a:buNone/>
            </a:pPr>
            <a:r>
              <a:rPr lang="en-US" sz="1450" b="1" dirty="0">
                <a:solidFill>
                  <a:srgbClr val="1F2328"/>
                </a:solidFill>
                <a:latin typeface="Arial" pitchFamily="34" charset="0"/>
                <a:ea typeface="Arial" pitchFamily="34" charset="-122"/>
                <a:cs typeface="Arial" pitchFamily="34" charset="-120"/>
              </a:rPr>
              <a:t>Thiết kế dữ liệu bảo toàn lịch sử giao dịch: không xóa trạm/ngăn khi còn bản ghi tham chiếu, giúp truy vết và đối soát về sau.</a:t>
            </a:r>
            <a:endParaRPr lang="en-US" sz="1450" dirty="0"/>
          </a:p>
        </p:txBody>
      </p:sp>
      <p:sp>
        <p:nvSpPr>
          <p:cNvPr id="21" name="Shape 19"/>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22" name="Text 20"/>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23" name="Text 21"/>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35</a:t>
            </a:r>
            <a:endParaRPr lang="en-US" sz="1000" dirty="0"/>
          </a:p>
        </p:txBody>
      </p:sp>
      <p:sp>
        <p:nvSpPr>
          <p:cNvPr id="24" name="Text 5">
            <a:extLst>
              <a:ext uri="{FF2B5EF4-FFF2-40B4-BE49-F238E27FC236}">
                <a16:creationId xmlns:a16="http://schemas.microsoft.com/office/drawing/2014/main" id="{60042B0F-4A42-7109-A0D1-8B20AA7D98A4}"/>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III: THIẾT KẾ HỆ THỐNG</a:t>
            </a:r>
          </a:p>
          <a:p>
            <a:pPr marL="0" indent="0">
              <a:buNone/>
            </a:pPr>
            <a:r>
              <a:rPr lang="vi-VN" sz="1200" b="1">
                <a:solidFill>
                  <a:srgbClr val="B50915"/>
                </a:solidFill>
                <a:latin typeface="Arial" pitchFamily="34" charset="0"/>
                <a:cs typeface="Arial" pitchFamily="34" charset="-120"/>
              </a:rPr>
              <a:t>3.2  Thiết kế cơ sở dữ liệu</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36">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IV</a:t>
            </a:r>
            <a:endParaRPr lang="en-US" sz="750" dirty="0"/>
          </a:p>
        </p:txBody>
      </p:sp>
      <p:sp>
        <p:nvSpPr>
          <p:cNvPr id="8" name="Text 6"/>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dirty="0">
                <a:solidFill>
                  <a:srgbClr val="1F2328"/>
                </a:solidFill>
                <a:latin typeface="Arial" pitchFamily="34" charset="0"/>
                <a:ea typeface="Arial" pitchFamily="34" charset="-122"/>
                <a:cs typeface="Arial" pitchFamily="34" charset="-120"/>
              </a:rPr>
              <a:t>Kết quả đạt được</a:t>
            </a:r>
            <a:endParaRPr lang="en-US" sz="2400" dirty="0"/>
          </a:p>
        </p:txBody>
      </p:sp>
      <p:sp>
        <p:nvSpPr>
          <p:cNvPr id="9" name="Shape 7"/>
          <p:cNvSpPr/>
          <p:nvPr/>
        </p:nvSpPr>
        <p:spPr>
          <a:xfrm>
            <a:off x="502920" y="1063967"/>
            <a:ext cx="1188720" cy="0"/>
          </a:xfrm>
          <a:prstGeom prst="line">
            <a:avLst/>
          </a:prstGeom>
          <a:noFill/>
          <a:ln w="27940">
            <a:solidFill>
              <a:srgbClr val="B50915"/>
            </a:solidFill>
            <a:prstDash val="solid"/>
          </a:ln>
        </p:spPr>
        <p:txBody>
          <a:bodyPr/>
          <a:lstStyle/>
          <a:p>
            <a:endParaRPr lang="vi-VN"/>
          </a:p>
        </p:txBody>
      </p:sp>
      <p:sp>
        <p:nvSpPr>
          <p:cNvPr id="10" name="Text 8"/>
          <p:cNvSpPr/>
          <p:nvPr/>
        </p:nvSpPr>
        <p:spPr>
          <a:xfrm>
            <a:off x="822960" y="1353312"/>
            <a:ext cx="2011680" cy="475488"/>
          </a:xfrm>
          <a:prstGeom prst="rect">
            <a:avLst/>
          </a:prstGeom>
          <a:solidFill>
            <a:srgbClr val="FFFFFF"/>
          </a:solidFill>
          <a:ln w="10160">
            <a:solidFill>
              <a:srgbClr val="E0E2E6"/>
            </a:solidFill>
          </a:ln>
        </p:spPr>
        <p:txBody>
          <a:bodyPr wrap="square" lIns="0" tIns="0" rIns="0" bIns="0" rtlCol="0" anchor="ctr">
            <a:normAutofit/>
          </a:bodyPr>
          <a:lstStyle/>
          <a:p>
            <a:pPr marL="0" indent="0" algn="ctr">
              <a:buNone/>
            </a:pPr>
            <a:r>
              <a:rPr lang="en-US" sz="2700" b="1" dirty="0">
                <a:solidFill>
                  <a:srgbClr val="B50915"/>
                </a:solidFill>
                <a:latin typeface="Arial" pitchFamily="34" charset="0"/>
                <a:ea typeface="Arial" pitchFamily="34" charset="-122"/>
                <a:cs typeface="Arial" pitchFamily="34" charset="-120"/>
              </a:rPr>
              <a:t>01</a:t>
            </a:r>
            <a:endParaRPr lang="en-US" sz="2700" dirty="0"/>
          </a:p>
        </p:txBody>
      </p:sp>
      <p:sp>
        <p:nvSpPr>
          <p:cNvPr id="11" name="Text 9"/>
          <p:cNvSpPr/>
          <p:nvPr/>
        </p:nvSpPr>
        <p:spPr>
          <a:xfrm>
            <a:off x="822960" y="1865376"/>
            <a:ext cx="2011680" cy="347472"/>
          </a:xfrm>
          <a:prstGeom prst="rect">
            <a:avLst/>
          </a:prstGeom>
          <a:noFill/>
          <a:ln/>
        </p:spPr>
        <p:txBody>
          <a:bodyPr wrap="square" lIns="254" tIns="254" rIns="254" bIns="254" rtlCol="0" anchor="ctr"/>
          <a:lstStyle/>
          <a:p>
            <a:pPr marL="0" indent="0" algn="ctr">
              <a:buNone/>
            </a:pPr>
            <a:r>
              <a:rPr lang="en-US" sz="1050" b="1" dirty="0">
                <a:solidFill>
                  <a:srgbClr val="5B616E"/>
                </a:solidFill>
                <a:latin typeface="Arial" pitchFamily="34" charset="0"/>
                <a:ea typeface="Arial" pitchFamily="34" charset="-122"/>
                <a:cs typeface="Arial" pitchFamily="34" charset="-120"/>
              </a:rPr>
              <a:t>K</a:t>
            </a:r>
            <a:r>
              <a:rPr lang="en-US" sz="1050" b="1">
                <a:solidFill>
                  <a:srgbClr val="5B616E"/>
                </a:solidFill>
                <a:latin typeface="Arial" pitchFamily="34" charset="0"/>
                <a:ea typeface="Arial" pitchFamily="34" charset="-122"/>
                <a:cs typeface="Arial" pitchFamily="34" charset="-120"/>
              </a:rPr>
              <a:t>hảo </a:t>
            </a:r>
            <a:r>
              <a:rPr lang="en-US" sz="1050" b="1" dirty="0">
                <a:solidFill>
                  <a:srgbClr val="5B616E"/>
                </a:solidFill>
                <a:latin typeface="Arial" pitchFamily="34" charset="0"/>
                <a:ea typeface="Arial" pitchFamily="34" charset="-122"/>
                <a:cs typeface="Arial" pitchFamily="34" charset="-120"/>
              </a:rPr>
              <a:t>sát hiện trạng &amp; vấn đề</a:t>
            </a:r>
            <a:endParaRPr lang="en-US" sz="1050" dirty="0"/>
          </a:p>
        </p:txBody>
      </p:sp>
      <p:sp>
        <p:nvSpPr>
          <p:cNvPr id="12" name="Text 10"/>
          <p:cNvSpPr/>
          <p:nvPr/>
        </p:nvSpPr>
        <p:spPr>
          <a:xfrm>
            <a:off x="3063240" y="1353312"/>
            <a:ext cx="2011680" cy="475488"/>
          </a:xfrm>
          <a:prstGeom prst="rect">
            <a:avLst/>
          </a:prstGeom>
          <a:solidFill>
            <a:srgbClr val="FFFFFF"/>
          </a:solidFill>
          <a:ln w="10160">
            <a:solidFill>
              <a:srgbClr val="E0E2E6"/>
            </a:solidFill>
          </a:ln>
        </p:spPr>
        <p:txBody>
          <a:bodyPr wrap="square" lIns="0" tIns="0" rIns="0" bIns="0" rtlCol="0" anchor="ctr">
            <a:normAutofit/>
          </a:bodyPr>
          <a:lstStyle/>
          <a:p>
            <a:pPr marL="0" indent="0" algn="ctr">
              <a:buNone/>
            </a:pPr>
            <a:r>
              <a:rPr lang="en-US" sz="2700" b="1" dirty="0">
                <a:solidFill>
                  <a:srgbClr val="B50915"/>
                </a:solidFill>
                <a:latin typeface="Arial" pitchFamily="34" charset="0"/>
                <a:ea typeface="Arial" pitchFamily="34" charset="-122"/>
                <a:cs typeface="Arial" pitchFamily="34" charset="-120"/>
              </a:rPr>
              <a:t>05</a:t>
            </a:r>
            <a:endParaRPr lang="en-US" sz="2700" dirty="0"/>
          </a:p>
        </p:txBody>
      </p:sp>
      <p:sp>
        <p:nvSpPr>
          <p:cNvPr id="13" name="Text 11"/>
          <p:cNvSpPr/>
          <p:nvPr/>
        </p:nvSpPr>
        <p:spPr>
          <a:xfrm>
            <a:off x="3063240" y="1865376"/>
            <a:ext cx="2011680" cy="347472"/>
          </a:xfrm>
          <a:prstGeom prst="rect">
            <a:avLst/>
          </a:prstGeom>
          <a:noFill/>
          <a:ln/>
        </p:spPr>
        <p:txBody>
          <a:bodyPr wrap="square" lIns="254" tIns="254" rIns="254" bIns="254" rtlCol="0" anchor="ctr"/>
          <a:lstStyle/>
          <a:p>
            <a:pPr marL="0" indent="0" algn="ctr">
              <a:buNone/>
            </a:pPr>
            <a:r>
              <a:rPr lang="en-US" sz="1050" b="1" dirty="0">
                <a:solidFill>
                  <a:srgbClr val="5B616E"/>
                </a:solidFill>
                <a:latin typeface="Arial" pitchFamily="34" charset="0"/>
                <a:ea typeface="Arial" pitchFamily="34" charset="-122"/>
                <a:cs typeface="Arial" pitchFamily="34" charset="-120"/>
              </a:rPr>
              <a:t>N</a:t>
            </a:r>
            <a:r>
              <a:rPr lang="en-US" sz="1050" b="1">
                <a:solidFill>
                  <a:srgbClr val="5B616E"/>
                </a:solidFill>
                <a:latin typeface="Arial" pitchFamily="34" charset="0"/>
                <a:ea typeface="Arial" pitchFamily="34" charset="-122"/>
                <a:cs typeface="Arial" pitchFamily="34" charset="-120"/>
              </a:rPr>
              <a:t>ghiệp </a:t>
            </a:r>
            <a:r>
              <a:rPr lang="en-US" sz="1050" b="1" dirty="0">
                <a:solidFill>
                  <a:srgbClr val="5B616E"/>
                </a:solidFill>
                <a:latin typeface="Arial" pitchFamily="34" charset="0"/>
                <a:ea typeface="Arial" pitchFamily="34" charset="-122"/>
                <a:cs typeface="Arial" pitchFamily="34" charset="-120"/>
              </a:rPr>
              <a:t>vụ cốt lõi được chuẩn hóa</a:t>
            </a:r>
            <a:endParaRPr lang="en-US" sz="1050" dirty="0"/>
          </a:p>
        </p:txBody>
      </p:sp>
      <p:sp>
        <p:nvSpPr>
          <p:cNvPr id="14" name="Text 12"/>
          <p:cNvSpPr/>
          <p:nvPr/>
        </p:nvSpPr>
        <p:spPr>
          <a:xfrm>
            <a:off x="5303520" y="1353312"/>
            <a:ext cx="2011680" cy="475488"/>
          </a:xfrm>
          <a:prstGeom prst="rect">
            <a:avLst/>
          </a:prstGeom>
          <a:solidFill>
            <a:srgbClr val="FFFFFF"/>
          </a:solidFill>
          <a:ln w="10160">
            <a:solidFill>
              <a:srgbClr val="E0E2E6"/>
            </a:solidFill>
          </a:ln>
        </p:spPr>
        <p:txBody>
          <a:bodyPr wrap="square" lIns="0" tIns="0" rIns="0" bIns="0" rtlCol="0" anchor="ctr">
            <a:normAutofit/>
          </a:bodyPr>
          <a:lstStyle/>
          <a:p>
            <a:pPr marL="0" indent="0" algn="ctr">
              <a:buNone/>
            </a:pPr>
            <a:r>
              <a:rPr lang="en-US" sz="2700" b="1" dirty="0">
                <a:solidFill>
                  <a:srgbClr val="B50915"/>
                </a:solidFill>
                <a:latin typeface="Arial" pitchFamily="34" charset="0"/>
                <a:ea typeface="Arial" pitchFamily="34" charset="-122"/>
                <a:cs typeface="Arial" pitchFamily="34" charset="-120"/>
              </a:rPr>
              <a:t>UML</a:t>
            </a:r>
            <a:endParaRPr lang="en-US" sz="2700" dirty="0"/>
          </a:p>
        </p:txBody>
      </p:sp>
      <p:sp>
        <p:nvSpPr>
          <p:cNvPr id="15" name="Text 13"/>
          <p:cNvSpPr/>
          <p:nvPr/>
        </p:nvSpPr>
        <p:spPr>
          <a:xfrm>
            <a:off x="5303520" y="1865376"/>
            <a:ext cx="2011680" cy="347472"/>
          </a:xfrm>
          <a:prstGeom prst="rect">
            <a:avLst/>
          </a:prstGeom>
          <a:noFill/>
          <a:ln/>
        </p:spPr>
        <p:txBody>
          <a:bodyPr wrap="square" lIns="254" tIns="254" rIns="254" bIns="254" rtlCol="0" anchor="ctr"/>
          <a:lstStyle/>
          <a:p>
            <a:pPr marL="0" indent="0" algn="ctr">
              <a:buNone/>
            </a:pPr>
            <a:r>
              <a:rPr lang="en-US" sz="1050" b="1" dirty="0">
                <a:solidFill>
                  <a:srgbClr val="5B616E"/>
                </a:solidFill>
                <a:latin typeface="Arial" pitchFamily="34" charset="0"/>
                <a:ea typeface="Arial" pitchFamily="34" charset="-122"/>
                <a:cs typeface="Arial" pitchFamily="34" charset="-120"/>
              </a:rPr>
              <a:t>Use Case • Class • Sequence</a:t>
            </a:r>
            <a:endParaRPr lang="en-US" sz="1050" dirty="0"/>
          </a:p>
        </p:txBody>
      </p:sp>
      <p:sp>
        <p:nvSpPr>
          <p:cNvPr id="16" name="Text 14"/>
          <p:cNvSpPr/>
          <p:nvPr/>
        </p:nvSpPr>
        <p:spPr>
          <a:xfrm>
            <a:off x="7543800" y="1353312"/>
            <a:ext cx="2011680" cy="475488"/>
          </a:xfrm>
          <a:prstGeom prst="rect">
            <a:avLst/>
          </a:prstGeom>
          <a:solidFill>
            <a:srgbClr val="FFFFFF"/>
          </a:solidFill>
          <a:ln w="10160">
            <a:solidFill>
              <a:srgbClr val="E0E2E6"/>
            </a:solidFill>
          </a:ln>
        </p:spPr>
        <p:txBody>
          <a:bodyPr wrap="square" lIns="0" tIns="0" rIns="0" bIns="0" rtlCol="0" anchor="ctr">
            <a:normAutofit/>
          </a:bodyPr>
          <a:lstStyle/>
          <a:p>
            <a:pPr marL="0" indent="0" algn="ctr">
              <a:buNone/>
            </a:pPr>
            <a:r>
              <a:rPr lang="en-US" sz="2700" b="1" dirty="0">
                <a:solidFill>
                  <a:srgbClr val="B50915"/>
                </a:solidFill>
                <a:latin typeface="Arial" pitchFamily="34" charset="0"/>
                <a:ea typeface="Arial" pitchFamily="34" charset="-122"/>
                <a:cs typeface="Arial" pitchFamily="34" charset="-120"/>
              </a:rPr>
              <a:t>06</a:t>
            </a:r>
            <a:endParaRPr lang="en-US" sz="2700" dirty="0"/>
          </a:p>
        </p:txBody>
      </p:sp>
      <p:sp>
        <p:nvSpPr>
          <p:cNvPr id="17" name="Text 15"/>
          <p:cNvSpPr/>
          <p:nvPr/>
        </p:nvSpPr>
        <p:spPr>
          <a:xfrm>
            <a:off x="7543800" y="1865376"/>
            <a:ext cx="2011680" cy="347472"/>
          </a:xfrm>
          <a:prstGeom prst="rect">
            <a:avLst/>
          </a:prstGeom>
          <a:noFill/>
          <a:ln/>
        </p:spPr>
        <p:txBody>
          <a:bodyPr wrap="square" lIns="254" tIns="254" rIns="254" bIns="254" rtlCol="0" anchor="ctr"/>
          <a:lstStyle/>
          <a:p>
            <a:pPr marL="0" indent="0" algn="ctr">
              <a:buNone/>
            </a:pPr>
            <a:r>
              <a:rPr lang="en-US" sz="1050" b="1" dirty="0">
                <a:solidFill>
                  <a:srgbClr val="5B616E"/>
                </a:solidFill>
                <a:latin typeface="Arial" pitchFamily="34" charset="0"/>
                <a:ea typeface="Arial" pitchFamily="34" charset="-122"/>
                <a:cs typeface="Arial" pitchFamily="34" charset="-120"/>
              </a:rPr>
              <a:t>L</a:t>
            </a:r>
            <a:r>
              <a:rPr lang="en-US" sz="1050" b="1">
                <a:solidFill>
                  <a:srgbClr val="5B616E"/>
                </a:solidFill>
                <a:latin typeface="Arial" pitchFamily="34" charset="0"/>
                <a:ea typeface="Arial" pitchFamily="34" charset="-122"/>
                <a:cs typeface="Arial" pitchFamily="34" charset="-120"/>
              </a:rPr>
              <a:t>ớp </a:t>
            </a:r>
            <a:r>
              <a:rPr lang="en-US" sz="1050" b="1" dirty="0">
                <a:solidFill>
                  <a:srgbClr val="5B616E"/>
                </a:solidFill>
                <a:latin typeface="Arial" pitchFamily="34" charset="0"/>
                <a:ea typeface="Arial" pitchFamily="34" charset="-122"/>
                <a:cs typeface="Arial" pitchFamily="34" charset="-120"/>
              </a:rPr>
              <a:t>thực thể thiết kế chi tiết</a:t>
            </a:r>
            <a:endParaRPr lang="en-US" sz="1050" dirty="0"/>
          </a:p>
        </p:txBody>
      </p:sp>
      <p:sp>
        <p:nvSpPr>
          <p:cNvPr id="18" name="Text 16"/>
          <p:cNvSpPr/>
          <p:nvPr/>
        </p:nvSpPr>
        <p:spPr>
          <a:xfrm>
            <a:off x="9784080" y="1353312"/>
            <a:ext cx="2011680" cy="475488"/>
          </a:xfrm>
          <a:prstGeom prst="rect">
            <a:avLst/>
          </a:prstGeom>
          <a:solidFill>
            <a:srgbClr val="FFFFFF"/>
          </a:solidFill>
          <a:ln w="10160">
            <a:solidFill>
              <a:srgbClr val="E0E2E6"/>
            </a:solidFill>
          </a:ln>
        </p:spPr>
        <p:txBody>
          <a:bodyPr wrap="square" lIns="0" tIns="0" rIns="0" bIns="0" rtlCol="0" anchor="ctr">
            <a:normAutofit/>
          </a:bodyPr>
          <a:lstStyle/>
          <a:p>
            <a:pPr marL="0" indent="0" algn="ctr">
              <a:buNone/>
            </a:pPr>
            <a:r>
              <a:rPr lang="en-US" sz="2700" b="1" dirty="0">
                <a:solidFill>
                  <a:srgbClr val="B50915"/>
                </a:solidFill>
                <a:latin typeface="Arial" pitchFamily="34" charset="0"/>
                <a:ea typeface="Arial" pitchFamily="34" charset="-122"/>
                <a:cs typeface="Arial" pitchFamily="34" charset="-120"/>
              </a:rPr>
              <a:t>DB</a:t>
            </a:r>
            <a:endParaRPr lang="en-US" sz="2700" dirty="0"/>
          </a:p>
        </p:txBody>
      </p:sp>
      <p:sp>
        <p:nvSpPr>
          <p:cNvPr id="19" name="Text 17"/>
          <p:cNvSpPr/>
          <p:nvPr/>
        </p:nvSpPr>
        <p:spPr>
          <a:xfrm>
            <a:off x="9784080" y="1865376"/>
            <a:ext cx="2011680" cy="347472"/>
          </a:xfrm>
          <a:prstGeom prst="rect">
            <a:avLst/>
          </a:prstGeom>
          <a:noFill/>
          <a:ln/>
        </p:spPr>
        <p:txBody>
          <a:bodyPr wrap="square" lIns="254" tIns="254" rIns="254" bIns="254" rtlCol="0" anchor="ctr"/>
          <a:lstStyle/>
          <a:p>
            <a:pPr marL="0" indent="0" algn="ctr">
              <a:buNone/>
            </a:pPr>
            <a:r>
              <a:rPr lang="en-US" sz="1050" b="1" dirty="0">
                <a:solidFill>
                  <a:srgbClr val="5B616E"/>
                </a:solidFill>
                <a:latin typeface="Arial" pitchFamily="34" charset="0"/>
                <a:ea typeface="Arial" pitchFamily="34" charset="-122"/>
                <a:cs typeface="Arial" pitchFamily="34" charset="-120"/>
              </a:rPr>
              <a:t>L</a:t>
            </a:r>
            <a:r>
              <a:rPr lang="en-US" sz="1050" b="1">
                <a:solidFill>
                  <a:srgbClr val="5B616E"/>
                </a:solidFill>
                <a:latin typeface="Arial" pitchFamily="34" charset="0"/>
                <a:ea typeface="Arial" pitchFamily="34" charset="-122"/>
                <a:cs typeface="Arial" pitchFamily="34" charset="-120"/>
              </a:rPr>
              <a:t>ược </a:t>
            </a:r>
            <a:r>
              <a:rPr lang="en-US" sz="1050" b="1" dirty="0">
                <a:solidFill>
                  <a:srgbClr val="5B616E"/>
                </a:solidFill>
                <a:latin typeface="Arial" pitchFamily="34" charset="0"/>
                <a:ea typeface="Arial" pitchFamily="34" charset="-122"/>
                <a:cs typeface="Arial" pitchFamily="34" charset="-120"/>
              </a:rPr>
              <a:t>đồ quan hệ 3NF</a:t>
            </a:r>
            <a:endParaRPr lang="en-US" sz="1050" dirty="0"/>
          </a:p>
        </p:txBody>
      </p:sp>
      <p:sp>
        <p:nvSpPr>
          <p:cNvPr id="20" name="Text 18"/>
          <p:cNvSpPr/>
          <p:nvPr/>
        </p:nvSpPr>
        <p:spPr>
          <a:xfrm>
            <a:off x="822960" y="2335506"/>
            <a:ext cx="3038487" cy="3928131"/>
          </a:xfrm>
          <a:prstGeom prst="rect">
            <a:avLst/>
          </a:prstGeom>
          <a:noFill/>
          <a:ln/>
        </p:spPr>
        <p:txBody>
          <a:bodyPr wrap="square" lIns="635" tIns="635" rIns="635" bIns="635" rtlCol="0" anchor="t">
            <a:normAutofit/>
          </a:bodyPr>
          <a:lstStyle/>
          <a:p>
            <a:pPr marL="342900" lvl="0" indent="-342900" algn="just">
              <a:lnSpc>
                <a:spcPct val="120000"/>
              </a:lnSpc>
              <a:spcAft>
                <a:spcPts val="450"/>
              </a:spcAft>
              <a:buFont typeface="Arial" panose="020B0604020202020204" pitchFamily="34" charset="0"/>
              <a:buChar char="•"/>
            </a:pPr>
            <a:r>
              <a:rPr lang="vi-VN" sz="16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Khảo sát và chuẩn hóa nghiệp vụ: </a:t>
            </a:r>
            <a:r>
              <a:rPr lang="vi-VN" sz="16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làm rõ các điểm nghẽn trong quy trình giao nhận chặng cuối (last-mile delivery) tại sảnh chung cư, từ đó đề xuất và đặc tả thành công </a:t>
            </a:r>
            <a:r>
              <a:rPr lang="vi-VN" sz="16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năm luồng nghiệp vụ cốt lõi</a:t>
            </a:r>
            <a:r>
              <a:rPr lang="vi-VN" sz="16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 đăng nhập &amp; phân quyền, bưu tá giao hàng TMĐT, cư dân nhận hàng &amp; thanh toán, cư dân tự thuê tủ, và quản trị trạm tủ &amp; biểu phí — bằng năm biểu đồ hoạt động (Activity Diagram).</a:t>
            </a:r>
            <a:endParaRPr lang="vi-VN" sz="1600">
              <a:effectLst/>
              <a:latin typeface="Arial" panose="020B0604020202020204" pitchFamily="34" charset="0"/>
              <a:ea typeface="Arial" panose="020B0604020202020204" pitchFamily="34" charset="0"/>
              <a:cs typeface="Arial" panose="020B0604020202020204" pitchFamily="34" charset="0"/>
            </a:endParaRPr>
          </a:p>
        </p:txBody>
      </p:sp>
      <p:sp>
        <p:nvSpPr>
          <p:cNvPr id="21" name="Shape 19"/>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22" name="Text 20"/>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23" name="Text 21"/>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36</a:t>
            </a:r>
            <a:endParaRPr lang="en-US" sz="1000" dirty="0"/>
          </a:p>
        </p:txBody>
      </p:sp>
      <p:sp>
        <p:nvSpPr>
          <p:cNvPr id="24" name="Text 5">
            <a:extLst>
              <a:ext uri="{FF2B5EF4-FFF2-40B4-BE49-F238E27FC236}">
                <a16:creationId xmlns:a16="http://schemas.microsoft.com/office/drawing/2014/main" id="{77CA71F9-1055-7175-0C86-774518B18013}"/>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IV: KẾT LUẬN VÀ HƯỚNG PHÁT TRIỂN</a:t>
            </a:r>
          </a:p>
          <a:p>
            <a:pPr marL="0" indent="0">
              <a:buNone/>
            </a:pPr>
            <a:r>
              <a:rPr lang="vi-VN" sz="1200" b="1">
                <a:solidFill>
                  <a:srgbClr val="B50915"/>
                </a:solidFill>
                <a:latin typeface="Arial" pitchFamily="34" charset="0"/>
                <a:cs typeface="Arial" pitchFamily="34" charset="-120"/>
              </a:rPr>
              <a:t>4.1  Tóm tắt kết quả đạt được của đề tài</a:t>
            </a:r>
            <a:endParaRPr lang="en-US" sz="1200" dirty="0"/>
          </a:p>
        </p:txBody>
      </p:sp>
      <p:sp>
        <p:nvSpPr>
          <p:cNvPr id="7" name="Text 18">
            <a:extLst>
              <a:ext uri="{FF2B5EF4-FFF2-40B4-BE49-F238E27FC236}">
                <a16:creationId xmlns:a16="http://schemas.microsoft.com/office/drawing/2014/main" id="{38FC2229-33FD-0CE1-AB96-4F5DE06E1ED6}"/>
              </a:ext>
            </a:extLst>
          </p:cNvPr>
          <p:cNvSpPr/>
          <p:nvPr/>
        </p:nvSpPr>
        <p:spPr>
          <a:xfrm>
            <a:off x="4551033" y="2341331"/>
            <a:ext cx="3209424" cy="3675069"/>
          </a:xfrm>
          <a:prstGeom prst="rect">
            <a:avLst/>
          </a:prstGeom>
          <a:noFill/>
          <a:ln/>
        </p:spPr>
        <p:txBody>
          <a:bodyPr wrap="square" lIns="635" tIns="635" rIns="635" bIns="635" rtlCol="0" anchor="t">
            <a:normAutofit/>
          </a:bodyPr>
          <a:lstStyle/>
          <a:p>
            <a:pPr marL="342900" lvl="0" indent="-342900" algn="just">
              <a:lnSpc>
                <a:spcPct val="120000"/>
              </a:lnSpc>
              <a:spcAft>
                <a:spcPts val="450"/>
              </a:spcAft>
              <a:buFont typeface="Arial" panose="020B0604020202020204" pitchFamily="34" charset="0"/>
              <a:buChar char="•"/>
            </a:pPr>
            <a:r>
              <a:rPr lang="vi-VN" sz="16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Phân tích hệ thống toàn diện: </a:t>
            </a:r>
            <a:r>
              <a:rPr lang="vi-VN" sz="16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xây dựng biểu đồ Use Case tổng quát cho ba nhóm tác nhân (Bưu tá, Cư dân, Quản trị viên); phân tích cấu trúc theo ba loại lớp phân tích biên/điều khiển/thực thể (boundary/control/entity); và mô hình hóa hành vi bằng </a:t>
            </a:r>
            <a:r>
              <a:rPr lang="vi-VN" sz="16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năm biểu đồ trình tự (Sequence Diagram)</a:t>
            </a:r>
            <a:r>
              <a:rPr lang="vi-VN" sz="16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có sử dụng khung tương tác alt/opt của UML 2.0 để bao quát đầy đủ các kịch bản chính và thay thế.</a:t>
            </a:r>
            <a:endParaRPr lang="vi-VN" sz="1600">
              <a:effectLst/>
              <a:latin typeface="Arial" panose="020B0604020202020204" pitchFamily="34" charset="0"/>
              <a:ea typeface="Arial" panose="020B0604020202020204" pitchFamily="34" charset="0"/>
              <a:cs typeface="Arial" panose="020B0604020202020204" pitchFamily="34" charset="0"/>
            </a:endParaRPr>
          </a:p>
        </p:txBody>
      </p:sp>
      <p:sp>
        <p:nvSpPr>
          <p:cNvPr id="25" name="Text 18">
            <a:extLst>
              <a:ext uri="{FF2B5EF4-FFF2-40B4-BE49-F238E27FC236}">
                <a16:creationId xmlns:a16="http://schemas.microsoft.com/office/drawing/2014/main" id="{04BB9A35-E51F-CCCA-B24F-3B3F7C510A69}"/>
              </a:ext>
            </a:extLst>
          </p:cNvPr>
          <p:cNvSpPr/>
          <p:nvPr/>
        </p:nvSpPr>
        <p:spPr>
          <a:xfrm>
            <a:off x="8502645" y="2335505"/>
            <a:ext cx="3293115" cy="3891555"/>
          </a:xfrm>
          <a:prstGeom prst="rect">
            <a:avLst/>
          </a:prstGeom>
          <a:noFill/>
          <a:ln/>
        </p:spPr>
        <p:txBody>
          <a:bodyPr wrap="square" lIns="635" tIns="635" rIns="635" bIns="635" rtlCol="0" anchor="t">
            <a:normAutofit fontScale="92500" lnSpcReduction="10000"/>
          </a:bodyPr>
          <a:lstStyle/>
          <a:p>
            <a:pPr marL="342900" lvl="0" indent="-342900" algn="just">
              <a:lnSpc>
                <a:spcPct val="120000"/>
              </a:lnSpc>
              <a:spcAft>
                <a:spcPts val="450"/>
              </a:spcAft>
              <a:buFont typeface="Arial" panose="020B0604020202020204" pitchFamily="34" charset="0"/>
              <a:buChar char="•"/>
            </a:pPr>
            <a:r>
              <a:rPr lang="vi-VN" sz="16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Thiết kế chi tiết và khả thi: </a:t>
            </a:r>
            <a:r>
              <a:rPr lang="vi-VN" sz="16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chuyển đổi thành công từ mô hình phân tích logic sang mô hình thiết kế vật lý. Nhóm đã đặc tả chi tiết các lớp (thuộc tính, tầm nhìn, chữ ký thao tác), xây dựng biểu đồ lớp thiết kế tổng hợp với </a:t>
            </a:r>
            <a:r>
              <a:rPr lang="vi-VN" sz="16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sáu lớp thực thể</a:t>
            </a:r>
            <a:r>
              <a:rPr lang="vi-VN" sz="16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(KhachHang, TramTu, LoaiNganTu, NganTu, GiaoDich, ThanhToan), và ánh xạ sang lược đồ cơ sở dữ liệu quan hệ gồm </a:t>
            </a:r>
            <a:r>
              <a:rPr lang="vi-VN" sz="16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sáu bảng đạt dạng chuẩn 3 (3NF)</a:t>
            </a:r>
            <a:r>
              <a:rPr lang="vi-VN" sz="16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với đầy đủ ràng buộc khóa chính/khóa ngoại và các cơ chế toàn vẹn dữ liệu — sẵn sàng cho giai đoạn lập trình cài đặt.</a:t>
            </a:r>
            <a:endParaRPr lang="vi-VN" sz="1600">
              <a:effectLst/>
              <a:latin typeface="Arial" panose="020B0604020202020204" pitchFamily="34" charset="0"/>
              <a:ea typeface="Arial" panose="020B0604020202020204" pitchFamily="34" charset="0"/>
              <a:cs typeface="Arial" panose="020B0604020202020204"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37">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IV</a:t>
            </a:r>
            <a:endParaRPr lang="en-US" sz="750" dirty="0"/>
          </a:p>
        </p:txBody>
      </p:sp>
      <p:sp>
        <p:nvSpPr>
          <p:cNvPr id="8" name="Text 6"/>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dirty="0">
                <a:solidFill>
                  <a:srgbClr val="1F2328"/>
                </a:solidFill>
                <a:latin typeface="Arial" pitchFamily="34" charset="0"/>
                <a:ea typeface="Arial" pitchFamily="34" charset="-122"/>
                <a:cs typeface="Arial" pitchFamily="34" charset="-120"/>
              </a:rPr>
              <a:t>Lợi ích mang lại cho các bên liên quan</a:t>
            </a:r>
            <a:endParaRPr lang="en-US" sz="2400" dirty="0"/>
          </a:p>
        </p:txBody>
      </p:sp>
      <p:sp>
        <p:nvSpPr>
          <p:cNvPr id="9" name="Shape 7"/>
          <p:cNvSpPr/>
          <p:nvPr/>
        </p:nvSpPr>
        <p:spPr>
          <a:xfrm>
            <a:off x="502920" y="1075616"/>
            <a:ext cx="1188720" cy="0"/>
          </a:xfrm>
          <a:prstGeom prst="line">
            <a:avLst/>
          </a:prstGeom>
          <a:noFill/>
          <a:ln w="27940">
            <a:solidFill>
              <a:srgbClr val="B50915"/>
            </a:solidFill>
            <a:prstDash val="solid"/>
          </a:ln>
        </p:spPr>
        <p:txBody>
          <a:bodyPr/>
          <a:lstStyle/>
          <a:p>
            <a:endParaRPr lang="vi-VN"/>
          </a:p>
        </p:txBody>
      </p:sp>
      <p:sp>
        <p:nvSpPr>
          <p:cNvPr id="10" name="Text 8"/>
          <p:cNvSpPr/>
          <p:nvPr/>
        </p:nvSpPr>
        <p:spPr>
          <a:xfrm>
            <a:off x="868680" y="1772596"/>
            <a:ext cx="4709160" cy="365760"/>
          </a:xfrm>
          <a:prstGeom prst="rect">
            <a:avLst/>
          </a:prstGeom>
          <a:solidFill>
            <a:srgbClr val="B50915"/>
          </a:solidFill>
          <a:ln>
            <a:solidFill>
              <a:srgbClr val="B50915"/>
            </a:solid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Cư dân</a:t>
            </a:r>
            <a:endParaRPr lang="en-US" sz="1500" dirty="0"/>
          </a:p>
        </p:txBody>
      </p:sp>
      <p:sp>
        <p:nvSpPr>
          <p:cNvPr id="11" name="Text 9"/>
          <p:cNvSpPr/>
          <p:nvPr/>
        </p:nvSpPr>
        <p:spPr>
          <a:xfrm>
            <a:off x="868680" y="2211508"/>
            <a:ext cx="4709160" cy="621792"/>
          </a:xfrm>
          <a:prstGeom prst="rect">
            <a:avLst/>
          </a:prstGeom>
          <a:solidFill>
            <a:srgbClr val="FFFFFF"/>
          </a:solidFill>
          <a:ln>
            <a:solidFill>
              <a:srgbClr val="D9DDE3"/>
            </a:solidFill>
          </a:ln>
        </p:spPr>
        <p:txBody>
          <a:bodyPr wrap="square" lIns="1016" tIns="1016" rIns="1016" bIns="1016" rtlCol="0" anchor="ctr">
            <a:normAutofit/>
          </a:bodyPr>
          <a:lstStyle/>
          <a:p>
            <a:pPr marL="0" indent="0" algn="ctr">
              <a:buNone/>
            </a:pPr>
            <a:r>
              <a:rPr lang="en-US" sz="1350" dirty="0">
                <a:solidFill>
                  <a:srgbClr val="1F2328"/>
                </a:solidFill>
                <a:latin typeface="Arial" pitchFamily="34" charset="0"/>
                <a:ea typeface="Arial" pitchFamily="34" charset="-122"/>
                <a:cs typeface="Arial" pitchFamily="34" charset="-120"/>
              </a:rPr>
              <a:t>Nhận hàng 24/7, bảo mật bằng OTP/QR, chủ động thời gian.</a:t>
            </a:r>
            <a:endParaRPr lang="en-US" sz="1350" dirty="0"/>
          </a:p>
        </p:txBody>
      </p:sp>
      <p:sp>
        <p:nvSpPr>
          <p:cNvPr id="12" name="Text 10"/>
          <p:cNvSpPr/>
          <p:nvPr/>
        </p:nvSpPr>
        <p:spPr>
          <a:xfrm>
            <a:off x="6217920" y="1772596"/>
            <a:ext cx="4709160" cy="365760"/>
          </a:xfrm>
          <a:prstGeom prst="rect">
            <a:avLst/>
          </a:prstGeom>
          <a:solidFill>
            <a:srgbClr val="B50915"/>
          </a:solidFill>
          <a:ln>
            <a:solidFill>
              <a:srgbClr val="B50915"/>
            </a:solid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Bưu tá</a:t>
            </a:r>
            <a:endParaRPr lang="en-US" sz="1500" dirty="0"/>
          </a:p>
        </p:txBody>
      </p:sp>
      <p:sp>
        <p:nvSpPr>
          <p:cNvPr id="13" name="Text 11"/>
          <p:cNvSpPr/>
          <p:nvPr/>
        </p:nvSpPr>
        <p:spPr>
          <a:xfrm>
            <a:off x="6217920" y="2211508"/>
            <a:ext cx="4709160" cy="621792"/>
          </a:xfrm>
          <a:prstGeom prst="rect">
            <a:avLst/>
          </a:prstGeom>
          <a:solidFill>
            <a:srgbClr val="FFFFFF"/>
          </a:solidFill>
          <a:ln>
            <a:solidFill>
              <a:srgbClr val="D9DDE3"/>
            </a:solidFill>
          </a:ln>
        </p:spPr>
        <p:txBody>
          <a:bodyPr wrap="square" lIns="1016" tIns="1016" rIns="1016" bIns="1016" rtlCol="0" anchor="ctr">
            <a:normAutofit/>
          </a:bodyPr>
          <a:lstStyle/>
          <a:p>
            <a:pPr marL="0" indent="0" algn="ctr">
              <a:buNone/>
            </a:pPr>
            <a:r>
              <a:rPr lang="en-US" sz="1350" dirty="0">
                <a:solidFill>
                  <a:srgbClr val="1F2328"/>
                </a:solidFill>
                <a:latin typeface="Arial" pitchFamily="34" charset="0"/>
                <a:ea typeface="Arial" pitchFamily="34" charset="-122"/>
                <a:cs typeface="Arial" pitchFamily="34" charset="-120"/>
              </a:rPr>
              <a:t>Giảm thời gian chờ, tăng tỷ lệ giao hàng thành công lần đầu.</a:t>
            </a:r>
            <a:endParaRPr lang="en-US" sz="1350" dirty="0"/>
          </a:p>
        </p:txBody>
      </p:sp>
      <p:sp>
        <p:nvSpPr>
          <p:cNvPr id="14" name="Text 12"/>
          <p:cNvSpPr/>
          <p:nvPr/>
        </p:nvSpPr>
        <p:spPr>
          <a:xfrm>
            <a:off x="868680" y="3372796"/>
            <a:ext cx="4709160" cy="365760"/>
          </a:xfrm>
          <a:prstGeom prst="rect">
            <a:avLst/>
          </a:prstGeom>
          <a:solidFill>
            <a:srgbClr val="B50915"/>
          </a:solidFill>
          <a:ln>
            <a:solidFill>
              <a:srgbClr val="B50915"/>
            </a:solid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Ban quản lý</a:t>
            </a:r>
            <a:endParaRPr lang="en-US" sz="1500" dirty="0"/>
          </a:p>
        </p:txBody>
      </p:sp>
      <p:sp>
        <p:nvSpPr>
          <p:cNvPr id="15" name="Text 13"/>
          <p:cNvSpPr/>
          <p:nvPr/>
        </p:nvSpPr>
        <p:spPr>
          <a:xfrm>
            <a:off x="868680" y="3811708"/>
            <a:ext cx="4709160" cy="621792"/>
          </a:xfrm>
          <a:prstGeom prst="rect">
            <a:avLst/>
          </a:prstGeom>
          <a:solidFill>
            <a:srgbClr val="FFFFFF"/>
          </a:solidFill>
          <a:ln>
            <a:solidFill>
              <a:srgbClr val="D9DDE3"/>
            </a:solidFill>
          </a:ln>
        </p:spPr>
        <p:txBody>
          <a:bodyPr wrap="square" lIns="1016" tIns="1016" rIns="1016" bIns="1016" rtlCol="0" anchor="ctr">
            <a:normAutofit/>
          </a:bodyPr>
          <a:lstStyle/>
          <a:p>
            <a:pPr marL="0" indent="0" algn="ctr">
              <a:buNone/>
            </a:pPr>
            <a:r>
              <a:rPr lang="en-US" sz="1350" dirty="0">
                <a:solidFill>
                  <a:srgbClr val="1F2328"/>
                </a:solidFill>
                <a:latin typeface="Arial" pitchFamily="34" charset="0"/>
                <a:ea typeface="Arial" pitchFamily="34" charset="-122"/>
                <a:cs typeface="Arial" pitchFamily="34" charset="-120"/>
              </a:rPr>
              <a:t>Giảm ùn ứ ở lễ tân, giảm thất lạc, dễ đối soát.</a:t>
            </a:r>
            <a:endParaRPr lang="en-US" sz="1350" dirty="0"/>
          </a:p>
        </p:txBody>
      </p:sp>
      <p:sp>
        <p:nvSpPr>
          <p:cNvPr id="16" name="Text 14"/>
          <p:cNvSpPr/>
          <p:nvPr/>
        </p:nvSpPr>
        <p:spPr>
          <a:xfrm>
            <a:off x="6217920" y="3372796"/>
            <a:ext cx="4709160" cy="365760"/>
          </a:xfrm>
          <a:prstGeom prst="rect">
            <a:avLst/>
          </a:prstGeom>
          <a:solidFill>
            <a:srgbClr val="B50915"/>
          </a:solidFill>
          <a:ln>
            <a:solidFill>
              <a:srgbClr val="B50915"/>
            </a:solid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Vận hành dữ liệu</a:t>
            </a:r>
            <a:endParaRPr lang="en-US" sz="1500" dirty="0"/>
          </a:p>
        </p:txBody>
      </p:sp>
      <p:sp>
        <p:nvSpPr>
          <p:cNvPr id="17" name="Text 15"/>
          <p:cNvSpPr/>
          <p:nvPr/>
        </p:nvSpPr>
        <p:spPr>
          <a:xfrm>
            <a:off x="6217920" y="3811708"/>
            <a:ext cx="4709160" cy="621792"/>
          </a:xfrm>
          <a:prstGeom prst="rect">
            <a:avLst/>
          </a:prstGeom>
          <a:solidFill>
            <a:srgbClr val="FFFFFF"/>
          </a:solidFill>
          <a:ln>
            <a:solidFill>
              <a:srgbClr val="D9DDE3"/>
            </a:solidFill>
          </a:ln>
        </p:spPr>
        <p:txBody>
          <a:bodyPr wrap="square" lIns="1016" tIns="1016" rIns="1016" bIns="1016" rtlCol="0" anchor="ctr">
            <a:normAutofit/>
          </a:bodyPr>
          <a:lstStyle/>
          <a:p>
            <a:pPr marL="0" indent="0" algn="ctr">
              <a:buNone/>
            </a:pPr>
            <a:r>
              <a:rPr lang="en-US" sz="1350" dirty="0">
                <a:solidFill>
                  <a:srgbClr val="1F2328"/>
                </a:solidFill>
                <a:latin typeface="Arial" pitchFamily="34" charset="0"/>
                <a:ea typeface="Arial" pitchFamily="34" charset="-122"/>
                <a:cs typeface="Arial" pitchFamily="34" charset="-120"/>
              </a:rPr>
              <a:t>Số hóa vòng đời bưu kiện, phục vụ báo cáo doanh thu và hiệu suất trạm.</a:t>
            </a:r>
            <a:endParaRPr lang="en-US" sz="1350" dirty="0"/>
          </a:p>
        </p:txBody>
      </p:sp>
      <p:sp>
        <p:nvSpPr>
          <p:cNvPr id="18" name="Text 16"/>
          <p:cNvSpPr/>
          <p:nvPr/>
        </p:nvSpPr>
        <p:spPr>
          <a:xfrm>
            <a:off x="1143000" y="5257800"/>
            <a:ext cx="9921240" cy="475488"/>
          </a:xfrm>
          <a:prstGeom prst="rect">
            <a:avLst/>
          </a:prstGeom>
          <a:noFill/>
          <a:ln/>
        </p:spPr>
        <p:txBody>
          <a:bodyPr wrap="square" lIns="762" tIns="762" rIns="762" bIns="762" rtlCol="0" anchor="t">
            <a:normAutofit/>
          </a:bodyPr>
          <a:lstStyle/>
          <a:p>
            <a:pPr marL="0" indent="0" algn="ctr">
              <a:buNone/>
            </a:pPr>
            <a:r>
              <a:rPr lang="en-US" sz="1550" b="1" dirty="0">
                <a:solidFill>
                  <a:srgbClr val="B50915"/>
                </a:solidFill>
                <a:latin typeface="Arial" pitchFamily="34" charset="0"/>
                <a:ea typeface="Arial" pitchFamily="34" charset="-122"/>
                <a:cs typeface="Arial" pitchFamily="34" charset="-120"/>
              </a:rPr>
              <a:t>Giá trị nổi bật: Smartbox không chỉ là tủ vật lý, mà là hệ thống quản lý dữ liệu và quy trình giao nhận.</a:t>
            </a:r>
            <a:endParaRPr lang="en-US" sz="1550" dirty="0"/>
          </a:p>
        </p:txBody>
      </p:sp>
      <p:sp>
        <p:nvSpPr>
          <p:cNvPr id="19" name="Shape 17"/>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20" name="Text 18"/>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21" name="Text 19"/>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37</a:t>
            </a:r>
            <a:endParaRPr lang="en-US" sz="1000" dirty="0"/>
          </a:p>
        </p:txBody>
      </p:sp>
      <p:sp>
        <p:nvSpPr>
          <p:cNvPr id="22" name="Text 5">
            <a:extLst>
              <a:ext uri="{FF2B5EF4-FFF2-40B4-BE49-F238E27FC236}">
                <a16:creationId xmlns:a16="http://schemas.microsoft.com/office/drawing/2014/main" id="{44B785BE-2CF5-AB58-959B-CE96EA15E28C}"/>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IV: KẾT LUẬN VÀ HƯỚNG PHÁT TRIỂN</a:t>
            </a:r>
          </a:p>
          <a:p>
            <a:pPr marL="0" indent="0">
              <a:buNone/>
            </a:pPr>
            <a:r>
              <a:rPr lang="sv-SE" sz="1200" b="1">
                <a:solidFill>
                  <a:srgbClr val="B50915"/>
                </a:solidFill>
                <a:latin typeface="Arial" pitchFamily="34" charset="0"/>
                <a:cs typeface="Arial" pitchFamily="34" charset="-120"/>
              </a:rPr>
              <a:t>4.2  Lợi ích mang lại</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38">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IV</a:t>
            </a:r>
            <a:endParaRPr lang="en-US" sz="750" dirty="0"/>
          </a:p>
        </p:txBody>
      </p:sp>
      <p:sp>
        <p:nvSpPr>
          <p:cNvPr id="8" name="Text 6"/>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dirty="0">
                <a:solidFill>
                  <a:srgbClr val="1F2328"/>
                </a:solidFill>
                <a:latin typeface="Arial" pitchFamily="34" charset="0"/>
                <a:ea typeface="Arial" pitchFamily="34" charset="-122"/>
                <a:cs typeface="Arial" pitchFamily="34" charset="-120"/>
              </a:rPr>
              <a:t>Hạn chế hiện tại của đồ án</a:t>
            </a:r>
            <a:endParaRPr lang="en-US" sz="2400" dirty="0"/>
          </a:p>
        </p:txBody>
      </p:sp>
      <p:sp>
        <p:nvSpPr>
          <p:cNvPr id="9" name="Shape 7"/>
          <p:cNvSpPr/>
          <p:nvPr/>
        </p:nvSpPr>
        <p:spPr>
          <a:xfrm>
            <a:off x="502920" y="1058143"/>
            <a:ext cx="1188720" cy="0"/>
          </a:xfrm>
          <a:prstGeom prst="line">
            <a:avLst/>
          </a:prstGeom>
          <a:noFill/>
          <a:ln w="27940">
            <a:solidFill>
              <a:srgbClr val="B50915"/>
            </a:solidFill>
            <a:prstDash val="solid"/>
          </a:ln>
        </p:spPr>
        <p:txBody>
          <a:bodyPr/>
          <a:lstStyle/>
          <a:p>
            <a:endParaRPr lang="vi-VN"/>
          </a:p>
        </p:txBody>
      </p:sp>
      <p:sp>
        <p:nvSpPr>
          <p:cNvPr id="10" name="Text 8"/>
          <p:cNvSpPr/>
          <p:nvPr/>
        </p:nvSpPr>
        <p:spPr>
          <a:xfrm>
            <a:off x="682306" y="1417319"/>
            <a:ext cx="7244436" cy="4965191"/>
          </a:xfrm>
          <a:prstGeom prst="rect">
            <a:avLst/>
          </a:prstGeom>
          <a:noFill/>
          <a:ln/>
        </p:spPr>
        <p:txBody>
          <a:bodyPr wrap="square" lIns="635" tIns="635" rIns="635" bIns="635" rtlCol="0" anchor="t">
            <a:normAutofit/>
          </a:bodyPr>
          <a:lstStyle/>
          <a:p>
            <a:pPr marL="342900" lvl="0" indent="-342900" algn="just">
              <a:lnSpc>
                <a:spcPct val="120000"/>
              </a:lnSpc>
              <a:spcAft>
                <a:spcPts val="450"/>
              </a:spcAft>
              <a:buFont typeface="Arial" panose="020B0604020202020204" pitchFamily="34" charset="0"/>
              <a:buChar char="•"/>
            </a:pPr>
            <a:r>
              <a:rPr lang="vi-VN" sz="16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Phạm vi dừng ở mức phân tích – thiết kế: </a:t>
            </a:r>
            <a:r>
              <a:rPr lang="vi-VN" sz="16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đề tài mới hoàn thiện các mô hình và bản thiết kế chi tiết, chưa tiến hành lập trình cài đặt và kiểm thử (testing) trên một hệ thống chạy thực tế.</a:t>
            </a:r>
            <a:endParaRPr lang="vi-VN" sz="160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lnSpc>
                <a:spcPct val="120000"/>
              </a:lnSpc>
              <a:spcAft>
                <a:spcPts val="450"/>
              </a:spcAft>
              <a:buFont typeface="Arial" panose="020B0604020202020204" pitchFamily="34" charset="0"/>
              <a:buChar char="•"/>
            </a:pPr>
            <a:r>
              <a:rPr lang="vi-VN" sz="16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Giao tiếp phần cứng còn ở mức giả lập: </a:t>
            </a:r>
            <a:r>
              <a:rPr lang="vi-VN" sz="16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các tương tác với thiết bị cơ khí (bo mạch điều khiển PLC, cảm biến, chốt khóa điện từ) mới dừng ở mức giả lập qua các hàm API gọi lệnh mở tủ, chưa tích hợp với phần cứng vật lý.</a:t>
            </a:r>
            <a:endParaRPr lang="vi-VN" sz="160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lnSpc>
                <a:spcPct val="120000"/>
              </a:lnSpc>
              <a:spcAft>
                <a:spcPts val="450"/>
              </a:spcAft>
              <a:buFont typeface="Arial" panose="020B0604020202020204" pitchFamily="34" charset="0"/>
              <a:buChar char="•"/>
            </a:pPr>
            <a:r>
              <a:rPr lang="vi-VN" sz="16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Thanh toán điện tử chưa đấu nối thật: </a:t>
            </a:r>
            <a:r>
              <a:rPr lang="vi-VN" sz="16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luồng thanh toán (tiền COD, phí lưu bãi) được thiết kế tích hợp ví điện tử (Viettel Money, VNPay, Momo) nhưng đang dùng cơ chế nhận webhook giả lập, chưa đấu nối môi trường Sandbox thực của ngân hàng/ví.</a:t>
            </a:r>
            <a:endParaRPr lang="vi-VN" sz="160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lnSpc>
                <a:spcPct val="120000"/>
              </a:lnSpc>
              <a:spcAft>
                <a:spcPts val="450"/>
              </a:spcAft>
              <a:buFont typeface="Arial" panose="020B0604020202020204" pitchFamily="34" charset="0"/>
              <a:buChar char="•"/>
            </a:pPr>
            <a:r>
              <a:rPr lang="vi-VN" sz="16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Chưa thiết kế giao diện và kiến trúc triển khai: </a:t>
            </a:r>
            <a:r>
              <a:rPr lang="vi-VN" sz="16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báo cáo tập trung vào mô hình nghiệp vụ và dữ liệu, chưa thiết kế chi tiết giao diện người dùng (UI/UX) cũng như chưa mô hình hóa kiến trúc triển khai (biểu đồ thành phần, biểu đồ triển khai).</a:t>
            </a:r>
            <a:endParaRPr lang="vi-VN" sz="160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lnSpc>
                <a:spcPct val="120000"/>
              </a:lnSpc>
              <a:spcAft>
                <a:spcPts val="450"/>
              </a:spcAft>
              <a:buFont typeface="Arial" panose="020B0604020202020204" pitchFamily="34" charset="0"/>
              <a:buChar char="•"/>
            </a:pPr>
            <a:r>
              <a:rPr lang="vi-VN" sz="1600" b="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Chưa phân tích sâu yêu cầu phi chức năng: </a:t>
            </a:r>
            <a:r>
              <a:rPr lang="vi-VN" sz="16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các khía cạnh như bảo mật chuyên sâu, hiệu năng, khả năng mở rộng và xử lý đồng thời (khi nhiều người cùng thao tác trên một trạm tủ) chưa được khảo sát một cách hệ thống.</a:t>
            </a:r>
            <a:endParaRPr lang="vi-VN" sz="1600">
              <a:effectLst/>
              <a:latin typeface="Arial" panose="020B0604020202020204" pitchFamily="34" charset="0"/>
              <a:ea typeface="Arial" panose="020B0604020202020204" pitchFamily="34" charset="0"/>
              <a:cs typeface="Arial" panose="020B0604020202020204" pitchFamily="34" charset="0"/>
            </a:endParaRPr>
          </a:p>
        </p:txBody>
      </p:sp>
      <p:sp>
        <p:nvSpPr>
          <p:cNvPr id="11" name="Text 9"/>
          <p:cNvSpPr/>
          <p:nvPr/>
        </p:nvSpPr>
        <p:spPr>
          <a:xfrm>
            <a:off x="8732519" y="1645920"/>
            <a:ext cx="2377440" cy="1828800"/>
          </a:xfrm>
          <a:prstGeom prst="rect">
            <a:avLst/>
          </a:prstGeom>
          <a:solidFill>
            <a:srgbClr val="FFFFFF"/>
          </a:solidFill>
          <a:ln w="25400">
            <a:solidFill>
              <a:srgbClr val="B50915"/>
            </a:solidFill>
          </a:ln>
        </p:spPr>
        <p:txBody>
          <a:bodyPr wrap="square" lIns="0" tIns="0" rIns="0" bIns="0" rtlCol="0" anchor="ctr">
            <a:normAutofit/>
          </a:bodyPr>
          <a:lstStyle/>
          <a:p>
            <a:pPr marL="0" indent="0" algn="ctr">
              <a:buNone/>
            </a:pPr>
            <a:r>
              <a:rPr lang="en-US" sz="1800" b="1" dirty="0">
                <a:solidFill>
                  <a:srgbClr val="B50915"/>
                </a:solidFill>
                <a:latin typeface="Arial" pitchFamily="34" charset="0"/>
                <a:ea typeface="Arial" pitchFamily="34" charset="-122"/>
                <a:cs typeface="Arial" pitchFamily="34" charset="-120"/>
              </a:rPr>
              <a:t>Cơ hội</a:t>
            </a:r>
            <a:endParaRPr lang="en-US" sz="1800" dirty="0"/>
          </a:p>
          <a:p>
            <a:pPr marL="0" indent="0" algn="ctr">
              <a:buNone/>
            </a:pPr>
            <a:r>
              <a:rPr lang="en-US" sz="1800" b="1" dirty="0">
                <a:solidFill>
                  <a:srgbClr val="B50915"/>
                </a:solidFill>
                <a:latin typeface="Arial" pitchFamily="34" charset="0"/>
                <a:ea typeface="Arial" pitchFamily="34" charset="-122"/>
                <a:cs typeface="Arial" pitchFamily="34" charset="-120"/>
              </a:rPr>
              <a:t>phát triển</a:t>
            </a:r>
            <a:endParaRPr lang="en-US" sz="1800" dirty="0"/>
          </a:p>
        </p:txBody>
      </p:sp>
      <p:sp>
        <p:nvSpPr>
          <p:cNvPr id="12" name="Text 10"/>
          <p:cNvSpPr/>
          <p:nvPr/>
        </p:nvSpPr>
        <p:spPr>
          <a:xfrm>
            <a:off x="8275319" y="4251960"/>
            <a:ext cx="3337560" cy="731520"/>
          </a:xfrm>
          <a:prstGeom prst="rect">
            <a:avLst/>
          </a:prstGeom>
          <a:noFill/>
          <a:ln/>
        </p:spPr>
        <p:txBody>
          <a:bodyPr wrap="square" lIns="762" tIns="762" rIns="762" bIns="762" rtlCol="0" anchor="t">
            <a:normAutofit/>
          </a:bodyPr>
          <a:lstStyle/>
          <a:p>
            <a:pPr marL="0" indent="0" algn="ctr">
              <a:buNone/>
            </a:pPr>
            <a:r>
              <a:rPr lang="en-US" sz="1400" b="1" dirty="0">
                <a:solidFill>
                  <a:srgbClr val="1F2328"/>
                </a:solidFill>
                <a:latin typeface="Arial" pitchFamily="34" charset="0"/>
                <a:ea typeface="Arial" pitchFamily="34" charset="-122"/>
                <a:cs typeface="Arial" pitchFamily="34" charset="-120"/>
              </a:rPr>
              <a:t>Các hạn chế này phù hợp với phạm vi môn học và là tiền đề cho hướng phát triển sau.</a:t>
            </a:r>
            <a:endParaRPr lang="en-US" sz="1400" dirty="0"/>
          </a:p>
        </p:txBody>
      </p:sp>
      <p:sp>
        <p:nvSpPr>
          <p:cNvPr id="13" name="Shape 11"/>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14" name="Text 12"/>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15" name="Text 13"/>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38</a:t>
            </a:r>
            <a:endParaRPr lang="en-US" sz="1000" dirty="0"/>
          </a:p>
        </p:txBody>
      </p:sp>
      <p:sp>
        <p:nvSpPr>
          <p:cNvPr id="16" name="Text 5">
            <a:extLst>
              <a:ext uri="{FF2B5EF4-FFF2-40B4-BE49-F238E27FC236}">
                <a16:creationId xmlns:a16="http://schemas.microsoft.com/office/drawing/2014/main" id="{66DADF46-541B-CC0B-6A7C-51A2CF36190D}"/>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IV: KẾT LUẬN VÀ HƯỚNG PHÁT TRIỂN</a:t>
            </a:r>
          </a:p>
          <a:p>
            <a:pPr marL="0" indent="0">
              <a:buNone/>
            </a:pPr>
            <a:r>
              <a:rPr lang="vi-VN" sz="1200" b="1">
                <a:solidFill>
                  <a:srgbClr val="B50915"/>
                </a:solidFill>
                <a:latin typeface="Arial" pitchFamily="34" charset="0"/>
                <a:cs typeface="Arial" pitchFamily="34" charset="-120"/>
              </a:rPr>
              <a:t>4.3  Một số hạn chế còn tồn tại</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39">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Chương IV</a:t>
            </a:r>
            <a:endParaRPr lang="en-US" sz="750" dirty="0"/>
          </a:p>
        </p:txBody>
      </p:sp>
      <p:sp>
        <p:nvSpPr>
          <p:cNvPr id="8" name="Text 6"/>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dirty="0">
                <a:solidFill>
                  <a:srgbClr val="1F2328"/>
                </a:solidFill>
                <a:latin typeface="Arial" pitchFamily="34" charset="0"/>
                <a:ea typeface="Arial" pitchFamily="34" charset="-122"/>
                <a:cs typeface="Arial" pitchFamily="34" charset="-120"/>
              </a:rPr>
              <a:t>Hướng phát triển tương lai</a:t>
            </a:r>
            <a:endParaRPr lang="en-US" sz="2400" dirty="0"/>
          </a:p>
        </p:txBody>
      </p:sp>
      <p:sp>
        <p:nvSpPr>
          <p:cNvPr id="9" name="Shape 7"/>
          <p:cNvSpPr/>
          <p:nvPr/>
        </p:nvSpPr>
        <p:spPr>
          <a:xfrm>
            <a:off x="502920" y="1058143"/>
            <a:ext cx="1188720" cy="0"/>
          </a:xfrm>
          <a:prstGeom prst="line">
            <a:avLst/>
          </a:prstGeom>
          <a:noFill/>
          <a:ln w="27940">
            <a:solidFill>
              <a:srgbClr val="B50915"/>
            </a:solidFill>
            <a:prstDash val="solid"/>
          </a:ln>
        </p:spPr>
        <p:txBody>
          <a:bodyPr/>
          <a:lstStyle/>
          <a:p>
            <a:endParaRPr lang="vi-VN"/>
          </a:p>
        </p:txBody>
      </p:sp>
      <p:sp>
        <p:nvSpPr>
          <p:cNvPr id="10" name="Text 8"/>
          <p:cNvSpPr/>
          <p:nvPr/>
        </p:nvSpPr>
        <p:spPr>
          <a:xfrm>
            <a:off x="822960" y="1554480"/>
            <a:ext cx="475488" cy="475488"/>
          </a:xfrm>
          <a:prstGeom prst="rect">
            <a:avLst/>
          </a:prstGeom>
          <a:solidFill>
            <a:srgbClr val="B50915"/>
          </a:solidFill>
          <a:ln>
            <a:solidFill>
              <a:srgbClr val="B50915"/>
            </a:solid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1" name="Shape 9"/>
          <p:cNvSpPr/>
          <p:nvPr/>
        </p:nvSpPr>
        <p:spPr>
          <a:xfrm>
            <a:off x="1325880" y="1792224"/>
            <a:ext cx="1298448" cy="0"/>
          </a:xfrm>
          <a:prstGeom prst="line">
            <a:avLst/>
          </a:prstGeom>
          <a:noFill/>
          <a:ln w="17780">
            <a:solidFill>
              <a:srgbClr val="B50915"/>
            </a:solidFill>
            <a:prstDash val="solid"/>
            <a:tailEnd type="triangle"/>
          </a:ln>
        </p:spPr>
        <p:txBody>
          <a:bodyPr/>
          <a:lstStyle/>
          <a:p>
            <a:endParaRPr lang="vi-VN"/>
          </a:p>
        </p:txBody>
      </p:sp>
      <p:sp>
        <p:nvSpPr>
          <p:cNvPr id="12" name="Text 10"/>
          <p:cNvSpPr/>
          <p:nvPr/>
        </p:nvSpPr>
        <p:spPr>
          <a:xfrm>
            <a:off x="594360" y="2331720"/>
            <a:ext cx="1417320" cy="1051560"/>
          </a:xfrm>
          <a:prstGeom prst="rect">
            <a:avLst/>
          </a:prstGeom>
          <a:solidFill>
            <a:srgbClr val="FFFFFF"/>
          </a:solidFill>
          <a:ln>
            <a:solidFill>
              <a:srgbClr val="D9DDE3"/>
            </a:solidFill>
          </a:ln>
        </p:spPr>
        <p:txBody>
          <a:bodyPr wrap="square" lIns="508" tIns="508" rIns="508" bIns="508" rtlCol="0" anchor="ctr">
            <a:normAutofit/>
          </a:bodyPr>
          <a:lstStyle/>
          <a:p>
            <a:pPr marL="0" indent="0" algn="ctr">
              <a:buNone/>
            </a:pPr>
            <a:r>
              <a:rPr lang="en-US" sz="1150" b="1" dirty="0">
                <a:solidFill>
                  <a:srgbClr val="1F2328"/>
                </a:solidFill>
                <a:latin typeface="Arial" pitchFamily="34" charset="0"/>
                <a:ea typeface="Arial" pitchFamily="34" charset="-122"/>
                <a:cs typeface="Arial" pitchFamily="34" charset="-120"/>
              </a:rPr>
              <a:t>Hiện thực hóa mã nguồn &amp; kiểm thử</a:t>
            </a:r>
            <a:endParaRPr lang="en-US" sz="1150" dirty="0"/>
          </a:p>
        </p:txBody>
      </p:sp>
      <p:sp>
        <p:nvSpPr>
          <p:cNvPr id="13" name="Text 11"/>
          <p:cNvSpPr/>
          <p:nvPr/>
        </p:nvSpPr>
        <p:spPr>
          <a:xfrm>
            <a:off x="2651760" y="1554480"/>
            <a:ext cx="475488" cy="475488"/>
          </a:xfrm>
          <a:prstGeom prst="rect">
            <a:avLst/>
          </a:prstGeom>
          <a:solidFill>
            <a:srgbClr val="B50915"/>
          </a:solidFill>
          <a:ln>
            <a:solidFill>
              <a:srgbClr val="B50915"/>
            </a:solid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4" name="Shape 12"/>
          <p:cNvSpPr/>
          <p:nvPr/>
        </p:nvSpPr>
        <p:spPr>
          <a:xfrm>
            <a:off x="3154680" y="1792224"/>
            <a:ext cx="1298448" cy="0"/>
          </a:xfrm>
          <a:prstGeom prst="line">
            <a:avLst/>
          </a:prstGeom>
          <a:noFill/>
          <a:ln w="17780">
            <a:solidFill>
              <a:srgbClr val="B50915"/>
            </a:solidFill>
            <a:prstDash val="solid"/>
            <a:tailEnd type="triangle"/>
          </a:ln>
        </p:spPr>
        <p:txBody>
          <a:bodyPr/>
          <a:lstStyle/>
          <a:p>
            <a:endParaRPr lang="vi-VN"/>
          </a:p>
        </p:txBody>
      </p:sp>
      <p:sp>
        <p:nvSpPr>
          <p:cNvPr id="15" name="Text 13"/>
          <p:cNvSpPr/>
          <p:nvPr/>
        </p:nvSpPr>
        <p:spPr>
          <a:xfrm>
            <a:off x="2423160" y="2331720"/>
            <a:ext cx="1417320" cy="1051560"/>
          </a:xfrm>
          <a:prstGeom prst="rect">
            <a:avLst/>
          </a:prstGeom>
          <a:solidFill>
            <a:srgbClr val="FFFFFF"/>
          </a:solidFill>
          <a:ln>
            <a:solidFill>
              <a:srgbClr val="D9DDE3"/>
            </a:solidFill>
          </a:ln>
        </p:spPr>
        <p:txBody>
          <a:bodyPr wrap="square" lIns="508" tIns="508" rIns="508" bIns="508" rtlCol="0" anchor="ctr">
            <a:normAutofit/>
          </a:bodyPr>
          <a:lstStyle/>
          <a:p>
            <a:pPr marL="0" indent="0" algn="ctr">
              <a:buNone/>
            </a:pPr>
            <a:r>
              <a:rPr lang="en-US" sz="1150" b="1" dirty="0">
                <a:solidFill>
                  <a:srgbClr val="1F2328"/>
                </a:solidFill>
                <a:latin typeface="Arial" pitchFamily="34" charset="0"/>
                <a:ea typeface="Arial" pitchFamily="34" charset="-122"/>
                <a:cs typeface="Arial" pitchFamily="34" charset="-120"/>
              </a:rPr>
              <a:t>Tích hợp phần cứng IoT thực tế</a:t>
            </a:r>
            <a:endParaRPr lang="en-US" sz="1150" dirty="0"/>
          </a:p>
        </p:txBody>
      </p:sp>
      <p:sp>
        <p:nvSpPr>
          <p:cNvPr id="16" name="Text 14"/>
          <p:cNvSpPr/>
          <p:nvPr/>
        </p:nvSpPr>
        <p:spPr>
          <a:xfrm>
            <a:off x="4480560" y="1554480"/>
            <a:ext cx="475488" cy="475488"/>
          </a:xfrm>
          <a:prstGeom prst="rect">
            <a:avLst/>
          </a:prstGeom>
          <a:solidFill>
            <a:srgbClr val="B50915"/>
          </a:solidFill>
          <a:ln>
            <a:solidFill>
              <a:srgbClr val="B50915"/>
            </a:solid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Shape 15"/>
          <p:cNvSpPr/>
          <p:nvPr/>
        </p:nvSpPr>
        <p:spPr>
          <a:xfrm>
            <a:off x="4983480" y="1792224"/>
            <a:ext cx="1298448" cy="0"/>
          </a:xfrm>
          <a:prstGeom prst="line">
            <a:avLst/>
          </a:prstGeom>
          <a:noFill/>
          <a:ln w="17780">
            <a:solidFill>
              <a:srgbClr val="B50915"/>
            </a:solidFill>
            <a:prstDash val="solid"/>
            <a:tailEnd type="triangle"/>
          </a:ln>
        </p:spPr>
        <p:txBody>
          <a:bodyPr/>
          <a:lstStyle/>
          <a:p>
            <a:endParaRPr lang="vi-VN"/>
          </a:p>
        </p:txBody>
      </p:sp>
      <p:sp>
        <p:nvSpPr>
          <p:cNvPr id="18" name="Text 16"/>
          <p:cNvSpPr/>
          <p:nvPr/>
        </p:nvSpPr>
        <p:spPr>
          <a:xfrm>
            <a:off x="4251960" y="2331720"/>
            <a:ext cx="1417320" cy="1051560"/>
          </a:xfrm>
          <a:prstGeom prst="rect">
            <a:avLst/>
          </a:prstGeom>
          <a:solidFill>
            <a:srgbClr val="FFFFFF"/>
          </a:solidFill>
          <a:ln>
            <a:solidFill>
              <a:srgbClr val="D9DDE3"/>
            </a:solidFill>
          </a:ln>
        </p:spPr>
        <p:txBody>
          <a:bodyPr wrap="square" lIns="508" tIns="508" rIns="508" bIns="508" rtlCol="0" anchor="ctr">
            <a:normAutofit/>
          </a:bodyPr>
          <a:lstStyle/>
          <a:p>
            <a:pPr marL="0" indent="0" algn="ctr">
              <a:buNone/>
            </a:pPr>
            <a:r>
              <a:rPr lang="en-US" sz="1150" b="1" dirty="0">
                <a:solidFill>
                  <a:srgbClr val="1F2328"/>
                </a:solidFill>
                <a:latin typeface="Arial" pitchFamily="34" charset="0"/>
                <a:ea typeface="Arial" pitchFamily="34" charset="-122"/>
                <a:cs typeface="Arial" pitchFamily="34" charset="-120"/>
              </a:rPr>
              <a:t>Đấu nối thanh toán Sandbox/thật</a:t>
            </a:r>
            <a:endParaRPr lang="en-US" sz="1150" dirty="0"/>
          </a:p>
        </p:txBody>
      </p:sp>
      <p:sp>
        <p:nvSpPr>
          <p:cNvPr id="19" name="Text 17"/>
          <p:cNvSpPr/>
          <p:nvPr/>
        </p:nvSpPr>
        <p:spPr>
          <a:xfrm>
            <a:off x="6309360" y="1554480"/>
            <a:ext cx="475488" cy="475488"/>
          </a:xfrm>
          <a:prstGeom prst="rect">
            <a:avLst/>
          </a:prstGeom>
          <a:solidFill>
            <a:srgbClr val="B50915"/>
          </a:solidFill>
          <a:ln>
            <a:solidFill>
              <a:srgbClr val="B50915"/>
            </a:solid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0" name="Shape 18"/>
          <p:cNvSpPr/>
          <p:nvPr/>
        </p:nvSpPr>
        <p:spPr>
          <a:xfrm>
            <a:off x="6812280" y="1792224"/>
            <a:ext cx="1298448" cy="0"/>
          </a:xfrm>
          <a:prstGeom prst="line">
            <a:avLst/>
          </a:prstGeom>
          <a:noFill/>
          <a:ln w="17780">
            <a:solidFill>
              <a:srgbClr val="B50915"/>
            </a:solidFill>
            <a:prstDash val="solid"/>
            <a:tailEnd type="triangle"/>
          </a:ln>
        </p:spPr>
        <p:txBody>
          <a:bodyPr/>
          <a:lstStyle/>
          <a:p>
            <a:endParaRPr lang="vi-VN"/>
          </a:p>
        </p:txBody>
      </p:sp>
      <p:sp>
        <p:nvSpPr>
          <p:cNvPr id="21" name="Text 19"/>
          <p:cNvSpPr/>
          <p:nvPr/>
        </p:nvSpPr>
        <p:spPr>
          <a:xfrm>
            <a:off x="6080760" y="2331720"/>
            <a:ext cx="1417320" cy="1051560"/>
          </a:xfrm>
          <a:prstGeom prst="rect">
            <a:avLst/>
          </a:prstGeom>
          <a:solidFill>
            <a:srgbClr val="FFFFFF"/>
          </a:solidFill>
          <a:ln>
            <a:solidFill>
              <a:srgbClr val="D9DDE3"/>
            </a:solidFill>
          </a:ln>
        </p:spPr>
        <p:txBody>
          <a:bodyPr wrap="square" lIns="508" tIns="508" rIns="508" bIns="508" rtlCol="0" anchor="ctr">
            <a:normAutofit/>
          </a:bodyPr>
          <a:lstStyle/>
          <a:p>
            <a:pPr marL="0" indent="0" algn="ctr">
              <a:buNone/>
            </a:pPr>
            <a:r>
              <a:rPr lang="en-US" sz="1150" b="1" dirty="0">
                <a:solidFill>
                  <a:srgbClr val="1F2328"/>
                </a:solidFill>
                <a:latin typeface="Arial" pitchFamily="34" charset="0"/>
                <a:ea typeface="Arial" pitchFamily="34" charset="-122"/>
                <a:cs typeface="Arial" pitchFamily="34" charset="-120"/>
              </a:rPr>
              <a:t>Tích hợp app cư dân Vinhomes</a:t>
            </a:r>
            <a:endParaRPr lang="en-US" sz="1150" dirty="0"/>
          </a:p>
        </p:txBody>
      </p:sp>
      <p:sp>
        <p:nvSpPr>
          <p:cNvPr id="22" name="Text 20"/>
          <p:cNvSpPr/>
          <p:nvPr/>
        </p:nvSpPr>
        <p:spPr>
          <a:xfrm>
            <a:off x="8138160" y="1554480"/>
            <a:ext cx="475488" cy="475488"/>
          </a:xfrm>
          <a:prstGeom prst="rect">
            <a:avLst/>
          </a:prstGeom>
          <a:solidFill>
            <a:srgbClr val="B50915"/>
          </a:solidFill>
          <a:ln>
            <a:solidFill>
              <a:srgbClr val="B50915"/>
            </a:solid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3" name="Shape 21"/>
          <p:cNvSpPr/>
          <p:nvPr/>
        </p:nvSpPr>
        <p:spPr>
          <a:xfrm>
            <a:off x="8641080" y="1792224"/>
            <a:ext cx="1298448" cy="0"/>
          </a:xfrm>
          <a:prstGeom prst="line">
            <a:avLst/>
          </a:prstGeom>
          <a:noFill/>
          <a:ln w="17780">
            <a:solidFill>
              <a:srgbClr val="B50915"/>
            </a:solidFill>
            <a:prstDash val="solid"/>
            <a:tailEnd type="triangle"/>
          </a:ln>
        </p:spPr>
        <p:txBody>
          <a:bodyPr/>
          <a:lstStyle/>
          <a:p>
            <a:endParaRPr lang="vi-VN"/>
          </a:p>
        </p:txBody>
      </p:sp>
      <p:sp>
        <p:nvSpPr>
          <p:cNvPr id="24" name="Text 22"/>
          <p:cNvSpPr/>
          <p:nvPr/>
        </p:nvSpPr>
        <p:spPr>
          <a:xfrm>
            <a:off x="7909560" y="2331720"/>
            <a:ext cx="1417320" cy="1051560"/>
          </a:xfrm>
          <a:prstGeom prst="rect">
            <a:avLst/>
          </a:prstGeom>
          <a:solidFill>
            <a:srgbClr val="FFFFFF"/>
          </a:solidFill>
          <a:ln>
            <a:solidFill>
              <a:srgbClr val="D9DDE3"/>
            </a:solidFill>
          </a:ln>
        </p:spPr>
        <p:txBody>
          <a:bodyPr wrap="square" lIns="508" tIns="508" rIns="508" bIns="508" rtlCol="0" anchor="ctr">
            <a:normAutofit/>
          </a:bodyPr>
          <a:lstStyle/>
          <a:p>
            <a:pPr marL="0" indent="0" algn="ctr">
              <a:buNone/>
            </a:pPr>
            <a:r>
              <a:rPr lang="en-US" sz="1150" b="1" dirty="0">
                <a:solidFill>
                  <a:srgbClr val="1F2328"/>
                </a:solidFill>
                <a:latin typeface="Arial" pitchFamily="34" charset="0"/>
                <a:ea typeface="Arial" pitchFamily="34" charset="-122"/>
                <a:cs typeface="Arial" pitchFamily="34" charset="-120"/>
              </a:rPr>
              <a:t>Mở rộng tủ mát/tủ đông</a:t>
            </a:r>
            <a:endParaRPr lang="en-US" sz="1150" dirty="0"/>
          </a:p>
        </p:txBody>
      </p:sp>
      <p:sp>
        <p:nvSpPr>
          <p:cNvPr id="25" name="Text 23"/>
          <p:cNvSpPr/>
          <p:nvPr/>
        </p:nvSpPr>
        <p:spPr>
          <a:xfrm>
            <a:off x="9966960" y="1554480"/>
            <a:ext cx="475488" cy="475488"/>
          </a:xfrm>
          <a:prstGeom prst="rect">
            <a:avLst/>
          </a:prstGeom>
          <a:solidFill>
            <a:srgbClr val="B50915"/>
          </a:solidFill>
          <a:ln>
            <a:solidFill>
              <a:srgbClr val="B50915"/>
            </a:solid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26" name="Text 24"/>
          <p:cNvSpPr/>
          <p:nvPr/>
        </p:nvSpPr>
        <p:spPr>
          <a:xfrm>
            <a:off x="9738360" y="2331720"/>
            <a:ext cx="1417320" cy="1051560"/>
          </a:xfrm>
          <a:prstGeom prst="rect">
            <a:avLst/>
          </a:prstGeom>
          <a:solidFill>
            <a:srgbClr val="FFFFFF"/>
          </a:solidFill>
          <a:ln>
            <a:solidFill>
              <a:srgbClr val="D9DDE3"/>
            </a:solidFill>
          </a:ln>
        </p:spPr>
        <p:txBody>
          <a:bodyPr wrap="square" lIns="508" tIns="508" rIns="508" bIns="508" rtlCol="0" anchor="ctr">
            <a:normAutofit/>
          </a:bodyPr>
          <a:lstStyle/>
          <a:p>
            <a:pPr marL="0" indent="0" algn="ctr">
              <a:buNone/>
            </a:pPr>
            <a:r>
              <a:rPr lang="en-US" sz="1150" b="1" dirty="0">
                <a:solidFill>
                  <a:srgbClr val="1F2328"/>
                </a:solidFill>
                <a:latin typeface="Arial" pitchFamily="34" charset="0"/>
                <a:ea typeface="Arial" pitchFamily="34" charset="-122"/>
                <a:cs typeface="Arial" pitchFamily="34" charset="-120"/>
              </a:rPr>
              <a:t>AI camera, Face ID, bảo mật triển khai</a:t>
            </a:r>
            <a:endParaRPr lang="en-US" sz="1150" dirty="0"/>
          </a:p>
        </p:txBody>
      </p:sp>
      <p:sp>
        <p:nvSpPr>
          <p:cNvPr id="27" name="Text 25"/>
          <p:cNvSpPr/>
          <p:nvPr/>
        </p:nvSpPr>
        <p:spPr>
          <a:xfrm>
            <a:off x="914400" y="4123128"/>
            <a:ext cx="10241280" cy="1563624"/>
          </a:xfrm>
          <a:prstGeom prst="rect">
            <a:avLst/>
          </a:prstGeom>
          <a:noFill/>
          <a:ln/>
        </p:spPr>
        <p:txBody>
          <a:bodyPr wrap="square" lIns="635" tIns="635" rIns="635" bIns="635" rtlCol="0" anchor="t">
            <a:normAutofit/>
          </a:bodyPr>
          <a:lstStyle/>
          <a:p>
            <a:r>
              <a:rPr lang="en-US" sz="1600" dirty="0">
                <a:solidFill>
                  <a:srgbClr val="1F2328"/>
                </a:solidFill>
                <a:latin typeface="Arial" pitchFamily="34" charset="0"/>
                <a:ea typeface="Arial" pitchFamily="34" charset="-122"/>
                <a:cs typeface="Arial" pitchFamily="34" charset="-120"/>
              </a:rPr>
              <a:t>Mục tiêu gần: chạy thử phần mềm, kiểm thử tích hợp và kết nối phần cứng thật.
</a:t>
            </a:r>
            <a:endParaRPr lang="en-US" sz="1600" dirty="0"/>
          </a:p>
          <a:p>
            <a:r>
              <a:rPr lang="en-US" sz="1600" dirty="0">
                <a:solidFill>
                  <a:srgbClr val="1F2328"/>
                </a:solidFill>
                <a:latin typeface="Arial" pitchFamily="34" charset="0"/>
                <a:ea typeface="Arial" pitchFamily="34" charset="-122"/>
                <a:cs typeface="Arial" pitchFamily="34" charset="-120"/>
              </a:rPr>
              <a:t>Mục tiêu trung hạn: thanh toán thật, mở tủ qua app cư dân, báo cáo vận hành.
</a:t>
            </a:r>
            <a:endParaRPr lang="en-US" sz="1600" dirty="0"/>
          </a:p>
          <a:p>
            <a:r>
              <a:rPr lang="en-US" sz="1600" dirty="0">
                <a:solidFill>
                  <a:srgbClr val="1F2328"/>
                </a:solidFill>
                <a:latin typeface="Arial" pitchFamily="34" charset="0"/>
                <a:ea typeface="Arial" pitchFamily="34" charset="-122"/>
                <a:cs typeface="Arial" pitchFamily="34" charset="-120"/>
              </a:rPr>
              <a:t>Mục tiêu dài hạn: mở rộng dịch vụ và tăng bảo mật bằng AI/camera/kiến trúc chịu tải.</a:t>
            </a:r>
            <a:endParaRPr lang="en-US" sz="1600" dirty="0"/>
          </a:p>
        </p:txBody>
      </p:sp>
      <p:sp>
        <p:nvSpPr>
          <p:cNvPr id="28" name="Shape 26"/>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29" name="Text 27"/>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30" name="Text 28"/>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39</a:t>
            </a:r>
            <a:endParaRPr lang="en-US" sz="1000" dirty="0"/>
          </a:p>
        </p:txBody>
      </p:sp>
      <p:sp>
        <p:nvSpPr>
          <p:cNvPr id="31" name="Text 5">
            <a:extLst>
              <a:ext uri="{FF2B5EF4-FFF2-40B4-BE49-F238E27FC236}">
                <a16:creationId xmlns:a16="http://schemas.microsoft.com/office/drawing/2014/main" id="{E0688B42-6891-7C96-A043-767C549046CF}"/>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IV: KẾT LUẬN VÀ HƯỚNG PHÁT TRIỂN</a:t>
            </a:r>
          </a:p>
          <a:p>
            <a:pPr marL="0" indent="0">
              <a:buNone/>
            </a:pPr>
            <a:r>
              <a:rPr lang="vi-VN" sz="1200" b="1">
                <a:solidFill>
                  <a:srgbClr val="B50915"/>
                </a:solidFill>
                <a:latin typeface="Arial" pitchFamily="34" charset="0"/>
                <a:cs typeface="Arial" pitchFamily="34" charset="-120"/>
              </a:rPr>
              <a:t>4.4  Hướng phát triển trong tương lai</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40">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Kết luận</a:t>
            </a:r>
            <a:endParaRPr lang="en-US" sz="750" dirty="0"/>
          </a:p>
        </p:txBody>
      </p:sp>
      <p:sp>
        <p:nvSpPr>
          <p:cNvPr id="8" name="Text 6"/>
          <p:cNvSpPr/>
          <p:nvPr/>
        </p:nvSpPr>
        <p:spPr>
          <a:xfrm>
            <a:off x="502920" y="530352"/>
            <a:ext cx="8961120" cy="512064"/>
          </a:xfrm>
          <a:prstGeom prst="rect">
            <a:avLst/>
          </a:prstGeom>
          <a:noFill/>
          <a:ln/>
        </p:spPr>
        <p:txBody>
          <a:bodyPr wrap="square" lIns="0" tIns="0" rIns="0" bIns="0" rtlCol="0" anchor="ctr">
            <a:normAutofit/>
          </a:bodyPr>
          <a:lstStyle/>
          <a:p>
            <a:pPr marL="0" indent="0">
              <a:buNone/>
            </a:pPr>
            <a:r>
              <a:rPr lang="en-US" sz="2400" b="1" dirty="0">
                <a:solidFill>
                  <a:srgbClr val="1F2328"/>
                </a:solidFill>
                <a:latin typeface="Arial" pitchFamily="34" charset="0"/>
                <a:ea typeface="Arial" pitchFamily="34" charset="-122"/>
                <a:cs typeface="Arial" pitchFamily="34" charset="-120"/>
              </a:rPr>
              <a:t>Kết luận chung</a:t>
            </a:r>
            <a:endParaRPr lang="en-US" sz="2400" dirty="0"/>
          </a:p>
        </p:txBody>
      </p:sp>
      <p:sp>
        <p:nvSpPr>
          <p:cNvPr id="9" name="Shape 7"/>
          <p:cNvSpPr/>
          <p:nvPr/>
        </p:nvSpPr>
        <p:spPr>
          <a:xfrm>
            <a:off x="502920" y="1104736"/>
            <a:ext cx="1188720" cy="0"/>
          </a:xfrm>
          <a:prstGeom prst="line">
            <a:avLst/>
          </a:prstGeom>
          <a:noFill/>
          <a:ln w="27940">
            <a:solidFill>
              <a:srgbClr val="B50915"/>
            </a:solidFill>
            <a:prstDash val="solid"/>
          </a:ln>
        </p:spPr>
        <p:txBody>
          <a:bodyPr/>
          <a:lstStyle/>
          <a:p>
            <a:endParaRPr lang="vi-VN"/>
          </a:p>
        </p:txBody>
      </p:sp>
      <p:sp>
        <p:nvSpPr>
          <p:cNvPr id="11" name="Text 8"/>
          <p:cNvSpPr/>
          <p:nvPr/>
        </p:nvSpPr>
        <p:spPr>
          <a:xfrm>
            <a:off x="5532120" y="1417320"/>
            <a:ext cx="5303520" cy="1417320"/>
          </a:xfrm>
          <a:prstGeom prst="rect">
            <a:avLst/>
          </a:prstGeom>
          <a:noFill/>
          <a:ln/>
        </p:spPr>
        <p:txBody>
          <a:bodyPr wrap="square" lIns="762" tIns="762" rIns="762" bIns="762" rtlCol="0" anchor="ctr">
            <a:normAutofit/>
          </a:bodyPr>
          <a:lstStyle/>
          <a:p>
            <a:pPr marL="0" indent="0">
              <a:buNone/>
            </a:pPr>
            <a:r>
              <a:rPr lang="en-US" sz="1700" b="1">
                <a:solidFill>
                  <a:srgbClr val="1F2328"/>
                </a:solidFill>
                <a:latin typeface="Arial" pitchFamily="34" charset="0"/>
                <a:ea typeface="Arial" pitchFamily="34" charset="-122"/>
                <a:cs typeface="Arial" pitchFamily="34" charset="-120"/>
              </a:rPr>
              <a:t>“Smartbox là một bài toán đủ thực tế để kiểm chứng trọn vẹn quy trình phân tích và thiết kế hệ thống: khảo sát → use case → lớp → trình tự → thiết kế dữ liệu.”</a:t>
            </a:r>
            <a:endParaRPr lang="en-US" sz="1700" dirty="0"/>
          </a:p>
        </p:txBody>
      </p:sp>
      <p:sp>
        <p:nvSpPr>
          <p:cNvPr id="12" name="Text 9"/>
          <p:cNvSpPr/>
          <p:nvPr/>
        </p:nvSpPr>
        <p:spPr>
          <a:xfrm>
            <a:off x="5532120" y="3246120"/>
            <a:ext cx="5120640" cy="1234440"/>
          </a:xfrm>
          <a:prstGeom prst="rect">
            <a:avLst/>
          </a:prstGeom>
          <a:noFill/>
          <a:ln/>
        </p:spPr>
        <p:txBody>
          <a:bodyPr wrap="square" lIns="635" tIns="635" rIns="635" bIns="635" rtlCol="0" anchor="t">
            <a:normAutofit fontScale="92500" lnSpcReduction="20000"/>
          </a:bodyPr>
          <a:lstStyle/>
          <a:p>
            <a:r>
              <a:rPr lang="en-US" sz="1500" dirty="0">
                <a:solidFill>
                  <a:srgbClr val="1F2328"/>
                </a:solidFill>
                <a:latin typeface="Arial" pitchFamily="34" charset="0"/>
                <a:ea typeface="Arial" pitchFamily="34" charset="-122"/>
                <a:cs typeface="Arial" pitchFamily="34" charset="-120"/>
              </a:rPr>
              <a:t>Bản thiết kế nhất quán giữa nghiệp vụ, UML và cơ sở dữ liệu.
</a:t>
            </a:r>
            <a:endParaRPr lang="en-US" sz="1500" dirty="0"/>
          </a:p>
          <a:p>
            <a:r>
              <a:rPr lang="en-US" sz="1500" dirty="0">
                <a:solidFill>
                  <a:srgbClr val="1F2328"/>
                </a:solidFill>
                <a:latin typeface="Arial" pitchFamily="34" charset="0"/>
                <a:ea typeface="Arial" pitchFamily="34" charset="-122"/>
                <a:cs typeface="Arial" pitchFamily="34" charset="-120"/>
              </a:rPr>
              <a:t>Có khả năng mở rộng từ mô phỏng môn học sang sản phẩm vận hành thật.
</a:t>
            </a:r>
            <a:endParaRPr lang="en-US" sz="1500" dirty="0"/>
          </a:p>
          <a:p>
            <a:r>
              <a:rPr lang="en-US" sz="1500" dirty="0">
                <a:solidFill>
                  <a:srgbClr val="1F2328"/>
                </a:solidFill>
                <a:latin typeface="Arial" pitchFamily="34" charset="0"/>
                <a:ea typeface="Arial" pitchFamily="34" charset="-122"/>
                <a:cs typeface="Arial" pitchFamily="34" charset="-120"/>
              </a:rPr>
              <a:t>Tạo giá trị cho cư dân, bưu tá, ban quản lý và đơn vị vận chuyển.</a:t>
            </a:r>
            <a:endParaRPr lang="en-US" sz="1500" dirty="0"/>
          </a:p>
        </p:txBody>
      </p:sp>
      <p:sp>
        <p:nvSpPr>
          <p:cNvPr id="14" name="Shape 11"/>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15" name="Text 12"/>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16" name="Text 13"/>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40</a:t>
            </a:r>
            <a:endParaRPr lang="en-US" sz="1000" dirty="0"/>
          </a:p>
        </p:txBody>
      </p:sp>
      <p:sp>
        <p:nvSpPr>
          <p:cNvPr id="17" name="Text 5">
            <a:extLst>
              <a:ext uri="{FF2B5EF4-FFF2-40B4-BE49-F238E27FC236}">
                <a16:creationId xmlns:a16="http://schemas.microsoft.com/office/drawing/2014/main" id="{86CAC06E-1CA4-A63F-587B-A4504C81A01E}"/>
              </a:ext>
            </a:extLst>
          </p:cNvPr>
          <p:cNvSpPr/>
          <p:nvPr/>
        </p:nvSpPr>
        <p:spPr>
          <a:xfrm>
            <a:off x="497477" y="91348"/>
            <a:ext cx="7262980" cy="512064"/>
          </a:xfrm>
          <a:prstGeom prst="rect">
            <a:avLst/>
          </a:prstGeom>
          <a:noFill/>
          <a:ln/>
        </p:spPr>
        <p:txBody>
          <a:bodyPr wrap="square" lIns="0" tIns="0" rIns="0" bIns="0" rtlCol="0" anchor="ctr"/>
          <a:lstStyle/>
          <a:p>
            <a:pPr marL="0" indent="0">
              <a:buNone/>
            </a:pPr>
            <a:r>
              <a:rPr lang="en-US" sz="1200" b="1">
                <a:solidFill>
                  <a:srgbClr val="B50915"/>
                </a:solidFill>
                <a:latin typeface="Arial" pitchFamily="34" charset="0"/>
                <a:ea typeface="Arial" pitchFamily="34" charset="-122"/>
                <a:cs typeface="Arial" pitchFamily="34" charset="-120"/>
              </a:rPr>
              <a:t>CHƯƠNG IV: KẾT LUẬN VÀ HƯỚNG PHÁT TRIỂN</a:t>
            </a:r>
          </a:p>
          <a:p>
            <a:pPr marL="0" indent="0">
              <a:buNone/>
            </a:pPr>
            <a:r>
              <a:rPr lang="vi-VN" sz="1200" b="1">
                <a:solidFill>
                  <a:srgbClr val="B50915"/>
                </a:solidFill>
                <a:latin typeface="Arial" pitchFamily="34" charset="0"/>
                <a:cs typeface="Arial" pitchFamily="34" charset="-120"/>
              </a:rPr>
              <a:t>4.5  Kết luận chung</a:t>
            </a:r>
            <a:endParaRPr lang="en-US" sz="1200" dirty="0"/>
          </a:p>
        </p:txBody>
      </p:sp>
      <p:pic>
        <p:nvPicPr>
          <p:cNvPr id="7" name="Hình ảnh 6">
            <a:extLst>
              <a:ext uri="{FF2B5EF4-FFF2-40B4-BE49-F238E27FC236}">
                <a16:creationId xmlns:a16="http://schemas.microsoft.com/office/drawing/2014/main" id="{946B6FC5-170E-042C-71B4-F93BE94B5D04}"/>
              </a:ext>
            </a:extLst>
          </p:cNvPr>
          <p:cNvPicPr>
            <a:picLocks noChangeAspect="1"/>
          </p:cNvPicPr>
          <p:nvPr/>
        </p:nvPicPr>
        <p:blipFill>
          <a:blip r:embed="rId3"/>
          <a:stretch>
            <a:fillRect/>
          </a:stretch>
        </p:blipFill>
        <p:spPr>
          <a:xfrm>
            <a:off x="466344" y="1679030"/>
            <a:ext cx="4901937" cy="2759892"/>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a:extLst>
            <a:ext uri="{FF2B5EF4-FFF2-40B4-BE49-F238E27FC236}">
              <a16:creationId xmlns:a16="http://schemas.microsoft.com/office/drawing/2014/main" id="{74564B67-FD42-5217-A616-331371E42ED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7C55B23-1767-46B8-91F8-B9289698DC6D}"/>
              </a:ext>
            </a:extLst>
          </p:cNvPr>
          <p:cNvSpPr/>
          <p:nvPr/>
        </p:nvSpPr>
        <p:spPr>
          <a:xfrm>
            <a:off x="0" y="0"/>
            <a:ext cx="12191695" cy="6858000"/>
          </a:xfrm>
          <a:prstGeom prst="rect">
            <a:avLst/>
          </a:prstGeom>
          <a:solidFill>
            <a:srgbClr val="F7F7F7"/>
          </a:solidFill>
          <a:ln w="12700">
            <a:solidFill>
              <a:srgbClr val="F7F7F7">
                <a:alpha val="0"/>
              </a:srgbClr>
            </a:solidFill>
            <a:prstDash val="solid"/>
          </a:ln>
        </p:spPr>
        <p:txBody>
          <a:bodyPr/>
          <a:lstStyle/>
          <a:p>
            <a:endParaRPr lang="vi-VN"/>
          </a:p>
        </p:txBody>
      </p:sp>
      <p:sp>
        <p:nvSpPr>
          <p:cNvPr id="3" name="Shape 1">
            <a:extLst>
              <a:ext uri="{FF2B5EF4-FFF2-40B4-BE49-F238E27FC236}">
                <a16:creationId xmlns:a16="http://schemas.microsoft.com/office/drawing/2014/main" id="{4F9A72F0-E799-0241-A6D4-EC3C7F2D7BD8}"/>
              </a:ext>
            </a:extLst>
          </p:cNvPr>
          <p:cNvSpPr/>
          <p:nvPr/>
        </p:nvSpPr>
        <p:spPr>
          <a:xfrm>
            <a:off x="0" y="0"/>
            <a:ext cx="146304" cy="6858000"/>
          </a:xfrm>
          <a:prstGeom prst="rect">
            <a:avLst/>
          </a:prstGeom>
          <a:solidFill>
            <a:srgbClr val="B50915"/>
          </a:solidFill>
          <a:ln w="12700">
            <a:solidFill>
              <a:srgbClr val="B50915">
                <a:alpha val="0"/>
              </a:srgbClr>
            </a:solidFill>
            <a:prstDash val="solid"/>
          </a:ln>
        </p:spPr>
        <p:txBody>
          <a:bodyPr/>
          <a:lstStyle/>
          <a:p>
            <a:endParaRPr lang="vi-VN"/>
          </a:p>
        </p:txBody>
      </p:sp>
      <p:sp>
        <p:nvSpPr>
          <p:cNvPr id="4" name="Shape 2">
            <a:extLst>
              <a:ext uri="{FF2B5EF4-FFF2-40B4-BE49-F238E27FC236}">
                <a16:creationId xmlns:a16="http://schemas.microsoft.com/office/drawing/2014/main" id="{6FF45561-BE64-7C9E-26F7-65F955D41E81}"/>
              </a:ext>
            </a:extLst>
          </p:cNvPr>
          <p:cNvSpPr/>
          <p:nvPr/>
        </p:nvSpPr>
        <p:spPr>
          <a:xfrm>
            <a:off x="146304" y="0"/>
            <a:ext cx="36576" cy="6858000"/>
          </a:xfrm>
          <a:prstGeom prst="rect">
            <a:avLst/>
          </a:prstGeom>
          <a:solidFill>
            <a:srgbClr val="F2C94C"/>
          </a:solidFill>
          <a:ln w="12700">
            <a:solidFill>
              <a:srgbClr val="F2C94C">
                <a:alpha val="0"/>
              </a:srgbClr>
            </a:solidFill>
            <a:prstDash val="solid"/>
          </a:ln>
        </p:spPr>
        <p:txBody>
          <a:bodyPr/>
          <a:lstStyle/>
          <a:p>
            <a:endParaRPr lang="vi-VN"/>
          </a:p>
        </p:txBody>
      </p:sp>
      <p:sp>
        <p:nvSpPr>
          <p:cNvPr id="5" name="Shape 3">
            <a:extLst>
              <a:ext uri="{FF2B5EF4-FFF2-40B4-BE49-F238E27FC236}">
                <a16:creationId xmlns:a16="http://schemas.microsoft.com/office/drawing/2014/main" id="{52FA4E10-B3EF-BCC2-18B8-5D4CC7597C69}"/>
              </a:ext>
            </a:extLst>
          </p:cNvPr>
          <p:cNvSpPr/>
          <p:nvPr/>
        </p:nvSpPr>
        <p:spPr>
          <a:xfrm>
            <a:off x="187452" y="0"/>
            <a:ext cx="12004243" cy="73152"/>
          </a:xfrm>
          <a:prstGeom prst="rect">
            <a:avLst/>
          </a:prstGeom>
          <a:solidFill>
            <a:srgbClr val="B50915"/>
          </a:solidFill>
          <a:ln w="12700">
            <a:solidFill>
              <a:srgbClr val="B50915">
                <a:alpha val="0"/>
              </a:srgbClr>
            </a:solidFill>
            <a:prstDash val="solid"/>
          </a:ln>
        </p:spPr>
        <p:txBody>
          <a:bodyPr/>
          <a:lstStyle/>
          <a:p>
            <a:endParaRPr lang="vi-VN"/>
          </a:p>
        </p:txBody>
      </p:sp>
      <p:sp>
        <p:nvSpPr>
          <p:cNvPr id="6" name="Text 4">
            <a:extLst>
              <a:ext uri="{FF2B5EF4-FFF2-40B4-BE49-F238E27FC236}">
                <a16:creationId xmlns:a16="http://schemas.microsoft.com/office/drawing/2014/main" id="{79D211F9-D4EE-EE14-0F04-43A7D3354433}"/>
              </a:ext>
            </a:extLst>
          </p:cNvPr>
          <p:cNvSpPr/>
          <p:nvPr/>
        </p:nvSpPr>
        <p:spPr>
          <a:xfrm>
            <a:off x="9418320" y="128016"/>
            <a:ext cx="2487168" cy="164592"/>
          </a:xfrm>
          <a:prstGeom prst="rect">
            <a:avLst/>
          </a:prstGeom>
          <a:noFill/>
          <a:ln/>
        </p:spPr>
        <p:txBody>
          <a:bodyPr wrap="square" lIns="0" tIns="0" rIns="0" bIns="0" rtlCol="0" anchor="ctr"/>
          <a:lstStyle/>
          <a:p>
            <a:pPr marL="0" indent="0" algn="r">
              <a:buNone/>
            </a:pPr>
            <a:r>
              <a:rPr lang="en-US" sz="750" dirty="0">
                <a:solidFill>
                  <a:srgbClr val="8A8F99"/>
                </a:solidFill>
                <a:latin typeface="Arial" pitchFamily="34" charset="0"/>
                <a:ea typeface="Arial" pitchFamily="34" charset="-122"/>
                <a:cs typeface="Arial" pitchFamily="34" charset="-120"/>
              </a:rPr>
              <a:t>Kết luận</a:t>
            </a:r>
            <a:endParaRPr lang="en-US" sz="750" dirty="0"/>
          </a:p>
        </p:txBody>
      </p:sp>
      <p:sp>
        <p:nvSpPr>
          <p:cNvPr id="8" name="Text 6">
            <a:extLst>
              <a:ext uri="{FF2B5EF4-FFF2-40B4-BE49-F238E27FC236}">
                <a16:creationId xmlns:a16="http://schemas.microsoft.com/office/drawing/2014/main" id="{2F21AD4C-6F10-C33F-9399-2D22E9A0DE08}"/>
              </a:ext>
            </a:extLst>
          </p:cNvPr>
          <p:cNvSpPr/>
          <p:nvPr/>
        </p:nvSpPr>
        <p:spPr>
          <a:xfrm>
            <a:off x="502920" y="413870"/>
            <a:ext cx="8961120" cy="512064"/>
          </a:xfrm>
          <a:prstGeom prst="rect">
            <a:avLst/>
          </a:prstGeom>
          <a:noFill/>
          <a:ln/>
        </p:spPr>
        <p:txBody>
          <a:bodyPr wrap="square" lIns="0" tIns="0" rIns="0" bIns="0" rtlCol="0" anchor="ctr">
            <a:normAutofit/>
          </a:bodyPr>
          <a:lstStyle/>
          <a:p>
            <a:pPr marL="0" indent="0">
              <a:buNone/>
            </a:pPr>
            <a:r>
              <a:rPr lang="en-US" sz="2400" b="1">
                <a:solidFill>
                  <a:srgbClr val="1F2328"/>
                </a:solidFill>
                <a:latin typeface="Arial" pitchFamily="34" charset="0"/>
                <a:ea typeface="Arial" pitchFamily="34" charset="-122"/>
                <a:cs typeface="Arial" pitchFamily="34" charset="-120"/>
              </a:rPr>
              <a:t>TÀI LIỆU THAM KHẢO</a:t>
            </a:r>
            <a:endParaRPr lang="en-US" sz="2400" dirty="0"/>
          </a:p>
        </p:txBody>
      </p:sp>
      <p:sp>
        <p:nvSpPr>
          <p:cNvPr id="9" name="Shape 7">
            <a:extLst>
              <a:ext uri="{FF2B5EF4-FFF2-40B4-BE49-F238E27FC236}">
                <a16:creationId xmlns:a16="http://schemas.microsoft.com/office/drawing/2014/main" id="{AB03A766-5FFA-C2CB-1D7C-0F28C2EA4671}"/>
              </a:ext>
            </a:extLst>
          </p:cNvPr>
          <p:cNvSpPr/>
          <p:nvPr/>
        </p:nvSpPr>
        <p:spPr>
          <a:xfrm>
            <a:off x="502919" y="1029021"/>
            <a:ext cx="3177977" cy="0"/>
          </a:xfrm>
          <a:prstGeom prst="line">
            <a:avLst/>
          </a:prstGeom>
          <a:noFill/>
          <a:ln w="27940">
            <a:solidFill>
              <a:srgbClr val="B50915"/>
            </a:solidFill>
            <a:prstDash val="solid"/>
          </a:ln>
        </p:spPr>
        <p:txBody>
          <a:bodyPr/>
          <a:lstStyle/>
          <a:p>
            <a:endParaRPr lang="vi-VN"/>
          </a:p>
        </p:txBody>
      </p:sp>
      <p:sp>
        <p:nvSpPr>
          <p:cNvPr id="11" name="Text 8">
            <a:extLst>
              <a:ext uri="{FF2B5EF4-FFF2-40B4-BE49-F238E27FC236}">
                <a16:creationId xmlns:a16="http://schemas.microsoft.com/office/drawing/2014/main" id="{DDD1E773-6415-06D8-A115-0240AB3EED9F}"/>
              </a:ext>
            </a:extLst>
          </p:cNvPr>
          <p:cNvSpPr/>
          <p:nvPr/>
        </p:nvSpPr>
        <p:spPr>
          <a:xfrm>
            <a:off x="502920" y="1441268"/>
            <a:ext cx="11046823" cy="4359295"/>
          </a:xfrm>
          <a:prstGeom prst="rect">
            <a:avLst/>
          </a:prstGeom>
          <a:noFill/>
          <a:ln/>
        </p:spPr>
        <p:txBody>
          <a:bodyPr wrap="square" lIns="762" tIns="762" rIns="762" bIns="762" rtlCol="0" anchor="ctr">
            <a:normAutofit/>
          </a:bodyPr>
          <a:lstStyle/>
          <a:p>
            <a:pPr marL="304800" indent="-304800" algn="just">
              <a:lnSpc>
                <a:spcPct val="120000"/>
              </a:lnSpc>
              <a:spcAft>
                <a:spcPts val="600"/>
              </a:spcAft>
            </a:pPr>
            <a:r>
              <a:rPr lang="vi-VN" sz="18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[1]  Trường Công nghệ Thông tin và Truyền thông – Đại học Bách Khoa Hà Nội, </a:t>
            </a:r>
            <a:r>
              <a:rPr lang="vi-VN" sz="1800" i="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Bài giảng Phân tích và Thiết kế Hệ thống (IT3120)</a:t>
            </a:r>
            <a:r>
              <a:rPr lang="vi-VN" sz="18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Hà Nội.</a:t>
            </a:r>
          </a:p>
          <a:p>
            <a:pPr marL="304800" indent="-304800" algn="just">
              <a:lnSpc>
                <a:spcPct val="120000"/>
              </a:lnSpc>
              <a:spcAft>
                <a:spcPts val="600"/>
              </a:spcAft>
            </a:pPr>
            <a:endParaRPr lang="vi-VN" sz="1800">
              <a:effectLst/>
              <a:latin typeface="Arial" panose="020B0604020202020204" pitchFamily="34" charset="0"/>
              <a:ea typeface="Arial" panose="020B0604020202020204" pitchFamily="34" charset="0"/>
              <a:cs typeface="Arial" panose="020B0604020202020204" pitchFamily="34" charset="0"/>
            </a:endParaRPr>
          </a:p>
          <a:p>
            <a:pPr marL="304800" indent="-304800" algn="just">
              <a:lnSpc>
                <a:spcPct val="120000"/>
              </a:lnSpc>
              <a:spcAft>
                <a:spcPts val="600"/>
              </a:spcAft>
            </a:pPr>
            <a:r>
              <a:rPr lang="vi-VN" sz="18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[2]  Grady Booch, James Rumbaugh, Ivar Jacobson (2005), </a:t>
            </a:r>
            <a:r>
              <a:rPr lang="vi-VN" sz="1800" i="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The Unified Modeling Language User Guide (2nd Edition)</a:t>
            </a:r>
            <a:r>
              <a:rPr lang="vi-VN" sz="18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Addison-Wesley Professional.</a:t>
            </a:r>
          </a:p>
          <a:p>
            <a:pPr marL="304800" indent="-304800" algn="just">
              <a:lnSpc>
                <a:spcPct val="120000"/>
              </a:lnSpc>
              <a:spcAft>
                <a:spcPts val="600"/>
              </a:spcAft>
            </a:pPr>
            <a:endParaRPr lang="vi-VN" sz="1800">
              <a:effectLst/>
              <a:latin typeface="Arial" panose="020B0604020202020204" pitchFamily="34" charset="0"/>
              <a:ea typeface="Arial" panose="020B0604020202020204" pitchFamily="34" charset="0"/>
              <a:cs typeface="Arial" panose="020B0604020202020204" pitchFamily="34" charset="0"/>
            </a:endParaRPr>
          </a:p>
          <a:p>
            <a:pPr marL="304800" indent="-304800" algn="just">
              <a:lnSpc>
                <a:spcPct val="120000"/>
              </a:lnSpc>
              <a:spcAft>
                <a:spcPts val="600"/>
              </a:spcAft>
            </a:pPr>
            <a:r>
              <a:rPr lang="vi-VN" sz="18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[3]  Craig Larman (2004), </a:t>
            </a:r>
            <a:r>
              <a:rPr lang="vi-VN" sz="1800" i="1">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Applying UML and Patterns: An Introduction to Object-Oriented Analysis and Design and Iterative Development (3rd Edition)</a:t>
            </a:r>
            <a:r>
              <a:rPr lang="vi-VN" sz="18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Prentice Hall.</a:t>
            </a:r>
          </a:p>
          <a:p>
            <a:pPr marL="304800" indent="-304800" algn="just">
              <a:lnSpc>
                <a:spcPct val="120000"/>
              </a:lnSpc>
              <a:spcAft>
                <a:spcPts val="600"/>
              </a:spcAft>
            </a:pPr>
            <a:endParaRPr lang="vi-VN" sz="1800">
              <a:effectLst/>
              <a:latin typeface="Arial" panose="020B0604020202020204" pitchFamily="34" charset="0"/>
              <a:ea typeface="Arial" panose="020B0604020202020204" pitchFamily="34" charset="0"/>
              <a:cs typeface="Arial" panose="020B0604020202020204" pitchFamily="34" charset="0"/>
            </a:endParaRPr>
          </a:p>
          <a:p>
            <a:pPr marL="304800" indent="-304800" algn="just">
              <a:lnSpc>
                <a:spcPct val="120000"/>
              </a:lnSpc>
              <a:spcAft>
                <a:spcPts val="600"/>
              </a:spcAft>
            </a:pPr>
            <a:r>
              <a:rPr lang="vi-VN" sz="18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[4]  Tài liệu và hình ảnh khảo sát thực tế về quy trình vận hành, biểu phí dịch vụ của hệ thống trạm tủ giao nhận Smartbox – Viettel Post.</a:t>
            </a:r>
            <a:endParaRPr lang="vi-VN" sz="1800">
              <a:effectLst/>
              <a:latin typeface="Arial" panose="020B0604020202020204" pitchFamily="34" charset="0"/>
              <a:ea typeface="Arial" panose="020B0604020202020204" pitchFamily="34" charset="0"/>
              <a:cs typeface="Arial" panose="020B0604020202020204" pitchFamily="34" charset="0"/>
            </a:endParaRPr>
          </a:p>
        </p:txBody>
      </p:sp>
      <p:sp>
        <p:nvSpPr>
          <p:cNvPr id="13" name="Text 10">
            <a:extLst>
              <a:ext uri="{FF2B5EF4-FFF2-40B4-BE49-F238E27FC236}">
                <a16:creationId xmlns:a16="http://schemas.microsoft.com/office/drawing/2014/main" id="{A4D93BD9-D9DC-8A77-2203-86D561CFED80}"/>
              </a:ext>
            </a:extLst>
          </p:cNvPr>
          <p:cNvSpPr/>
          <p:nvPr/>
        </p:nvSpPr>
        <p:spPr>
          <a:xfrm>
            <a:off x="3632563" y="5864571"/>
            <a:ext cx="5212080" cy="411480"/>
          </a:xfrm>
          <a:prstGeom prst="rect">
            <a:avLst/>
          </a:prstGeom>
          <a:noFill/>
          <a:ln/>
        </p:spPr>
        <p:txBody>
          <a:bodyPr wrap="square" lIns="0" tIns="0" rIns="0" bIns="0" rtlCol="0" anchor="ctr"/>
          <a:lstStyle/>
          <a:p>
            <a:pPr marL="0" indent="0" algn="ctr">
              <a:buNone/>
            </a:pPr>
            <a:r>
              <a:rPr lang="en-US" sz="1800" b="1" dirty="0">
                <a:solidFill>
                  <a:srgbClr val="B50915"/>
                </a:solidFill>
                <a:latin typeface="Arial" pitchFamily="34" charset="0"/>
                <a:ea typeface="Arial" pitchFamily="34" charset="-122"/>
                <a:cs typeface="Arial" pitchFamily="34" charset="-120"/>
              </a:rPr>
              <a:t>Xin cảm ơn thầy/cô và các bạn đã lắng nghe!</a:t>
            </a:r>
            <a:endParaRPr lang="en-US" sz="1800" dirty="0"/>
          </a:p>
        </p:txBody>
      </p:sp>
      <p:sp>
        <p:nvSpPr>
          <p:cNvPr id="14" name="Shape 11">
            <a:extLst>
              <a:ext uri="{FF2B5EF4-FFF2-40B4-BE49-F238E27FC236}">
                <a16:creationId xmlns:a16="http://schemas.microsoft.com/office/drawing/2014/main" id="{CB688E7A-F6B7-AC0F-809A-61A1CC0EB871}"/>
              </a:ext>
            </a:extLst>
          </p:cNvPr>
          <p:cNvSpPr/>
          <p:nvPr/>
        </p:nvSpPr>
        <p:spPr>
          <a:xfrm>
            <a:off x="411480" y="6446520"/>
            <a:ext cx="11384280" cy="0"/>
          </a:xfrm>
          <a:prstGeom prst="line">
            <a:avLst/>
          </a:prstGeom>
          <a:noFill/>
          <a:ln w="7620">
            <a:solidFill>
              <a:srgbClr val="D5D7DB"/>
            </a:solidFill>
            <a:prstDash val="solid"/>
          </a:ln>
        </p:spPr>
        <p:txBody>
          <a:bodyPr/>
          <a:lstStyle/>
          <a:p>
            <a:endParaRPr lang="vi-VN"/>
          </a:p>
        </p:txBody>
      </p:sp>
      <p:sp>
        <p:nvSpPr>
          <p:cNvPr id="15" name="Text 12">
            <a:extLst>
              <a:ext uri="{FF2B5EF4-FFF2-40B4-BE49-F238E27FC236}">
                <a16:creationId xmlns:a16="http://schemas.microsoft.com/office/drawing/2014/main" id="{5BDA6973-81EC-4C6E-9A90-13B8611CCA9F}"/>
              </a:ext>
            </a:extLst>
          </p:cNvPr>
          <p:cNvSpPr/>
          <p:nvPr/>
        </p:nvSpPr>
        <p:spPr>
          <a:xfrm>
            <a:off x="411480" y="6510528"/>
            <a:ext cx="7132320" cy="164592"/>
          </a:xfrm>
          <a:prstGeom prst="rect">
            <a:avLst/>
          </a:prstGeom>
          <a:noFill/>
          <a:ln/>
        </p:spPr>
        <p:txBody>
          <a:bodyPr wrap="square" lIns="0" tIns="0" rIns="0" bIns="0" rtlCol="0" anchor="ctr"/>
          <a:lstStyle/>
          <a:p>
            <a:pPr marL="0" indent="0">
              <a:buNone/>
            </a:pPr>
            <a:r>
              <a:rPr lang="en-US" sz="750" dirty="0">
                <a:solidFill>
                  <a:srgbClr val="777C86"/>
                </a:solidFill>
                <a:latin typeface="Arial" pitchFamily="34" charset="0"/>
                <a:ea typeface="Arial" pitchFamily="34" charset="-122"/>
                <a:cs typeface="Arial" pitchFamily="34" charset="-120"/>
              </a:rPr>
              <a:t>Phân tích &amp; Thiết kế Hệ thống Smartbox • Nhóm 05</a:t>
            </a:r>
            <a:endParaRPr lang="en-US" sz="750" dirty="0"/>
          </a:p>
        </p:txBody>
      </p:sp>
      <p:sp>
        <p:nvSpPr>
          <p:cNvPr id="16" name="Text 13">
            <a:extLst>
              <a:ext uri="{FF2B5EF4-FFF2-40B4-BE49-F238E27FC236}">
                <a16:creationId xmlns:a16="http://schemas.microsoft.com/office/drawing/2014/main" id="{B3A5E91E-2D64-01AA-CBB5-CF1945FC6096}"/>
              </a:ext>
            </a:extLst>
          </p:cNvPr>
          <p:cNvSpPr/>
          <p:nvPr/>
        </p:nvSpPr>
        <p:spPr>
          <a:xfrm>
            <a:off x="11228832" y="6455664"/>
            <a:ext cx="502920" cy="274320"/>
          </a:xfrm>
          <a:prstGeom prst="rect">
            <a:avLst/>
          </a:prstGeom>
          <a:noFill/>
          <a:ln/>
        </p:spPr>
        <p:txBody>
          <a:bodyPr wrap="square" lIns="0" tIns="0" rIns="0" bIns="0" rtlCol="0" anchor="ctr"/>
          <a:lstStyle/>
          <a:p>
            <a:pPr marL="0" indent="0" algn="r">
              <a:buNone/>
            </a:pPr>
            <a:r>
              <a:rPr lang="en-US" sz="1000" b="1" dirty="0">
                <a:solidFill>
                  <a:srgbClr val="B50915"/>
                </a:solidFill>
                <a:latin typeface="Arial" pitchFamily="34" charset="0"/>
                <a:ea typeface="Arial" pitchFamily="34" charset="-122"/>
                <a:cs typeface="Arial" pitchFamily="34" charset="-120"/>
              </a:rPr>
              <a:t>40</a:t>
            </a:r>
            <a:endParaRPr lang="en-US" sz="1000" dirty="0"/>
          </a:p>
        </p:txBody>
      </p:sp>
    </p:spTree>
    <p:extLst>
      <p:ext uri="{BB962C8B-B14F-4D97-AF65-F5344CB8AC3E}">
        <p14:creationId xmlns:p14="http://schemas.microsoft.com/office/powerpoint/2010/main" val="14947948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22354D7C55E734A81267721AE71C29D" ma:contentTypeVersion="16" ma:contentTypeDescription="Create a new document." ma:contentTypeScope="" ma:versionID="a79fe7e893850127f5b29c9848e39bb5">
  <xsd:schema xmlns:xsd="http://www.w3.org/2001/XMLSchema" xmlns:xs="http://www.w3.org/2001/XMLSchema" xmlns:p="http://schemas.microsoft.com/office/2006/metadata/properties" xmlns:ns2="5821797a-3ff7-4056-8a98-7bd79336eefd" xmlns:ns3="8a812614-748c-4cd1-8d67-f1f3938a8fd3" targetNamespace="http://schemas.microsoft.com/office/2006/metadata/properties" ma:root="true" ma:fieldsID="878b84e73b32b020f198ec55a77c51fe" ns2:_="" ns3:_="">
    <xsd:import namespace="5821797a-3ff7-4056-8a98-7bd79336eefd"/>
    <xsd:import namespace="8a812614-748c-4cd1-8d67-f1f3938a8fd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21797a-3ff7-4056-8a98-7bd79336eef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546fe6cf-c6c6-432e-bc3b-e1a865b2857d"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a812614-748c-4cd1-8d67-f1f3938a8fd3"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9dff239c-0da8-4156-b438-9b377dcdb462}" ma:internalName="TaxCatchAll" ma:showField="CatchAllData" ma:web="8a812614-748c-4cd1-8d67-f1f3938a8fd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8a812614-748c-4cd1-8d67-f1f3938a8fd3" xsi:nil="true"/>
    <lcf76f155ced4ddcb4097134ff3c332f xmlns="5821797a-3ff7-4056-8a98-7bd79336eef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035DC80-BBD0-4740-B894-15F4BC8F8831}"/>
</file>

<file path=customXml/itemProps2.xml><?xml version="1.0" encoding="utf-8"?>
<ds:datastoreItem xmlns:ds="http://schemas.openxmlformats.org/officeDocument/2006/customXml" ds:itemID="{26ED65DF-0564-43FF-909B-E3ADE31739A4}"/>
</file>

<file path=customXml/itemProps3.xml><?xml version="1.0" encoding="utf-8"?>
<ds:datastoreItem xmlns:ds="http://schemas.openxmlformats.org/officeDocument/2006/customXml" ds:itemID="{4BD71F94-1D30-4903-A80B-8DDCDDD20285}"/>
</file>

<file path=docProps/app.xml><?xml version="1.0" encoding="utf-8"?>
<Properties xmlns="http://schemas.openxmlformats.org/officeDocument/2006/extended-properties" xmlns:vt="http://schemas.openxmlformats.org/officeDocument/2006/docPropsVTypes">
  <TotalTime>484</TotalTime>
  <Words>10451</Words>
  <Application>Microsoft Office PowerPoint</Application>
  <PresentationFormat>Màn hình rộng</PresentationFormat>
  <Paragraphs>1199</Paragraphs>
  <Slides>57</Slides>
  <Notes>57</Notes>
  <HiddenSlides>0</HiddenSlides>
  <MMClips>0</MMClips>
  <ScaleCrop>false</ScaleCrop>
  <HeadingPairs>
    <vt:vector size="6" baseType="variant">
      <vt:variant>
        <vt:lpstr>Phông được Dùng</vt:lpstr>
      </vt:variant>
      <vt:variant>
        <vt:i4>6</vt:i4>
      </vt:variant>
      <vt:variant>
        <vt:lpstr>Chủ đề</vt:lpstr>
      </vt:variant>
      <vt:variant>
        <vt:i4>1</vt:i4>
      </vt:variant>
      <vt:variant>
        <vt:lpstr>Tiêu đề Bản chiếu</vt:lpstr>
      </vt:variant>
      <vt:variant>
        <vt:i4>57</vt:i4>
      </vt:variant>
    </vt:vector>
  </HeadingPairs>
  <TitlesOfParts>
    <vt:vector size="64" baseType="lpstr">
      <vt:lpstr>Arial</vt:lpstr>
      <vt:lpstr>Cambria Math</vt:lpstr>
      <vt:lpstr>Consolas</vt:lpstr>
      <vt:lpstr>Courier New</vt:lpstr>
      <vt:lpstr>Symbol</vt:lpstr>
      <vt:lpstr>Times New Roman</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Đại học Bách khoa Hà Nội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Smartbox - Phân tích và Thiết kế Hệ thống</dc:title>
  <dc:subject>Phân tích và Thiết kế Hệ thống quản lý tủ đồ thông minh Smartbox</dc:subject>
  <dc:creator>Nhóm 05 - HUST</dc:creator>
  <cp:lastModifiedBy>duong nguyen</cp:lastModifiedBy>
  <cp:revision>177</cp:revision>
  <dcterms:created xsi:type="dcterms:W3CDTF">2026-06-29T09:12:18Z</dcterms:created>
  <dcterms:modified xsi:type="dcterms:W3CDTF">2026-07-01T03:44:41Z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0x010100622354D7C55E734A81267721AE71C29D</vt:lpwstr>
  </property>
</Properties>
</file>